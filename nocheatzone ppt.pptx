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Corben" charset="1" panose="020F0503020000020004"/>
      <p:regular r:id="rId24"/>
    </p:embeddedFont>
    <p:embeddedFont>
      <p:font typeface="Arimo Bold" charset="1" panose="020B0704020202020204"/>
      <p:regular r:id="rId25"/>
    </p:embeddedFont>
    <p:embeddedFont>
      <p:font typeface="Arimo" charset="1" panose="020B0604020202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11" Target="../media/image29.png" Type="http://schemas.openxmlformats.org/officeDocument/2006/relationships/image"/><Relationship Id="rId12" Target="../media/image30.svg" Type="http://schemas.openxmlformats.org/officeDocument/2006/relationships/image"/><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png" Type="http://schemas.openxmlformats.org/officeDocument/2006/relationships/image"/><Relationship Id="rId11" Target="../media/image47.svg" Type="http://schemas.openxmlformats.org/officeDocument/2006/relationships/image"/><Relationship Id="rId12" Target="../media/image48.png" Type="http://schemas.openxmlformats.org/officeDocument/2006/relationships/image"/><Relationship Id="rId13" Target="../media/image49.svg" Type="http://schemas.openxmlformats.org/officeDocument/2006/relationships/image"/><Relationship Id="rId14" Target="../media/image50.png" Type="http://schemas.openxmlformats.org/officeDocument/2006/relationships/image"/><Relationship Id="rId15" Target="../media/image51.svg" Type="http://schemas.openxmlformats.org/officeDocument/2006/relationships/image"/><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43.pn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2.pn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5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3293421"/>
            <a:ext cx="8898884" cy="914552"/>
          </a:xfrm>
          <a:prstGeom prst="rect">
            <a:avLst/>
          </a:prstGeom>
        </p:spPr>
        <p:txBody>
          <a:bodyPr anchor="t" rtlCol="false" tIns="0" lIns="0" bIns="0" rIns="0">
            <a:spAutoFit/>
          </a:bodyPr>
          <a:lstStyle/>
          <a:p>
            <a:pPr algn="l">
              <a:lnSpc>
                <a:spcPts val="6937"/>
              </a:lnSpc>
            </a:pPr>
            <a:r>
              <a:rPr lang="en-US" sz="5562">
                <a:solidFill>
                  <a:srgbClr val="1B1B27"/>
                </a:solidFill>
                <a:latin typeface="Corben"/>
                <a:ea typeface="Corben"/>
                <a:cs typeface="Corben"/>
                <a:sym typeface="Corben"/>
              </a:rPr>
              <a:t>No Cheat Zone Application</a:t>
            </a:r>
          </a:p>
        </p:txBody>
      </p:sp>
      <p:sp>
        <p:nvSpPr>
          <p:cNvPr name="TextBox 11" id="11"/>
          <p:cNvSpPr txBox="true"/>
          <p:nvPr/>
        </p:nvSpPr>
        <p:spPr>
          <a:xfrm rot="0">
            <a:off x="992238" y="4528395"/>
            <a:ext cx="9445523" cy="558403"/>
          </a:xfrm>
          <a:prstGeom prst="rect">
            <a:avLst/>
          </a:prstGeom>
        </p:spPr>
        <p:txBody>
          <a:bodyPr anchor="t" rtlCol="false" tIns="0" lIns="0" bIns="0" rIns="0">
            <a:spAutoFit/>
          </a:bodyPr>
          <a:lstStyle/>
          <a:p>
            <a:pPr algn="l">
              <a:lnSpc>
                <a:spcPts val="3562"/>
              </a:lnSpc>
            </a:pPr>
            <a:r>
              <a:rPr lang="en-US" sz="2187" b="true">
                <a:solidFill>
                  <a:srgbClr val="404155"/>
                </a:solidFill>
                <a:latin typeface="Arimo Bold"/>
                <a:ea typeface="Arimo Bold"/>
                <a:cs typeface="Arimo Bold"/>
                <a:sym typeface="Arimo Bold"/>
              </a:rPr>
              <a:t>Presented by:</a:t>
            </a:r>
          </a:p>
        </p:txBody>
      </p:sp>
      <p:sp>
        <p:nvSpPr>
          <p:cNvPr name="TextBox 12" id="12"/>
          <p:cNvSpPr txBox="true"/>
          <p:nvPr/>
        </p:nvSpPr>
        <p:spPr>
          <a:xfrm rot="0">
            <a:off x="992238" y="5300958"/>
            <a:ext cx="9445523" cy="1663903"/>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04155"/>
                </a:solidFill>
                <a:latin typeface="Arimo"/>
                <a:ea typeface="Arimo"/>
                <a:cs typeface="Arimo"/>
                <a:sym typeface="Arimo"/>
              </a:rPr>
              <a:t>Lingamgari Charan Teja (228P1A0526)</a:t>
            </a:r>
          </a:p>
          <a:p>
            <a:pPr algn="l" marL="329902" indent="-164951" lvl="1">
              <a:lnSpc>
                <a:spcPts val="3562"/>
              </a:lnSpc>
              <a:buFont typeface="Arial"/>
              <a:buChar char="•"/>
            </a:pPr>
            <a:r>
              <a:rPr lang="en-US" sz="2187">
                <a:solidFill>
                  <a:srgbClr val="404155"/>
                </a:solidFill>
                <a:latin typeface="Arimo"/>
                <a:ea typeface="Arimo"/>
                <a:cs typeface="Arimo"/>
                <a:sym typeface="Arimo"/>
              </a:rPr>
              <a:t>Pallerla Nani (228P1A0539)</a:t>
            </a:r>
          </a:p>
          <a:p>
            <a:pPr algn="l" marL="329902" indent="-164951" lvl="1">
              <a:lnSpc>
                <a:spcPts val="3562"/>
              </a:lnSpc>
              <a:buFont typeface="Arial"/>
              <a:buChar char="•"/>
            </a:pPr>
            <a:r>
              <a:rPr lang="en-US" sz="2187">
                <a:solidFill>
                  <a:srgbClr val="404155"/>
                </a:solidFill>
                <a:latin typeface="Arimo"/>
                <a:ea typeface="Arimo"/>
                <a:cs typeface="Arimo"/>
                <a:sym typeface="Arimo"/>
              </a:rPr>
              <a:t>Sangyapu Charatn Kumar (228P1A0544)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665539" y="1795758"/>
            <a:ext cx="8149533" cy="740121"/>
          </a:xfrm>
          <a:prstGeom prst="rect">
            <a:avLst/>
          </a:prstGeom>
        </p:spPr>
        <p:txBody>
          <a:bodyPr anchor="t" rtlCol="false" tIns="0" lIns="0" bIns="0" rIns="0">
            <a:spAutoFit/>
          </a:bodyPr>
          <a:lstStyle/>
          <a:p>
            <a:pPr algn="l">
              <a:lnSpc>
                <a:spcPts val="5625"/>
              </a:lnSpc>
            </a:pPr>
            <a:r>
              <a:rPr lang="en-US" sz="4499">
                <a:solidFill>
                  <a:srgbClr val="1B1B27"/>
                </a:solidFill>
                <a:latin typeface="Corben"/>
                <a:ea typeface="Corben"/>
                <a:cs typeface="Corben"/>
                <a:sym typeface="Corben"/>
              </a:rPr>
              <a:t>Introduction to No Cheat Zone</a:t>
            </a:r>
          </a:p>
        </p:txBody>
      </p:sp>
      <p:sp>
        <p:nvSpPr>
          <p:cNvPr name="TextBox 9" id="9"/>
          <p:cNvSpPr txBox="true"/>
          <p:nvPr/>
        </p:nvSpPr>
        <p:spPr>
          <a:xfrm rot="0">
            <a:off x="7665539" y="2750791"/>
            <a:ext cx="9814922" cy="1406128"/>
          </a:xfrm>
          <a:prstGeom prst="rect">
            <a:avLst/>
          </a:prstGeom>
        </p:spPr>
        <p:txBody>
          <a:bodyPr anchor="t" rtlCol="false" tIns="0" lIns="0" bIns="0" rIns="0">
            <a:spAutoFit/>
          </a:bodyPr>
          <a:lstStyle/>
          <a:p>
            <a:pPr algn="l">
              <a:lnSpc>
                <a:spcPts val="2625"/>
              </a:lnSpc>
            </a:pPr>
            <a:r>
              <a:rPr lang="en-US" sz="1812">
                <a:solidFill>
                  <a:srgbClr val="404155"/>
                </a:solidFill>
                <a:latin typeface="Arimo"/>
                <a:ea typeface="Arimo"/>
                <a:cs typeface="Arimo"/>
                <a:sym typeface="Arimo"/>
              </a:rPr>
              <a:t>The rapid growth of online education and remote examinations has created unprecedented challenges in maintaining exam integrity. Traditional invigilation methods fail to translate effectively to digital environments, while existing proctoring solutions raise serious privacy concerns.</a:t>
            </a:r>
          </a:p>
        </p:txBody>
      </p:sp>
      <p:grpSp>
        <p:nvGrpSpPr>
          <p:cNvPr name="Group 10" id="10"/>
          <p:cNvGrpSpPr/>
          <p:nvPr/>
        </p:nvGrpSpPr>
        <p:grpSpPr>
          <a:xfrm rot="0">
            <a:off x="7660777" y="4363345"/>
            <a:ext cx="4823069" cy="2302516"/>
            <a:chOff x="0" y="0"/>
            <a:chExt cx="6430759" cy="3070022"/>
          </a:xfrm>
        </p:grpSpPr>
        <p:sp>
          <p:nvSpPr>
            <p:cNvPr name="Freeform 11" id="11"/>
            <p:cNvSpPr/>
            <p:nvPr/>
          </p:nvSpPr>
          <p:spPr>
            <a:xfrm flipH="false" flipV="false" rot="0">
              <a:off x="6350" y="6350"/>
              <a:ext cx="6418072" cy="3057398"/>
            </a:xfrm>
            <a:custGeom>
              <a:avLst/>
              <a:gdLst/>
              <a:ahLst/>
              <a:cxnLst/>
              <a:rect r="r" b="b" t="t" l="l"/>
              <a:pathLst>
                <a:path h="3057398" w="6418072">
                  <a:moveTo>
                    <a:pt x="0" y="129286"/>
                  </a:moveTo>
                  <a:cubicBezTo>
                    <a:pt x="0" y="57912"/>
                    <a:pt x="58039" y="0"/>
                    <a:pt x="129540" y="0"/>
                  </a:cubicBezTo>
                  <a:lnTo>
                    <a:pt x="6288532" y="0"/>
                  </a:lnTo>
                  <a:cubicBezTo>
                    <a:pt x="6360033" y="0"/>
                    <a:pt x="6418072" y="57912"/>
                    <a:pt x="6418072" y="129286"/>
                  </a:cubicBezTo>
                  <a:lnTo>
                    <a:pt x="6418072" y="2928112"/>
                  </a:lnTo>
                  <a:cubicBezTo>
                    <a:pt x="6418072" y="2999486"/>
                    <a:pt x="6360033" y="3057398"/>
                    <a:pt x="6288532" y="3057398"/>
                  </a:cubicBezTo>
                  <a:lnTo>
                    <a:pt x="129540" y="3057398"/>
                  </a:lnTo>
                  <a:cubicBezTo>
                    <a:pt x="58039" y="3057398"/>
                    <a:pt x="0" y="2999486"/>
                    <a:pt x="0" y="2928112"/>
                  </a:cubicBezTo>
                  <a:close/>
                </a:path>
              </a:pathLst>
            </a:custGeom>
            <a:solidFill>
              <a:srgbClr val="D2D9F9"/>
            </a:solidFill>
          </p:spPr>
        </p:sp>
        <p:sp>
          <p:nvSpPr>
            <p:cNvPr name="Freeform 12" id="12"/>
            <p:cNvSpPr/>
            <p:nvPr/>
          </p:nvSpPr>
          <p:spPr>
            <a:xfrm flipH="false" flipV="false" rot="0">
              <a:off x="0" y="0"/>
              <a:ext cx="6430772" cy="3070098"/>
            </a:xfrm>
            <a:custGeom>
              <a:avLst/>
              <a:gdLst/>
              <a:ahLst/>
              <a:cxnLst/>
              <a:rect r="r" b="b" t="t" l="l"/>
              <a:pathLst>
                <a:path h="3070098" w="6430772">
                  <a:moveTo>
                    <a:pt x="0" y="135636"/>
                  </a:moveTo>
                  <a:cubicBezTo>
                    <a:pt x="0" y="60706"/>
                    <a:pt x="60833" y="0"/>
                    <a:pt x="135890" y="0"/>
                  </a:cubicBezTo>
                  <a:lnTo>
                    <a:pt x="6294882" y="0"/>
                  </a:lnTo>
                  <a:lnTo>
                    <a:pt x="6294882" y="6350"/>
                  </a:lnTo>
                  <a:lnTo>
                    <a:pt x="6294882" y="0"/>
                  </a:lnTo>
                  <a:cubicBezTo>
                    <a:pt x="6369939" y="0"/>
                    <a:pt x="6430772" y="60706"/>
                    <a:pt x="6430772" y="135636"/>
                  </a:cubicBezTo>
                  <a:lnTo>
                    <a:pt x="6424422" y="135636"/>
                  </a:lnTo>
                  <a:lnTo>
                    <a:pt x="6430772" y="135636"/>
                  </a:lnTo>
                  <a:lnTo>
                    <a:pt x="6430772" y="2934462"/>
                  </a:lnTo>
                  <a:lnTo>
                    <a:pt x="6424422" y="2934462"/>
                  </a:lnTo>
                  <a:lnTo>
                    <a:pt x="6430772" y="2934462"/>
                  </a:lnTo>
                  <a:cubicBezTo>
                    <a:pt x="6430772" y="3009392"/>
                    <a:pt x="6369939" y="3070098"/>
                    <a:pt x="6294882" y="3070098"/>
                  </a:cubicBezTo>
                  <a:lnTo>
                    <a:pt x="6294882" y="3063748"/>
                  </a:lnTo>
                  <a:lnTo>
                    <a:pt x="6294882" y="3070098"/>
                  </a:lnTo>
                  <a:lnTo>
                    <a:pt x="135890" y="3070098"/>
                  </a:lnTo>
                  <a:lnTo>
                    <a:pt x="135890" y="3063748"/>
                  </a:lnTo>
                  <a:lnTo>
                    <a:pt x="135890" y="3070098"/>
                  </a:lnTo>
                  <a:cubicBezTo>
                    <a:pt x="60833" y="3070098"/>
                    <a:pt x="0" y="3009392"/>
                    <a:pt x="0" y="2934462"/>
                  </a:cubicBezTo>
                  <a:lnTo>
                    <a:pt x="0" y="135636"/>
                  </a:lnTo>
                  <a:lnTo>
                    <a:pt x="6350" y="135636"/>
                  </a:lnTo>
                  <a:lnTo>
                    <a:pt x="0" y="135636"/>
                  </a:lnTo>
                  <a:moveTo>
                    <a:pt x="12700" y="135636"/>
                  </a:moveTo>
                  <a:lnTo>
                    <a:pt x="12700" y="2934462"/>
                  </a:lnTo>
                  <a:lnTo>
                    <a:pt x="6350" y="2934462"/>
                  </a:lnTo>
                  <a:lnTo>
                    <a:pt x="12700" y="2934462"/>
                  </a:lnTo>
                  <a:cubicBezTo>
                    <a:pt x="12700" y="3002280"/>
                    <a:pt x="67818" y="3057398"/>
                    <a:pt x="135890" y="3057398"/>
                  </a:cubicBezTo>
                  <a:lnTo>
                    <a:pt x="6294882" y="3057398"/>
                  </a:lnTo>
                  <a:cubicBezTo>
                    <a:pt x="6362954" y="3057398"/>
                    <a:pt x="6418072" y="3002407"/>
                    <a:pt x="6418072" y="2934462"/>
                  </a:cubicBezTo>
                  <a:lnTo>
                    <a:pt x="6418072" y="135636"/>
                  </a:lnTo>
                  <a:cubicBezTo>
                    <a:pt x="6418072" y="67818"/>
                    <a:pt x="6362954" y="12700"/>
                    <a:pt x="6294882" y="12700"/>
                  </a:cubicBezTo>
                  <a:lnTo>
                    <a:pt x="135890" y="12700"/>
                  </a:lnTo>
                  <a:lnTo>
                    <a:pt x="135890" y="6350"/>
                  </a:lnTo>
                  <a:lnTo>
                    <a:pt x="135890" y="12700"/>
                  </a:lnTo>
                  <a:cubicBezTo>
                    <a:pt x="67818" y="12700"/>
                    <a:pt x="12700" y="67691"/>
                    <a:pt x="12700" y="135636"/>
                  </a:cubicBezTo>
                  <a:close/>
                </a:path>
              </a:pathLst>
            </a:custGeom>
            <a:solidFill>
              <a:srgbClr val="B8BFDF"/>
            </a:solidFill>
          </p:spPr>
        </p:sp>
      </p:grpSp>
      <p:sp>
        <p:nvSpPr>
          <p:cNvPr name="TextBox 13" id="13"/>
          <p:cNvSpPr txBox="true"/>
          <p:nvPr/>
        </p:nvSpPr>
        <p:spPr>
          <a:xfrm rot="0">
            <a:off x="7905750" y="4598784"/>
            <a:ext cx="4236396" cy="369989"/>
          </a:xfrm>
          <a:prstGeom prst="rect">
            <a:avLst/>
          </a:prstGeom>
        </p:spPr>
        <p:txBody>
          <a:bodyPr anchor="t" rtlCol="false" tIns="0" lIns="0" bIns="0" rIns="0">
            <a:spAutoFit/>
          </a:bodyPr>
          <a:lstStyle/>
          <a:p>
            <a:pPr algn="l">
              <a:lnSpc>
                <a:spcPts val="2812"/>
              </a:lnSpc>
            </a:pPr>
            <a:r>
              <a:rPr lang="en-US" sz="2249">
                <a:solidFill>
                  <a:srgbClr val="404155"/>
                </a:solidFill>
                <a:latin typeface="Corben"/>
                <a:ea typeface="Corben"/>
                <a:cs typeface="Corben"/>
                <a:sym typeface="Corben"/>
              </a:rPr>
              <a:t>Cloud-Heavy Privacy Concerns</a:t>
            </a:r>
          </a:p>
        </p:txBody>
      </p:sp>
      <p:sp>
        <p:nvSpPr>
          <p:cNvPr name="TextBox 14" id="14"/>
          <p:cNvSpPr txBox="true"/>
          <p:nvPr/>
        </p:nvSpPr>
        <p:spPr>
          <a:xfrm rot="0">
            <a:off x="7905750" y="5014760"/>
            <a:ext cx="4333132" cy="1406128"/>
          </a:xfrm>
          <a:prstGeom prst="rect">
            <a:avLst/>
          </a:prstGeom>
        </p:spPr>
        <p:txBody>
          <a:bodyPr anchor="t" rtlCol="false" tIns="0" lIns="0" bIns="0" rIns="0">
            <a:spAutoFit/>
          </a:bodyPr>
          <a:lstStyle/>
          <a:p>
            <a:pPr algn="l">
              <a:lnSpc>
                <a:spcPts val="2625"/>
              </a:lnSpc>
            </a:pPr>
            <a:r>
              <a:rPr lang="en-US" sz="1812">
                <a:solidFill>
                  <a:srgbClr val="404155"/>
                </a:solidFill>
                <a:latin typeface="Arimo"/>
                <a:ea typeface="Arimo"/>
                <a:cs typeface="Arimo"/>
                <a:sym typeface="Arimo"/>
              </a:rPr>
              <a:t>Current proctoring tools collect excessive student data, creating security vulnerabilities and compliance challenges</a:t>
            </a:r>
          </a:p>
        </p:txBody>
      </p:sp>
      <p:grpSp>
        <p:nvGrpSpPr>
          <p:cNvPr name="Group 15" id="15"/>
          <p:cNvGrpSpPr/>
          <p:nvPr/>
        </p:nvGrpSpPr>
        <p:grpSpPr>
          <a:xfrm rot="0">
            <a:off x="12662002" y="4363345"/>
            <a:ext cx="4823222" cy="2302516"/>
            <a:chOff x="0" y="0"/>
            <a:chExt cx="6430962" cy="3070022"/>
          </a:xfrm>
        </p:grpSpPr>
        <p:sp>
          <p:nvSpPr>
            <p:cNvPr name="Freeform 16" id="16"/>
            <p:cNvSpPr/>
            <p:nvPr/>
          </p:nvSpPr>
          <p:spPr>
            <a:xfrm flipH="false" flipV="false" rot="0">
              <a:off x="6350" y="6350"/>
              <a:ext cx="6418326" cy="3057398"/>
            </a:xfrm>
            <a:custGeom>
              <a:avLst/>
              <a:gdLst/>
              <a:ahLst/>
              <a:cxnLst/>
              <a:rect r="r" b="b" t="t" l="l"/>
              <a:pathLst>
                <a:path h="3057398" w="6418326">
                  <a:moveTo>
                    <a:pt x="0" y="129286"/>
                  </a:moveTo>
                  <a:cubicBezTo>
                    <a:pt x="0" y="57912"/>
                    <a:pt x="58039" y="0"/>
                    <a:pt x="129540" y="0"/>
                  </a:cubicBezTo>
                  <a:lnTo>
                    <a:pt x="6288786" y="0"/>
                  </a:lnTo>
                  <a:cubicBezTo>
                    <a:pt x="6360287" y="0"/>
                    <a:pt x="6418326" y="57912"/>
                    <a:pt x="6418326" y="129286"/>
                  </a:cubicBezTo>
                  <a:lnTo>
                    <a:pt x="6418326" y="2928112"/>
                  </a:lnTo>
                  <a:cubicBezTo>
                    <a:pt x="6418326" y="2999486"/>
                    <a:pt x="6360287" y="3057398"/>
                    <a:pt x="6288786" y="3057398"/>
                  </a:cubicBezTo>
                  <a:lnTo>
                    <a:pt x="129540" y="3057398"/>
                  </a:lnTo>
                  <a:cubicBezTo>
                    <a:pt x="58039" y="3057398"/>
                    <a:pt x="0" y="2999486"/>
                    <a:pt x="0" y="2928112"/>
                  </a:cubicBezTo>
                  <a:close/>
                </a:path>
              </a:pathLst>
            </a:custGeom>
            <a:solidFill>
              <a:srgbClr val="D2D9F9"/>
            </a:solidFill>
          </p:spPr>
        </p:sp>
        <p:sp>
          <p:nvSpPr>
            <p:cNvPr name="Freeform 17" id="17"/>
            <p:cNvSpPr/>
            <p:nvPr/>
          </p:nvSpPr>
          <p:spPr>
            <a:xfrm flipH="false" flipV="false" rot="0">
              <a:off x="0" y="0"/>
              <a:ext cx="6431026" cy="3070098"/>
            </a:xfrm>
            <a:custGeom>
              <a:avLst/>
              <a:gdLst/>
              <a:ahLst/>
              <a:cxnLst/>
              <a:rect r="r" b="b" t="t" l="l"/>
              <a:pathLst>
                <a:path h="3070098" w="6431026">
                  <a:moveTo>
                    <a:pt x="0" y="135636"/>
                  </a:moveTo>
                  <a:cubicBezTo>
                    <a:pt x="0" y="60706"/>
                    <a:pt x="60833" y="0"/>
                    <a:pt x="135890" y="0"/>
                  </a:cubicBezTo>
                  <a:lnTo>
                    <a:pt x="6295136" y="0"/>
                  </a:lnTo>
                  <a:lnTo>
                    <a:pt x="6295136" y="6350"/>
                  </a:lnTo>
                  <a:lnTo>
                    <a:pt x="6295136" y="0"/>
                  </a:lnTo>
                  <a:cubicBezTo>
                    <a:pt x="6370193" y="0"/>
                    <a:pt x="6431026" y="60706"/>
                    <a:pt x="6431026" y="135636"/>
                  </a:cubicBezTo>
                  <a:lnTo>
                    <a:pt x="6424676" y="135636"/>
                  </a:lnTo>
                  <a:lnTo>
                    <a:pt x="6431026" y="135636"/>
                  </a:lnTo>
                  <a:lnTo>
                    <a:pt x="6431026" y="2934462"/>
                  </a:lnTo>
                  <a:lnTo>
                    <a:pt x="6424676" y="2934462"/>
                  </a:lnTo>
                  <a:lnTo>
                    <a:pt x="6431026" y="2934462"/>
                  </a:lnTo>
                  <a:cubicBezTo>
                    <a:pt x="6431026" y="3009392"/>
                    <a:pt x="6370193" y="3070098"/>
                    <a:pt x="6295136" y="3070098"/>
                  </a:cubicBezTo>
                  <a:lnTo>
                    <a:pt x="6295136" y="3063748"/>
                  </a:lnTo>
                  <a:lnTo>
                    <a:pt x="6295136" y="3070098"/>
                  </a:lnTo>
                  <a:lnTo>
                    <a:pt x="135890" y="3070098"/>
                  </a:lnTo>
                  <a:lnTo>
                    <a:pt x="135890" y="3063748"/>
                  </a:lnTo>
                  <a:lnTo>
                    <a:pt x="135890" y="3070098"/>
                  </a:lnTo>
                  <a:cubicBezTo>
                    <a:pt x="60833" y="3070098"/>
                    <a:pt x="0" y="3009392"/>
                    <a:pt x="0" y="2934462"/>
                  </a:cubicBezTo>
                  <a:lnTo>
                    <a:pt x="0" y="135636"/>
                  </a:lnTo>
                  <a:lnTo>
                    <a:pt x="6350" y="135636"/>
                  </a:lnTo>
                  <a:lnTo>
                    <a:pt x="0" y="135636"/>
                  </a:lnTo>
                  <a:moveTo>
                    <a:pt x="12700" y="135636"/>
                  </a:moveTo>
                  <a:lnTo>
                    <a:pt x="12700" y="2934462"/>
                  </a:lnTo>
                  <a:lnTo>
                    <a:pt x="6350" y="2934462"/>
                  </a:lnTo>
                  <a:lnTo>
                    <a:pt x="12700" y="2934462"/>
                  </a:lnTo>
                  <a:cubicBezTo>
                    <a:pt x="12700" y="3002280"/>
                    <a:pt x="67818" y="3057398"/>
                    <a:pt x="135890" y="3057398"/>
                  </a:cubicBezTo>
                  <a:lnTo>
                    <a:pt x="6295136" y="3057398"/>
                  </a:lnTo>
                  <a:cubicBezTo>
                    <a:pt x="6363208" y="3057398"/>
                    <a:pt x="6418326" y="3002407"/>
                    <a:pt x="6418326" y="2934462"/>
                  </a:cubicBezTo>
                  <a:lnTo>
                    <a:pt x="6418326" y="135636"/>
                  </a:lnTo>
                  <a:cubicBezTo>
                    <a:pt x="6418326" y="67818"/>
                    <a:pt x="6363208" y="12700"/>
                    <a:pt x="6295136" y="12700"/>
                  </a:cubicBezTo>
                  <a:lnTo>
                    <a:pt x="135890" y="12700"/>
                  </a:lnTo>
                  <a:lnTo>
                    <a:pt x="135890" y="6350"/>
                  </a:lnTo>
                  <a:lnTo>
                    <a:pt x="135890" y="12700"/>
                  </a:lnTo>
                  <a:cubicBezTo>
                    <a:pt x="67818" y="12700"/>
                    <a:pt x="12700" y="67691"/>
                    <a:pt x="12700" y="135636"/>
                  </a:cubicBezTo>
                  <a:close/>
                </a:path>
              </a:pathLst>
            </a:custGeom>
            <a:solidFill>
              <a:srgbClr val="B8BFDF"/>
            </a:solidFill>
          </p:spPr>
        </p:sp>
      </p:grpSp>
      <p:sp>
        <p:nvSpPr>
          <p:cNvPr name="TextBox 18" id="18"/>
          <p:cNvSpPr txBox="true"/>
          <p:nvPr/>
        </p:nvSpPr>
        <p:spPr>
          <a:xfrm rot="0">
            <a:off x="12906966" y="4598784"/>
            <a:ext cx="2937119" cy="369989"/>
          </a:xfrm>
          <a:prstGeom prst="rect">
            <a:avLst/>
          </a:prstGeom>
        </p:spPr>
        <p:txBody>
          <a:bodyPr anchor="t" rtlCol="false" tIns="0" lIns="0" bIns="0" rIns="0">
            <a:spAutoFit/>
          </a:bodyPr>
          <a:lstStyle/>
          <a:p>
            <a:pPr algn="l">
              <a:lnSpc>
                <a:spcPts val="2812"/>
              </a:lnSpc>
            </a:pPr>
            <a:r>
              <a:rPr lang="en-US" sz="2249">
                <a:solidFill>
                  <a:srgbClr val="404155"/>
                </a:solidFill>
                <a:latin typeface="Corben"/>
                <a:ea typeface="Corben"/>
                <a:cs typeface="Corben"/>
                <a:sym typeface="Corben"/>
              </a:rPr>
              <a:t>No Real-Time Control</a:t>
            </a:r>
          </a:p>
        </p:txBody>
      </p:sp>
      <p:sp>
        <p:nvSpPr>
          <p:cNvPr name="TextBox 19" id="19"/>
          <p:cNvSpPr txBox="true"/>
          <p:nvPr/>
        </p:nvSpPr>
        <p:spPr>
          <a:xfrm rot="0">
            <a:off x="12906966" y="5014760"/>
            <a:ext cx="4333284" cy="1406128"/>
          </a:xfrm>
          <a:prstGeom prst="rect">
            <a:avLst/>
          </a:prstGeom>
        </p:spPr>
        <p:txBody>
          <a:bodyPr anchor="t" rtlCol="false" tIns="0" lIns="0" bIns="0" rIns="0">
            <a:spAutoFit/>
          </a:bodyPr>
          <a:lstStyle/>
          <a:p>
            <a:pPr algn="l">
              <a:lnSpc>
                <a:spcPts val="2625"/>
              </a:lnSpc>
            </a:pPr>
            <a:r>
              <a:rPr lang="en-US" sz="1812">
                <a:solidFill>
                  <a:srgbClr val="404155"/>
                </a:solidFill>
                <a:latin typeface="Arimo"/>
                <a:ea typeface="Arimo"/>
                <a:cs typeface="Arimo"/>
                <a:sym typeface="Arimo"/>
              </a:rPr>
              <a:t>Examiners lack live oversight capabilities, preventing immediate intervention during suspicious activities</a:t>
            </a:r>
          </a:p>
        </p:txBody>
      </p:sp>
      <p:grpSp>
        <p:nvGrpSpPr>
          <p:cNvPr name="Group 20" id="20"/>
          <p:cNvGrpSpPr/>
          <p:nvPr/>
        </p:nvGrpSpPr>
        <p:grpSpPr>
          <a:xfrm rot="0">
            <a:off x="7660777" y="6844008"/>
            <a:ext cx="9824447" cy="1632795"/>
            <a:chOff x="0" y="0"/>
            <a:chExt cx="13099263" cy="2177059"/>
          </a:xfrm>
        </p:grpSpPr>
        <p:sp>
          <p:nvSpPr>
            <p:cNvPr name="Freeform 21" id="21"/>
            <p:cNvSpPr/>
            <p:nvPr/>
          </p:nvSpPr>
          <p:spPr>
            <a:xfrm flipH="false" flipV="false" rot="0">
              <a:off x="6350" y="6350"/>
              <a:ext cx="13086589" cy="2164461"/>
            </a:xfrm>
            <a:custGeom>
              <a:avLst/>
              <a:gdLst/>
              <a:ahLst/>
              <a:cxnLst/>
              <a:rect r="r" b="b" t="t" l="l"/>
              <a:pathLst>
                <a:path h="2164461" w="13086589">
                  <a:moveTo>
                    <a:pt x="0" y="129286"/>
                  </a:moveTo>
                  <a:cubicBezTo>
                    <a:pt x="0" y="57912"/>
                    <a:pt x="58166" y="0"/>
                    <a:pt x="129921" y="0"/>
                  </a:cubicBezTo>
                  <a:lnTo>
                    <a:pt x="12956667" y="0"/>
                  </a:lnTo>
                  <a:cubicBezTo>
                    <a:pt x="13028422" y="0"/>
                    <a:pt x="13086589" y="57912"/>
                    <a:pt x="13086589" y="129286"/>
                  </a:cubicBezTo>
                  <a:lnTo>
                    <a:pt x="13086589" y="2035175"/>
                  </a:lnTo>
                  <a:cubicBezTo>
                    <a:pt x="13086589" y="2106549"/>
                    <a:pt x="13028422" y="2164461"/>
                    <a:pt x="12956667" y="2164461"/>
                  </a:cubicBezTo>
                  <a:lnTo>
                    <a:pt x="129921" y="2164461"/>
                  </a:lnTo>
                  <a:cubicBezTo>
                    <a:pt x="58166" y="2164334"/>
                    <a:pt x="0" y="2106549"/>
                    <a:pt x="0" y="2035175"/>
                  </a:cubicBezTo>
                  <a:close/>
                </a:path>
              </a:pathLst>
            </a:custGeom>
            <a:solidFill>
              <a:srgbClr val="D2D9F9"/>
            </a:solidFill>
          </p:spPr>
        </p:sp>
        <p:sp>
          <p:nvSpPr>
            <p:cNvPr name="Freeform 22" id="22"/>
            <p:cNvSpPr/>
            <p:nvPr/>
          </p:nvSpPr>
          <p:spPr>
            <a:xfrm flipH="false" flipV="false" rot="0">
              <a:off x="0" y="0"/>
              <a:ext cx="13099289" cy="2177161"/>
            </a:xfrm>
            <a:custGeom>
              <a:avLst/>
              <a:gdLst/>
              <a:ahLst/>
              <a:cxnLst/>
              <a:rect r="r" b="b" t="t" l="l"/>
              <a:pathLst>
                <a:path h="2177161" w="13099289">
                  <a:moveTo>
                    <a:pt x="0" y="135636"/>
                  </a:moveTo>
                  <a:cubicBezTo>
                    <a:pt x="0" y="60706"/>
                    <a:pt x="60960" y="0"/>
                    <a:pt x="136271" y="0"/>
                  </a:cubicBezTo>
                  <a:lnTo>
                    <a:pt x="12963017" y="0"/>
                  </a:lnTo>
                  <a:lnTo>
                    <a:pt x="12963017" y="6350"/>
                  </a:lnTo>
                  <a:lnTo>
                    <a:pt x="12963017" y="0"/>
                  </a:lnTo>
                  <a:cubicBezTo>
                    <a:pt x="13038201" y="0"/>
                    <a:pt x="13099289" y="60706"/>
                    <a:pt x="13099289" y="135636"/>
                  </a:cubicBezTo>
                  <a:lnTo>
                    <a:pt x="13092939" y="135636"/>
                  </a:lnTo>
                  <a:lnTo>
                    <a:pt x="13099289" y="135636"/>
                  </a:lnTo>
                  <a:lnTo>
                    <a:pt x="13099289" y="2041525"/>
                  </a:lnTo>
                  <a:lnTo>
                    <a:pt x="13092939" y="2041525"/>
                  </a:lnTo>
                  <a:lnTo>
                    <a:pt x="13099289" y="2041525"/>
                  </a:lnTo>
                  <a:cubicBezTo>
                    <a:pt x="13099289" y="2116455"/>
                    <a:pt x="13038328" y="2177161"/>
                    <a:pt x="12963017" y="2177161"/>
                  </a:cubicBezTo>
                  <a:lnTo>
                    <a:pt x="12963017" y="2170811"/>
                  </a:lnTo>
                  <a:lnTo>
                    <a:pt x="12963017" y="2177161"/>
                  </a:lnTo>
                  <a:lnTo>
                    <a:pt x="136271" y="2177161"/>
                  </a:lnTo>
                  <a:lnTo>
                    <a:pt x="136271" y="2170811"/>
                  </a:lnTo>
                  <a:lnTo>
                    <a:pt x="136271" y="2177161"/>
                  </a:lnTo>
                  <a:cubicBezTo>
                    <a:pt x="60960" y="2177034"/>
                    <a:pt x="0" y="2116328"/>
                    <a:pt x="0" y="2041525"/>
                  </a:cubicBezTo>
                  <a:lnTo>
                    <a:pt x="0" y="135636"/>
                  </a:lnTo>
                  <a:lnTo>
                    <a:pt x="6350" y="135636"/>
                  </a:lnTo>
                  <a:lnTo>
                    <a:pt x="0" y="135636"/>
                  </a:lnTo>
                  <a:moveTo>
                    <a:pt x="12700" y="135636"/>
                  </a:moveTo>
                  <a:lnTo>
                    <a:pt x="12700" y="2041525"/>
                  </a:lnTo>
                  <a:lnTo>
                    <a:pt x="6350" y="2041525"/>
                  </a:lnTo>
                  <a:lnTo>
                    <a:pt x="12700" y="2041525"/>
                  </a:lnTo>
                  <a:cubicBezTo>
                    <a:pt x="12700" y="2109343"/>
                    <a:pt x="67945" y="2164461"/>
                    <a:pt x="136271" y="2164461"/>
                  </a:cubicBezTo>
                  <a:lnTo>
                    <a:pt x="12963017" y="2164461"/>
                  </a:lnTo>
                  <a:cubicBezTo>
                    <a:pt x="13031217" y="2164461"/>
                    <a:pt x="13086589" y="2109470"/>
                    <a:pt x="13086589" y="2041525"/>
                  </a:cubicBezTo>
                  <a:lnTo>
                    <a:pt x="13086589" y="135636"/>
                  </a:lnTo>
                  <a:cubicBezTo>
                    <a:pt x="13086589" y="67818"/>
                    <a:pt x="13031344" y="12700"/>
                    <a:pt x="12963017" y="12700"/>
                  </a:cubicBezTo>
                  <a:lnTo>
                    <a:pt x="136271" y="12700"/>
                  </a:lnTo>
                  <a:lnTo>
                    <a:pt x="136271" y="6350"/>
                  </a:lnTo>
                  <a:lnTo>
                    <a:pt x="136271" y="12700"/>
                  </a:lnTo>
                  <a:cubicBezTo>
                    <a:pt x="67945" y="12700"/>
                    <a:pt x="12700" y="67691"/>
                    <a:pt x="12700" y="135636"/>
                  </a:cubicBezTo>
                  <a:close/>
                </a:path>
              </a:pathLst>
            </a:custGeom>
            <a:solidFill>
              <a:srgbClr val="B8BFDF"/>
            </a:solidFill>
          </p:spPr>
        </p:sp>
      </p:grpSp>
      <p:sp>
        <p:nvSpPr>
          <p:cNvPr name="TextBox 23" id="23"/>
          <p:cNvSpPr txBox="true"/>
          <p:nvPr/>
        </p:nvSpPr>
        <p:spPr>
          <a:xfrm rot="0">
            <a:off x="7905750" y="7079456"/>
            <a:ext cx="3432638" cy="347685"/>
          </a:xfrm>
          <a:prstGeom prst="rect">
            <a:avLst/>
          </a:prstGeom>
        </p:spPr>
        <p:txBody>
          <a:bodyPr anchor="t" rtlCol="false" tIns="0" lIns="0" bIns="0" rIns="0">
            <a:spAutoFit/>
          </a:bodyPr>
          <a:lstStyle/>
          <a:p>
            <a:pPr algn="l">
              <a:lnSpc>
                <a:spcPts val="2812"/>
              </a:lnSpc>
            </a:pPr>
            <a:r>
              <a:rPr lang="en-US" sz="2249">
                <a:solidFill>
                  <a:srgbClr val="404155"/>
                </a:solidFill>
                <a:latin typeface="Corben"/>
                <a:ea typeface="Corben"/>
                <a:cs typeface="Corben"/>
                <a:sym typeface="Corben"/>
              </a:rPr>
              <a:t>Online Security Concerns</a:t>
            </a:r>
          </a:p>
        </p:txBody>
      </p:sp>
      <p:sp>
        <p:nvSpPr>
          <p:cNvPr name="TextBox 24" id="24"/>
          <p:cNvSpPr txBox="true"/>
          <p:nvPr/>
        </p:nvSpPr>
        <p:spPr>
          <a:xfrm rot="0">
            <a:off x="7905750" y="7495432"/>
            <a:ext cx="9334500" cy="676275"/>
          </a:xfrm>
          <a:prstGeom prst="rect">
            <a:avLst/>
          </a:prstGeom>
        </p:spPr>
        <p:txBody>
          <a:bodyPr anchor="t" rtlCol="false" tIns="0" lIns="0" bIns="0" rIns="0">
            <a:spAutoFit/>
          </a:bodyPr>
          <a:lstStyle/>
          <a:p>
            <a:pPr algn="l">
              <a:lnSpc>
                <a:spcPts val="2625"/>
              </a:lnSpc>
            </a:pPr>
            <a:r>
              <a:rPr lang="en-US" sz="1812">
                <a:solidFill>
                  <a:srgbClr val="404155"/>
                </a:solidFill>
                <a:latin typeface="Arimo"/>
                <a:ea typeface="Arimo"/>
                <a:cs typeface="Arimo"/>
                <a:sym typeface="Arimo"/>
              </a:rPr>
              <a:t>Many regions suffer from a lack of security issues in their Internet access, necessitating lightweight, online-compatible solutions.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1243165"/>
            <a:ext cx="7088238" cy="914552"/>
          </a:xfrm>
          <a:prstGeom prst="rect">
            <a:avLst/>
          </a:prstGeom>
        </p:spPr>
        <p:txBody>
          <a:bodyPr anchor="t" rtlCol="false" tIns="0" lIns="0" bIns="0" rIns="0">
            <a:spAutoFit/>
          </a:bodyPr>
          <a:lstStyle/>
          <a:p>
            <a:pPr algn="l">
              <a:lnSpc>
                <a:spcPts val="6937"/>
              </a:lnSpc>
            </a:pPr>
            <a:r>
              <a:rPr lang="en-US" sz="5562">
                <a:solidFill>
                  <a:srgbClr val="1B1B27"/>
                </a:solidFill>
                <a:latin typeface="Corben"/>
                <a:ea typeface="Corben"/>
                <a:cs typeface="Corben"/>
                <a:sym typeface="Corben"/>
              </a:rPr>
              <a:t>Problem Statement</a:t>
            </a:r>
          </a:p>
        </p:txBody>
      </p:sp>
      <p:sp>
        <p:nvSpPr>
          <p:cNvPr name="TextBox 7" id="7"/>
          <p:cNvSpPr txBox="true"/>
          <p:nvPr/>
        </p:nvSpPr>
        <p:spPr>
          <a:xfrm rot="0">
            <a:off x="992238" y="2619966"/>
            <a:ext cx="16303523" cy="558403"/>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The digital examination landscape faces critical gaps that compromise both security and accessibility.</a:t>
            </a:r>
          </a:p>
        </p:txBody>
      </p:sp>
      <p:grpSp>
        <p:nvGrpSpPr>
          <p:cNvPr name="Group 8" id="8"/>
          <p:cNvGrpSpPr/>
          <p:nvPr/>
        </p:nvGrpSpPr>
        <p:grpSpPr>
          <a:xfrm rot="0">
            <a:off x="973188" y="3478263"/>
            <a:ext cx="8048034" cy="2655246"/>
            <a:chOff x="0" y="0"/>
            <a:chExt cx="10730713" cy="3540328"/>
          </a:xfrm>
        </p:grpSpPr>
        <p:sp>
          <p:nvSpPr>
            <p:cNvPr name="Freeform 9" id="9"/>
            <p:cNvSpPr/>
            <p:nvPr/>
          </p:nvSpPr>
          <p:spPr>
            <a:xfrm flipH="false" flipV="false" rot="0">
              <a:off x="25400" y="25400"/>
              <a:ext cx="10679938" cy="3489452"/>
            </a:xfrm>
            <a:custGeom>
              <a:avLst/>
              <a:gdLst/>
              <a:ahLst/>
              <a:cxnLst/>
              <a:rect r="r" b="b" t="t" l="l"/>
              <a:pathLst>
                <a:path h="3489452" w="10679938">
                  <a:moveTo>
                    <a:pt x="0" y="243840"/>
                  </a:moveTo>
                  <a:cubicBezTo>
                    <a:pt x="0" y="109220"/>
                    <a:pt x="110236" y="0"/>
                    <a:pt x="246253" y="0"/>
                  </a:cubicBezTo>
                  <a:lnTo>
                    <a:pt x="10433685" y="0"/>
                  </a:lnTo>
                  <a:cubicBezTo>
                    <a:pt x="10569702" y="0"/>
                    <a:pt x="10679938" y="109220"/>
                    <a:pt x="10679938" y="243840"/>
                  </a:cubicBezTo>
                  <a:lnTo>
                    <a:pt x="10679938" y="3245612"/>
                  </a:lnTo>
                  <a:cubicBezTo>
                    <a:pt x="10679938" y="3380232"/>
                    <a:pt x="10569702" y="3489452"/>
                    <a:pt x="10433685" y="3489452"/>
                  </a:cubicBezTo>
                  <a:lnTo>
                    <a:pt x="246253" y="3489452"/>
                  </a:lnTo>
                  <a:cubicBezTo>
                    <a:pt x="110236" y="3489452"/>
                    <a:pt x="0" y="3380232"/>
                    <a:pt x="0" y="3245612"/>
                  </a:cubicBezTo>
                  <a:close/>
                </a:path>
              </a:pathLst>
            </a:custGeom>
            <a:solidFill>
              <a:srgbClr val="F9F9FF">
                <a:alpha val="90196"/>
              </a:srgbClr>
            </a:solidFill>
          </p:spPr>
        </p:sp>
        <p:sp>
          <p:nvSpPr>
            <p:cNvPr name="Freeform 10" id="10"/>
            <p:cNvSpPr/>
            <p:nvPr/>
          </p:nvSpPr>
          <p:spPr>
            <a:xfrm flipH="false" flipV="false" rot="0">
              <a:off x="0" y="0"/>
              <a:ext cx="10730738" cy="3540252"/>
            </a:xfrm>
            <a:custGeom>
              <a:avLst/>
              <a:gdLst/>
              <a:ahLst/>
              <a:cxnLst/>
              <a:rect r="r" b="b" t="t" l="l"/>
              <a:pathLst>
                <a:path h="3540252" w="10730738">
                  <a:moveTo>
                    <a:pt x="0" y="269240"/>
                  </a:moveTo>
                  <a:cubicBezTo>
                    <a:pt x="0" y="120269"/>
                    <a:pt x="121793" y="0"/>
                    <a:pt x="271653" y="0"/>
                  </a:cubicBezTo>
                  <a:lnTo>
                    <a:pt x="10459085" y="0"/>
                  </a:lnTo>
                  <a:lnTo>
                    <a:pt x="10459085" y="25400"/>
                  </a:lnTo>
                  <a:lnTo>
                    <a:pt x="10459085" y="0"/>
                  </a:lnTo>
                  <a:cubicBezTo>
                    <a:pt x="10608818" y="0"/>
                    <a:pt x="10730738" y="120269"/>
                    <a:pt x="10730738" y="269240"/>
                  </a:cubicBezTo>
                  <a:lnTo>
                    <a:pt x="10705338" y="269240"/>
                  </a:lnTo>
                  <a:lnTo>
                    <a:pt x="10730738" y="269240"/>
                  </a:lnTo>
                  <a:lnTo>
                    <a:pt x="10730738" y="3271012"/>
                  </a:lnTo>
                  <a:lnTo>
                    <a:pt x="10705338" y="3271012"/>
                  </a:lnTo>
                  <a:lnTo>
                    <a:pt x="10730738" y="3271012"/>
                  </a:lnTo>
                  <a:cubicBezTo>
                    <a:pt x="10730738" y="3419983"/>
                    <a:pt x="10608945" y="3540252"/>
                    <a:pt x="10459085" y="3540252"/>
                  </a:cubicBezTo>
                  <a:lnTo>
                    <a:pt x="10459085" y="3514852"/>
                  </a:lnTo>
                  <a:lnTo>
                    <a:pt x="10459085"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085" y="3489452"/>
                  </a:lnTo>
                  <a:cubicBezTo>
                    <a:pt x="10581259" y="3489452"/>
                    <a:pt x="10679938" y="3391408"/>
                    <a:pt x="10679938" y="3271012"/>
                  </a:cubicBezTo>
                  <a:lnTo>
                    <a:pt x="10679938" y="269240"/>
                  </a:lnTo>
                  <a:cubicBezTo>
                    <a:pt x="10679938" y="148844"/>
                    <a:pt x="10581259" y="50800"/>
                    <a:pt x="10459085" y="50800"/>
                  </a:cubicBezTo>
                  <a:lnTo>
                    <a:pt x="271653" y="50800"/>
                  </a:lnTo>
                  <a:lnTo>
                    <a:pt x="271653" y="25400"/>
                  </a:lnTo>
                  <a:lnTo>
                    <a:pt x="271653" y="50800"/>
                  </a:lnTo>
                  <a:cubicBezTo>
                    <a:pt x="149479" y="50800"/>
                    <a:pt x="50800" y="148844"/>
                    <a:pt x="50800" y="269240"/>
                  </a:cubicBezTo>
                  <a:close/>
                </a:path>
              </a:pathLst>
            </a:custGeom>
            <a:solidFill>
              <a:srgbClr val="B8BFDF"/>
            </a:solidFill>
          </p:spPr>
        </p:sp>
      </p:grpSp>
      <p:grpSp>
        <p:nvGrpSpPr>
          <p:cNvPr name="Group 11" id="11"/>
          <p:cNvGrpSpPr/>
          <p:nvPr/>
        </p:nvGrpSpPr>
        <p:grpSpPr>
          <a:xfrm rot="0">
            <a:off x="954138" y="3497313"/>
            <a:ext cx="152400" cy="2617146"/>
            <a:chOff x="0" y="0"/>
            <a:chExt cx="203200" cy="3489528"/>
          </a:xfrm>
        </p:grpSpPr>
        <p:sp>
          <p:nvSpPr>
            <p:cNvPr name="Freeform 12" id="12"/>
            <p:cNvSpPr/>
            <p:nvPr/>
          </p:nvSpPr>
          <p:spPr>
            <a:xfrm flipH="false" flipV="false" rot="0">
              <a:off x="0" y="0"/>
              <a:ext cx="203200" cy="3489579"/>
            </a:xfrm>
            <a:custGeom>
              <a:avLst/>
              <a:gdLst/>
              <a:ahLst/>
              <a:cxnLst/>
              <a:rect r="r" b="b" t="t" l="l"/>
              <a:pathLst>
                <a:path h="3489579" w="203200">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4967E9"/>
            </a:solidFill>
          </p:spPr>
        </p:sp>
      </p:grpSp>
      <p:sp>
        <p:nvSpPr>
          <p:cNvPr name="TextBox 13" id="13"/>
          <p:cNvSpPr txBox="true"/>
          <p:nvPr/>
        </p:nvSpPr>
        <p:spPr>
          <a:xfrm rot="0">
            <a:off x="1428159" y="3809409"/>
            <a:ext cx="4695234"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Lack of Effective Prevention</a:t>
            </a:r>
          </a:p>
        </p:txBody>
      </p:sp>
      <p:sp>
        <p:nvSpPr>
          <p:cNvPr name="TextBox 14" id="14"/>
          <p:cNvSpPr txBox="true"/>
          <p:nvPr/>
        </p:nvSpPr>
        <p:spPr>
          <a:xfrm rot="0">
            <a:off x="1428159" y="4327179"/>
            <a:ext cx="7252392" cy="1465659"/>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Current systems fail to prevent cheating through app switching, external help, and unauthorized collaboration during exams</a:t>
            </a:r>
          </a:p>
        </p:txBody>
      </p:sp>
      <p:grpSp>
        <p:nvGrpSpPr>
          <p:cNvPr name="Group 15" id="15"/>
          <p:cNvGrpSpPr/>
          <p:nvPr/>
        </p:nvGrpSpPr>
        <p:grpSpPr>
          <a:xfrm rot="0">
            <a:off x="9266634" y="3478263"/>
            <a:ext cx="8048177" cy="2655246"/>
            <a:chOff x="0" y="0"/>
            <a:chExt cx="10730903" cy="3540328"/>
          </a:xfrm>
        </p:grpSpPr>
        <p:sp>
          <p:nvSpPr>
            <p:cNvPr name="Freeform 16" id="16"/>
            <p:cNvSpPr/>
            <p:nvPr/>
          </p:nvSpPr>
          <p:spPr>
            <a:xfrm flipH="false" flipV="false" rot="0">
              <a:off x="25400" y="25400"/>
              <a:ext cx="10680192" cy="3489452"/>
            </a:xfrm>
            <a:custGeom>
              <a:avLst/>
              <a:gdLst/>
              <a:ahLst/>
              <a:cxnLst/>
              <a:rect r="r" b="b" t="t" l="l"/>
              <a:pathLst>
                <a:path h="3489452" w="10680192">
                  <a:moveTo>
                    <a:pt x="0" y="243840"/>
                  </a:moveTo>
                  <a:cubicBezTo>
                    <a:pt x="0" y="109220"/>
                    <a:pt x="110236" y="0"/>
                    <a:pt x="246253" y="0"/>
                  </a:cubicBezTo>
                  <a:lnTo>
                    <a:pt x="10433939" y="0"/>
                  </a:lnTo>
                  <a:cubicBezTo>
                    <a:pt x="10569956" y="0"/>
                    <a:pt x="10680192" y="109220"/>
                    <a:pt x="10680192" y="243840"/>
                  </a:cubicBezTo>
                  <a:lnTo>
                    <a:pt x="10680192" y="3245612"/>
                  </a:lnTo>
                  <a:cubicBezTo>
                    <a:pt x="10680192" y="3380232"/>
                    <a:pt x="10569956" y="3489452"/>
                    <a:pt x="10433939" y="3489452"/>
                  </a:cubicBezTo>
                  <a:lnTo>
                    <a:pt x="246253" y="3489452"/>
                  </a:lnTo>
                  <a:cubicBezTo>
                    <a:pt x="110236" y="3489452"/>
                    <a:pt x="0" y="3380232"/>
                    <a:pt x="0" y="3245612"/>
                  </a:cubicBezTo>
                  <a:close/>
                </a:path>
              </a:pathLst>
            </a:custGeom>
            <a:solidFill>
              <a:srgbClr val="F9F9FF">
                <a:alpha val="90196"/>
              </a:srgbClr>
            </a:solidFill>
          </p:spPr>
        </p:sp>
        <p:sp>
          <p:nvSpPr>
            <p:cNvPr name="Freeform 17" id="17"/>
            <p:cNvSpPr/>
            <p:nvPr/>
          </p:nvSpPr>
          <p:spPr>
            <a:xfrm flipH="false" flipV="false" rot="0">
              <a:off x="0" y="0"/>
              <a:ext cx="10730992" cy="3540252"/>
            </a:xfrm>
            <a:custGeom>
              <a:avLst/>
              <a:gdLst/>
              <a:ahLst/>
              <a:cxnLst/>
              <a:rect r="r" b="b" t="t" l="l"/>
              <a:pathLst>
                <a:path h="3540252" w="10730992">
                  <a:moveTo>
                    <a:pt x="0" y="269240"/>
                  </a:moveTo>
                  <a:cubicBezTo>
                    <a:pt x="0" y="120269"/>
                    <a:pt x="121793" y="0"/>
                    <a:pt x="271653" y="0"/>
                  </a:cubicBezTo>
                  <a:lnTo>
                    <a:pt x="10459339" y="0"/>
                  </a:lnTo>
                  <a:lnTo>
                    <a:pt x="10459339" y="25400"/>
                  </a:lnTo>
                  <a:lnTo>
                    <a:pt x="10459339" y="0"/>
                  </a:lnTo>
                  <a:cubicBezTo>
                    <a:pt x="10609072" y="0"/>
                    <a:pt x="10730992" y="120269"/>
                    <a:pt x="10730992" y="269240"/>
                  </a:cubicBezTo>
                  <a:lnTo>
                    <a:pt x="10705592" y="269240"/>
                  </a:lnTo>
                  <a:lnTo>
                    <a:pt x="10730992" y="269240"/>
                  </a:lnTo>
                  <a:lnTo>
                    <a:pt x="10730992" y="3271012"/>
                  </a:lnTo>
                  <a:lnTo>
                    <a:pt x="10705592" y="3271012"/>
                  </a:lnTo>
                  <a:lnTo>
                    <a:pt x="10730992" y="3271012"/>
                  </a:lnTo>
                  <a:cubicBezTo>
                    <a:pt x="10730992" y="3419983"/>
                    <a:pt x="10609199" y="3540252"/>
                    <a:pt x="10459339" y="3540252"/>
                  </a:cubicBezTo>
                  <a:lnTo>
                    <a:pt x="10459339" y="3514852"/>
                  </a:lnTo>
                  <a:lnTo>
                    <a:pt x="10459339"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339" y="3489452"/>
                  </a:lnTo>
                  <a:cubicBezTo>
                    <a:pt x="10581513" y="3489452"/>
                    <a:pt x="10680192" y="3391408"/>
                    <a:pt x="10680192" y="3271012"/>
                  </a:cubicBezTo>
                  <a:lnTo>
                    <a:pt x="10680192" y="269240"/>
                  </a:lnTo>
                  <a:cubicBezTo>
                    <a:pt x="10680192" y="148844"/>
                    <a:pt x="10581513" y="50800"/>
                    <a:pt x="10459339" y="50800"/>
                  </a:cubicBezTo>
                  <a:lnTo>
                    <a:pt x="271653" y="50800"/>
                  </a:lnTo>
                  <a:lnTo>
                    <a:pt x="271653" y="25400"/>
                  </a:lnTo>
                  <a:lnTo>
                    <a:pt x="271653" y="50800"/>
                  </a:lnTo>
                  <a:cubicBezTo>
                    <a:pt x="149479" y="50800"/>
                    <a:pt x="50800" y="148844"/>
                    <a:pt x="50800" y="269240"/>
                  </a:cubicBezTo>
                  <a:close/>
                </a:path>
              </a:pathLst>
            </a:custGeom>
            <a:solidFill>
              <a:srgbClr val="B8BFDF"/>
            </a:solidFill>
          </p:spPr>
        </p:sp>
      </p:grpSp>
      <p:grpSp>
        <p:nvGrpSpPr>
          <p:cNvPr name="Group 18" id="18"/>
          <p:cNvGrpSpPr/>
          <p:nvPr/>
        </p:nvGrpSpPr>
        <p:grpSpPr>
          <a:xfrm rot="0">
            <a:off x="9247584" y="3497313"/>
            <a:ext cx="152400" cy="2617146"/>
            <a:chOff x="0" y="0"/>
            <a:chExt cx="203200" cy="3489528"/>
          </a:xfrm>
        </p:grpSpPr>
        <p:sp>
          <p:nvSpPr>
            <p:cNvPr name="Freeform 19" id="19"/>
            <p:cNvSpPr/>
            <p:nvPr/>
          </p:nvSpPr>
          <p:spPr>
            <a:xfrm flipH="false" flipV="false" rot="0">
              <a:off x="0" y="0"/>
              <a:ext cx="203200" cy="3489579"/>
            </a:xfrm>
            <a:custGeom>
              <a:avLst/>
              <a:gdLst/>
              <a:ahLst/>
              <a:cxnLst/>
              <a:rect r="r" b="b" t="t" l="l"/>
              <a:pathLst>
                <a:path h="3489579" w="203200">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4967E9"/>
            </a:solidFill>
          </p:spPr>
        </p:sp>
      </p:grpSp>
      <p:sp>
        <p:nvSpPr>
          <p:cNvPr name="TextBox 20" id="20"/>
          <p:cNvSpPr txBox="true"/>
          <p:nvPr/>
        </p:nvSpPr>
        <p:spPr>
          <a:xfrm rot="0">
            <a:off x="9721606" y="3809409"/>
            <a:ext cx="3544043"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Privacy Concerns</a:t>
            </a:r>
          </a:p>
        </p:txBody>
      </p:sp>
      <p:sp>
        <p:nvSpPr>
          <p:cNvPr name="TextBox 21" id="21"/>
          <p:cNvSpPr txBox="true"/>
          <p:nvPr/>
        </p:nvSpPr>
        <p:spPr>
          <a:xfrm rot="0">
            <a:off x="9721606" y="4327179"/>
            <a:ext cx="7252545" cy="1465659"/>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Cloud-based solutions collect excessive personal data, raising compliance issues under privacy regulations like GDPR and FERPA</a:t>
            </a:r>
          </a:p>
        </p:txBody>
      </p:sp>
      <p:grpSp>
        <p:nvGrpSpPr>
          <p:cNvPr name="Group 22" id="22"/>
          <p:cNvGrpSpPr/>
          <p:nvPr/>
        </p:nvGrpSpPr>
        <p:grpSpPr>
          <a:xfrm rot="0">
            <a:off x="973188" y="6378921"/>
            <a:ext cx="8048034" cy="2655246"/>
            <a:chOff x="0" y="0"/>
            <a:chExt cx="10730713" cy="3540328"/>
          </a:xfrm>
        </p:grpSpPr>
        <p:sp>
          <p:nvSpPr>
            <p:cNvPr name="Freeform 23" id="23"/>
            <p:cNvSpPr/>
            <p:nvPr/>
          </p:nvSpPr>
          <p:spPr>
            <a:xfrm flipH="false" flipV="false" rot="0">
              <a:off x="25400" y="25400"/>
              <a:ext cx="10679938" cy="3489452"/>
            </a:xfrm>
            <a:custGeom>
              <a:avLst/>
              <a:gdLst/>
              <a:ahLst/>
              <a:cxnLst/>
              <a:rect r="r" b="b" t="t" l="l"/>
              <a:pathLst>
                <a:path h="3489452" w="10679938">
                  <a:moveTo>
                    <a:pt x="0" y="243840"/>
                  </a:moveTo>
                  <a:cubicBezTo>
                    <a:pt x="0" y="109220"/>
                    <a:pt x="110236" y="0"/>
                    <a:pt x="246253" y="0"/>
                  </a:cubicBezTo>
                  <a:lnTo>
                    <a:pt x="10433685" y="0"/>
                  </a:lnTo>
                  <a:cubicBezTo>
                    <a:pt x="10569702" y="0"/>
                    <a:pt x="10679938" y="109220"/>
                    <a:pt x="10679938" y="243840"/>
                  </a:cubicBezTo>
                  <a:lnTo>
                    <a:pt x="10679938" y="3245612"/>
                  </a:lnTo>
                  <a:cubicBezTo>
                    <a:pt x="10679938" y="3380232"/>
                    <a:pt x="10569702" y="3489452"/>
                    <a:pt x="10433685" y="3489452"/>
                  </a:cubicBezTo>
                  <a:lnTo>
                    <a:pt x="246253" y="3489452"/>
                  </a:lnTo>
                  <a:cubicBezTo>
                    <a:pt x="110236" y="3489452"/>
                    <a:pt x="0" y="3380232"/>
                    <a:pt x="0" y="3245612"/>
                  </a:cubicBezTo>
                  <a:close/>
                </a:path>
              </a:pathLst>
            </a:custGeom>
            <a:solidFill>
              <a:srgbClr val="F9F9FF">
                <a:alpha val="90196"/>
              </a:srgbClr>
            </a:solidFill>
          </p:spPr>
        </p:sp>
        <p:sp>
          <p:nvSpPr>
            <p:cNvPr name="Freeform 24" id="24"/>
            <p:cNvSpPr/>
            <p:nvPr/>
          </p:nvSpPr>
          <p:spPr>
            <a:xfrm flipH="false" flipV="false" rot="0">
              <a:off x="0" y="0"/>
              <a:ext cx="10730738" cy="3540252"/>
            </a:xfrm>
            <a:custGeom>
              <a:avLst/>
              <a:gdLst/>
              <a:ahLst/>
              <a:cxnLst/>
              <a:rect r="r" b="b" t="t" l="l"/>
              <a:pathLst>
                <a:path h="3540252" w="10730738">
                  <a:moveTo>
                    <a:pt x="0" y="269240"/>
                  </a:moveTo>
                  <a:cubicBezTo>
                    <a:pt x="0" y="120269"/>
                    <a:pt x="121793" y="0"/>
                    <a:pt x="271653" y="0"/>
                  </a:cubicBezTo>
                  <a:lnTo>
                    <a:pt x="10459085" y="0"/>
                  </a:lnTo>
                  <a:lnTo>
                    <a:pt x="10459085" y="25400"/>
                  </a:lnTo>
                  <a:lnTo>
                    <a:pt x="10459085" y="0"/>
                  </a:lnTo>
                  <a:cubicBezTo>
                    <a:pt x="10608818" y="0"/>
                    <a:pt x="10730738" y="120269"/>
                    <a:pt x="10730738" y="269240"/>
                  </a:cubicBezTo>
                  <a:lnTo>
                    <a:pt x="10705338" y="269240"/>
                  </a:lnTo>
                  <a:lnTo>
                    <a:pt x="10730738" y="269240"/>
                  </a:lnTo>
                  <a:lnTo>
                    <a:pt x="10730738" y="3271012"/>
                  </a:lnTo>
                  <a:lnTo>
                    <a:pt x="10705338" y="3271012"/>
                  </a:lnTo>
                  <a:lnTo>
                    <a:pt x="10730738" y="3271012"/>
                  </a:lnTo>
                  <a:cubicBezTo>
                    <a:pt x="10730738" y="3419983"/>
                    <a:pt x="10608945" y="3540252"/>
                    <a:pt x="10459085" y="3540252"/>
                  </a:cubicBezTo>
                  <a:lnTo>
                    <a:pt x="10459085" y="3514852"/>
                  </a:lnTo>
                  <a:lnTo>
                    <a:pt x="10459085"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085" y="3489452"/>
                  </a:lnTo>
                  <a:cubicBezTo>
                    <a:pt x="10581259" y="3489452"/>
                    <a:pt x="10679938" y="3391408"/>
                    <a:pt x="10679938" y="3271012"/>
                  </a:cubicBezTo>
                  <a:lnTo>
                    <a:pt x="10679938" y="269240"/>
                  </a:lnTo>
                  <a:cubicBezTo>
                    <a:pt x="10679938" y="148844"/>
                    <a:pt x="10581259" y="50800"/>
                    <a:pt x="10459085" y="50800"/>
                  </a:cubicBezTo>
                  <a:lnTo>
                    <a:pt x="271653" y="50800"/>
                  </a:lnTo>
                  <a:lnTo>
                    <a:pt x="271653" y="25400"/>
                  </a:lnTo>
                  <a:lnTo>
                    <a:pt x="271653" y="50800"/>
                  </a:lnTo>
                  <a:cubicBezTo>
                    <a:pt x="149479" y="50800"/>
                    <a:pt x="50800" y="148844"/>
                    <a:pt x="50800" y="269240"/>
                  </a:cubicBezTo>
                  <a:close/>
                </a:path>
              </a:pathLst>
            </a:custGeom>
            <a:solidFill>
              <a:srgbClr val="B8BFDF"/>
            </a:solidFill>
          </p:spPr>
        </p:sp>
      </p:grpSp>
      <p:grpSp>
        <p:nvGrpSpPr>
          <p:cNvPr name="Group 25" id="25"/>
          <p:cNvGrpSpPr/>
          <p:nvPr/>
        </p:nvGrpSpPr>
        <p:grpSpPr>
          <a:xfrm rot="0">
            <a:off x="954138" y="6397971"/>
            <a:ext cx="152400" cy="2617146"/>
            <a:chOff x="0" y="0"/>
            <a:chExt cx="203200" cy="3489528"/>
          </a:xfrm>
        </p:grpSpPr>
        <p:sp>
          <p:nvSpPr>
            <p:cNvPr name="Freeform 26" id="26"/>
            <p:cNvSpPr/>
            <p:nvPr/>
          </p:nvSpPr>
          <p:spPr>
            <a:xfrm flipH="false" flipV="false" rot="0">
              <a:off x="0" y="0"/>
              <a:ext cx="203200" cy="3489579"/>
            </a:xfrm>
            <a:custGeom>
              <a:avLst/>
              <a:gdLst/>
              <a:ahLst/>
              <a:cxnLst/>
              <a:rect r="r" b="b" t="t" l="l"/>
              <a:pathLst>
                <a:path h="3489579" w="203200">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4967E9"/>
            </a:solidFill>
          </p:spPr>
        </p:sp>
      </p:grpSp>
      <p:sp>
        <p:nvSpPr>
          <p:cNvPr name="TextBox 27" id="27"/>
          <p:cNvSpPr txBox="true"/>
          <p:nvPr/>
        </p:nvSpPr>
        <p:spPr>
          <a:xfrm rot="0">
            <a:off x="1428159" y="6710067"/>
            <a:ext cx="3608784"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No Real-Time Control</a:t>
            </a:r>
          </a:p>
        </p:txBody>
      </p:sp>
      <p:sp>
        <p:nvSpPr>
          <p:cNvPr name="TextBox 28" id="28"/>
          <p:cNvSpPr txBox="true"/>
          <p:nvPr/>
        </p:nvSpPr>
        <p:spPr>
          <a:xfrm rot="0">
            <a:off x="1428159" y="7227837"/>
            <a:ext cx="7252392" cy="1465659"/>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Examiners cannot monitor sessions live or intervene immediately when violations occur, reducing effectiveness</a:t>
            </a:r>
          </a:p>
        </p:txBody>
      </p:sp>
      <p:grpSp>
        <p:nvGrpSpPr>
          <p:cNvPr name="Group 29" id="29"/>
          <p:cNvGrpSpPr/>
          <p:nvPr/>
        </p:nvGrpSpPr>
        <p:grpSpPr>
          <a:xfrm rot="0">
            <a:off x="9266634" y="6378921"/>
            <a:ext cx="8048177" cy="2655246"/>
            <a:chOff x="0" y="0"/>
            <a:chExt cx="10730903" cy="3540328"/>
          </a:xfrm>
        </p:grpSpPr>
        <p:sp>
          <p:nvSpPr>
            <p:cNvPr name="Freeform 30" id="30"/>
            <p:cNvSpPr/>
            <p:nvPr/>
          </p:nvSpPr>
          <p:spPr>
            <a:xfrm flipH="false" flipV="false" rot="0">
              <a:off x="25400" y="25400"/>
              <a:ext cx="10680192" cy="3489452"/>
            </a:xfrm>
            <a:custGeom>
              <a:avLst/>
              <a:gdLst/>
              <a:ahLst/>
              <a:cxnLst/>
              <a:rect r="r" b="b" t="t" l="l"/>
              <a:pathLst>
                <a:path h="3489452" w="10680192">
                  <a:moveTo>
                    <a:pt x="0" y="243840"/>
                  </a:moveTo>
                  <a:cubicBezTo>
                    <a:pt x="0" y="109220"/>
                    <a:pt x="110236" y="0"/>
                    <a:pt x="246253" y="0"/>
                  </a:cubicBezTo>
                  <a:lnTo>
                    <a:pt x="10433939" y="0"/>
                  </a:lnTo>
                  <a:cubicBezTo>
                    <a:pt x="10569956" y="0"/>
                    <a:pt x="10680192" y="109220"/>
                    <a:pt x="10680192" y="243840"/>
                  </a:cubicBezTo>
                  <a:lnTo>
                    <a:pt x="10680192" y="3245612"/>
                  </a:lnTo>
                  <a:cubicBezTo>
                    <a:pt x="10680192" y="3380232"/>
                    <a:pt x="10569956" y="3489452"/>
                    <a:pt x="10433939" y="3489452"/>
                  </a:cubicBezTo>
                  <a:lnTo>
                    <a:pt x="246253" y="3489452"/>
                  </a:lnTo>
                  <a:cubicBezTo>
                    <a:pt x="110236" y="3489452"/>
                    <a:pt x="0" y="3380232"/>
                    <a:pt x="0" y="3245612"/>
                  </a:cubicBezTo>
                  <a:close/>
                </a:path>
              </a:pathLst>
            </a:custGeom>
            <a:solidFill>
              <a:srgbClr val="F9F9FF">
                <a:alpha val="90196"/>
              </a:srgbClr>
            </a:solidFill>
          </p:spPr>
        </p:sp>
        <p:sp>
          <p:nvSpPr>
            <p:cNvPr name="Freeform 31" id="31"/>
            <p:cNvSpPr/>
            <p:nvPr/>
          </p:nvSpPr>
          <p:spPr>
            <a:xfrm flipH="false" flipV="false" rot="0">
              <a:off x="0" y="0"/>
              <a:ext cx="10730992" cy="3540252"/>
            </a:xfrm>
            <a:custGeom>
              <a:avLst/>
              <a:gdLst/>
              <a:ahLst/>
              <a:cxnLst/>
              <a:rect r="r" b="b" t="t" l="l"/>
              <a:pathLst>
                <a:path h="3540252" w="10730992">
                  <a:moveTo>
                    <a:pt x="0" y="269240"/>
                  </a:moveTo>
                  <a:cubicBezTo>
                    <a:pt x="0" y="120269"/>
                    <a:pt x="121793" y="0"/>
                    <a:pt x="271653" y="0"/>
                  </a:cubicBezTo>
                  <a:lnTo>
                    <a:pt x="10459339" y="0"/>
                  </a:lnTo>
                  <a:lnTo>
                    <a:pt x="10459339" y="25400"/>
                  </a:lnTo>
                  <a:lnTo>
                    <a:pt x="10459339" y="0"/>
                  </a:lnTo>
                  <a:cubicBezTo>
                    <a:pt x="10609072" y="0"/>
                    <a:pt x="10730992" y="120269"/>
                    <a:pt x="10730992" y="269240"/>
                  </a:cubicBezTo>
                  <a:lnTo>
                    <a:pt x="10705592" y="269240"/>
                  </a:lnTo>
                  <a:lnTo>
                    <a:pt x="10730992" y="269240"/>
                  </a:lnTo>
                  <a:lnTo>
                    <a:pt x="10730992" y="3271012"/>
                  </a:lnTo>
                  <a:lnTo>
                    <a:pt x="10705592" y="3271012"/>
                  </a:lnTo>
                  <a:lnTo>
                    <a:pt x="10730992" y="3271012"/>
                  </a:lnTo>
                  <a:cubicBezTo>
                    <a:pt x="10730992" y="3419983"/>
                    <a:pt x="10609199" y="3540252"/>
                    <a:pt x="10459339" y="3540252"/>
                  </a:cubicBezTo>
                  <a:lnTo>
                    <a:pt x="10459339" y="3514852"/>
                  </a:lnTo>
                  <a:lnTo>
                    <a:pt x="10459339"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339" y="3489452"/>
                  </a:lnTo>
                  <a:cubicBezTo>
                    <a:pt x="10581513" y="3489452"/>
                    <a:pt x="10680192" y="3391408"/>
                    <a:pt x="10680192" y="3271012"/>
                  </a:cubicBezTo>
                  <a:lnTo>
                    <a:pt x="10680192" y="269240"/>
                  </a:lnTo>
                  <a:cubicBezTo>
                    <a:pt x="10680192" y="148844"/>
                    <a:pt x="10581513" y="50800"/>
                    <a:pt x="10459339" y="50800"/>
                  </a:cubicBezTo>
                  <a:lnTo>
                    <a:pt x="271653" y="50800"/>
                  </a:lnTo>
                  <a:lnTo>
                    <a:pt x="271653" y="25400"/>
                  </a:lnTo>
                  <a:lnTo>
                    <a:pt x="271653" y="50800"/>
                  </a:lnTo>
                  <a:cubicBezTo>
                    <a:pt x="149479" y="50800"/>
                    <a:pt x="50800" y="148844"/>
                    <a:pt x="50800" y="269240"/>
                  </a:cubicBezTo>
                  <a:close/>
                </a:path>
              </a:pathLst>
            </a:custGeom>
            <a:solidFill>
              <a:srgbClr val="B8BFDF"/>
            </a:solidFill>
          </p:spPr>
        </p:sp>
      </p:grpSp>
      <p:grpSp>
        <p:nvGrpSpPr>
          <p:cNvPr name="Group 32" id="32"/>
          <p:cNvGrpSpPr/>
          <p:nvPr/>
        </p:nvGrpSpPr>
        <p:grpSpPr>
          <a:xfrm rot="0">
            <a:off x="9247584" y="6397971"/>
            <a:ext cx="152400" cy="2617146"/>
            <a:chOff x="0" y="0"/>
            <a:chExt cx="203200" cy="3489528"/>
          </a:xfrm>
        </p:grpSpPr>
        <p:sp>
          <p:nvSpPr>
            <p:cNvPr name="Freeform 33" id="33"/>
            <p:cNvSpPr/>
            <p:nvPr/>
          </p:nvSpPr>
          <p:spPr>
            <a:xfrm flipH="false" flipV="false" rot="0">
              <a:off x="0" y="0"/>
              <a:ext cx="203200" cy="3489579"/>
            </a:xfrm>
            <a:custGeom>
              <a:avLst/>
              <a:gdLst/>
              <a:ahLst/>
              <a:cxnLst/>
              <a:rect r="r" b="b" t="t" l="l"/>
              <a:pathLst>
                <a:path h="3489579" w="203200">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4967E9"/>
            </a:solidFill>
          </p:spPr>
        </p:sp>
      </p:grpSp>
      <p:sp>
        <p:nvSpPr>
          <p:cNvPr name="TextBox 34" id="34"/>
          <p:cNvSpPr txBox="true"/>
          <p:nvPr/>
        </p:nvSpPr>
        <p:spPr>
          <a:xfrm rot="0">
            <a:off x="9721606" y="6710067"/>
            <a:ext cx="4284612"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Offline Capability Needed</a:t>
            </a:r>
          </a:p>
        </p:txBody>
      </p:sp>
      <p:sp>
        <p:nvSpPr>
          <p:cNvPr name="TextBox 35" id="35"/>
          <p:cNvSpPr txBox="true"/>
          <p:nvPr/>
        </p:nvSpPr>
        <p:spPr>
          <a:xfrm rot="0">
            <a:off x="9721606" y="7227837"/>
            <a:ext cx="7252545" cy="1012031"/>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Many students lack reliable internet access, requiring solutions that work offline while maintaining security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37317" y="707974"/>
            <a:ext cx="6695923" cy="865432"/>
          </a:xfrm>
          <a:prstGeom prst="rect">
            <a:avLst/>
          </a:prstGeom>
        </p:spPr>
        <p:txBody>
          <a:bodyPr anchor="t" rtlCol="false" tIns="0" lIns="0" bIns="0" rIns="0">
            <a:spAutoFit/>
          </a:bodyPr>
          <a:lstStyle/>
          <a:p>
            <a:pPr algn="l">
              <a:lnSpc>
                <a:spcPts val="6562"/>
              </a:lnSpc>
            </a:pPr>
            <a:r>
              <a:rPr lang="en-US" sz="5250">
                <a:solidFill>
                  <a:srgbClr val="1B1B27"/>
                </a:solidFill>
                <a:latin typeface="Corben"/>
                <a:ea typeface="Corben"/>
                <a:cs typeface="Corben"/>
                <a:sym typeface="Corben"/>
              </a:rPr>
              <a:t>Literature Survey</a:t>
            </a:r>
          </a:p>
        </p:txBody>
      </p:sp>
      <p:sp>
        <p:nvSpPr>
          <p:cNvPr name="TextBox 7" id="7"/>
          <p:cNvSpPr txBox="true"/>
          <p:nvPr/>
        </p:nvSpPr>
        <p:spPr>
          <a:xfrm rot="0">
            <a:off x="937317" y="3669954"/>
            <a:ext cx="10439991" cy="919163"/>
          </a:xfrm>
          <a:prstGeom prst="rect">
            <a:avLst/>
          </a:prstGeom>
        </p:spPr>
        <p:txBody>
          <a:bodyPr anchor="t" rtlCol="false" tIns="0" lIns="0" bIns="0" rIns="0">
            <a:spAutoFit/>
          </a:bodyPr>
          <a:lstStyle/>
          <a:p>
            <a:pPr algn="l">
              <a:lnSpc>
                <a:spcPts val="3249"/>
              </a:lnSpc>
            </a:pPr>
            <a:r>
              <a:rPr lang="en-US" sz="2062">
                <a:solidFill>
                  <a:srgbClr val="404155"/>
                </a:solidFill>
                <a:latin typeface="Arimo"/>
                <a:ea typeface="Arimo"/>
                <a:cs typeface="Arimo"/>
                <a:sym typeface="Arimo"/>
              </a:rPr>
              <a:t>Our research examined existing proctoring systems, AI-based monitoring tools, and cheating detection techniques to identify critical gaps in current approaches.</a:t>
            </a:r>
          </a:p>
        </p:txBody>
      </p:sp>
      <p:sp>
        <p:nvSpPr>
          <p:cNvPr name="TextBox 8" id="8"/>
          <p:cNvSpPr txBox="true"/>
          <p:nvPr/>
        </p:nvSpPr>
        <p:spPr>
          <a:xfrm rot="0">
            <a:off x="937317" y="4832594"/>
            <a:ext cx="3347885" cy="428034"/>
          </a:xfrm>
          <a:prstGeom prst="rect">
            <a:avLst/>
          </a:prstGeom>
        </p:spPr>
        <p:txBody>
          <a:bodyPr anchor="t" rtlCol="false" tIns="0" lIns="0" bIns="0" rIns="0">
            <a:spAutoFit/>
          </a:bodyPr>
          <a:lstStyle/>
          <a:p>
            <a:pPr algn="l">
              <a:lnSpc>
                <a:spcPts val="3249"/>
              </a:lnSpc>
            </a:pPr>
            <a:r>
              <a:rPr lang="en-US" sz="2625">
                <a:solidFill>
                  <a:srgbClr val="1B1B27"/>
                </a:solidFill>
                <a:latin typeface="Corben"/>
                <a:ea typeface="Corben"/>
                <a:cs typeface="Corben"/>
                <a:sym typeface="Corben"/>
              </a:rPr>
              <a:t>Key Findings</a:t>
            </a:r>
          </a:p>
        </p:txBody>
      </p:sp>
      <p:sp>
        <p:nvSpPr>
          <p:cNvPr name="TextBox 9" id="9"/>
          <p:cNvSpPr txBox="true"/>
          <p:nvPr/>
        </p:nvSpPr>
        <p:spPr>
          <a:xfrm rot="0">
            <a:off x="937317" y="5427907"/>
            <a:ext cx="10439991" cy="2523534"/>
          </a:xfrm>
          <a:prstGeom prst="rect">
            <a:avLst/>
          </a:prstGeom>
        </p:spPr>
        <p:txBody>
          <a:bodyPr anchor="t" rtlCol="false" tIns="0" lIns="0" bIns="0" rIns="0">
            <a:spAutoFit/>
          </a:bodyPr>
          <a:lstStyle/>
          <a:p>
            <a:pPr algn="l" marL="311051" indent="-155525" lvl="1">
              <a:lnSpc>
                <a:spcPts val="3249"/>
              </a:lnSpc>
              <a:buFont typeface="Arial"/>
              <a:buChar char="•"/>
            </a:pPr>
            <a:r>
              <a:rPr lang="en-US" sz="2062">
                <a:solidFill>
                  <a:srgbClr val="404155"/>
                </a:solidFill>
                <a:latin typeface="Arimo"/>
                <a:ea typeface="Arimo"/>
                <a:cs typeface="Arimo"/>
                <a:sym typeface="Arimo"/>
              </a:rPr>
              <a:t>Cloud-based vs. device-based proctoring trade-offs</a:t>
            </a:r>
          </a:p>
          <a:p>
            <a:pPr algn="l" marL="311051" indent="-155525" lvl="1">
              <a:lnSpc>
                <a:spcPts val="3249"/>
              </a:lnSpc>
              <a:buFont typeface="Arial"/>
              <a:buChar char="•"/>
            </a:pPr>
            <a:r>
              <a:rPr lang="en-US" sz="2062">
                <a:solidFill>
                  <a:srgbClr val="404155"/>
                </a:solidFill>
                <a:latin typeface="Arimo"/>
                <a:ea typeface="Arimo"/>
                <a:cs typeface="Arimo"/>
                <a:sym typeface="Arimo"/>
              </a:rPr>
              <a:t>ML models for face recognition and activity detection</a:t>
            </a:r>
          </a:p>
          <a:p>
            <a:pPr algn="l" marL="311051" indent="-155525" lvl="1">
              <a:lnSpc>
                <a:spcPts val="3249"/>
              </a:lnSpc>
              <a:buFont typeface="Arial"/>
              <a:buChar char="•"/>
            </a:pPr>
            <a:r>
              <a:rPr lang="en-US" sz="2062">
                <a:solidFill>
                  <a:srgbClr val="404155"/>
                </a:solidFill>
                <a:latin typeface="Arimo"/>
                <a:ea typeface="Arimo"/>
                <a:cs typeface="Arimo"/>
                <a:sym typeface="Arimo"/>
              </a:rPr>
              <a:t>Privacy-integrity balance challenges</a:t>
            </a:r>
          </a:p>
          <a:p>
            <a:pPr algn="l" marL="311051" indent="-155525" lvl="1">
              <a:lnSpc>
                <a:spcPts val="3249"/>
              </a:lnSpc>
              <a:buFont typeface="Arial"/>
              <a:buChar char="•"/>
            </a:pPr>
            <a:r>
              <a:rPr lang="en-US" sz="2062">
                <a:solidFill>
                  <a:srgbClr val="404155"/>
                </a:solidFill>
                <a:latin typeface="Arimo"/>
                <a:ea typeface="Arimo"/>
                <a:cs typeface="Arimo"/>
                <a:sym typeface="Arimo"/>
              </a:rPr>
              <a:t>Scalability issues in large-scale exams</a:t>
            </a:r>
          </a:p>
          <a:p>
            <a:pPr algn="l" marL="311051" indent="-155525" lvl="1">
              <a:lnSpc>
                <a:spcPts val="3249"/>
              </a:lnSpc>
              <a:buFont typeface="Arial"/>
              <a:buChar char="•"/>
            </a:pPr>
            <a:r>
              <a:rPr lang="en-US" sz="2062">
                <a:solidFill>
                  <a:srgbClr val="404155"/>
                </a:solidFill>
                <a:latin typeface="Arimo"/>
                <a:ea typeface="Arimo"/>
                <a:cs typeface="Arimo"/>
                <a:sym typeface="Arimo"/>
              </a:rPr>
              <a:t>Mobile-first solution opportunities</a:t>
            </a:r>
          </a:p>
        </p:txBody>
      </p:sp>
      <p:grpSp>
        <p:nvGrpSpPr>
          <p:cNvPr name="Group 10" id="10"/>
          <p:cNvGrpSpPr/>
          <p:nvPr/>
        </p:nvGrpSpPr>
        <p:grpSpPr>
          <a:xfrm rot="0">
            <a:off x="12040191" y="2237480"/>
            <a:ext cx="5319865" cy="7093153"/>
            <a:chOff x="0" y="0"/>
            <a:chExt cx="7093153" cy="9457538"/>
          </a:xfrm>
        </p:grpSpPr>
        <p:sp>
          <p:nvSpPr>
            <p:cNvPr name="Freeform 11" id="11" descr="preencoded.png"/>
            <p:cNvSpPr/>
            <p:nvPr/>
          </p:nvSpPr>
          <p:spPr>
            <a:xfrm flipH="false" flipV="false" rot="0">
              <a:off x="0" y="0"/>
              <a:ext cx="7093204" cy="9457563"/>
            </a:xfrm>
            <a:custGeom>
              <a:avLst/>
              <a:gdLst/>
              <a:ahLst/>
              <a:cxnLst/>
              <a:rect r="r" b="b" t="t" l="l"/>
              <a:pathLst>
                <a:path h="9457563" w="7093204">
                  <a:moveTo>
                    <a:pt x="0" y="0"/>
                  </a:moveTo>
                  <a:lnTo>
                    <a:pt x="7093204" y="0"/>
                  </a:lnTo>
                  <a:lnTo>
                    <a:pt x="7093204" y="9457563"/>
                  </a:lnTo>
                  <a:lnTo>
                    <a:pt x="0" y="9457563"/>
                  </a:lnTo>
                  <a:lnTo>
                    <a:pt x="0" y="0"/>
                  </a:lnTo>
                  <a:close/>
                </a:path>
              </a:pathLst>
            </a:custGeom>
            <a:blipFill>
              <a:blip r:embed="rId3"/>
              <a:stretch>
                <a:fillRect l="-22" t="0" r="-21"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905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1291085"/>
            <a:ext cx="7088238" cy="914552"/>
          </a:xfrm>
          <a:prstGeom prst="rect">
            <a:avLst/>
          </a:prstGeom>
        </p:spPr>
        <p:txBody>
          <a:bodyPr anchor="t" rtlCol="false" tIns="0" lIns="0" bIns="0" rIns="0">
            <a:spAutoFit/>
          </a:bodyPr>
          <a:lstStyle/>
          <a:p>
            <a:pPr algn="l">
              <a:lnSpc>
                <a:spcPts val="6937"/>
              </a:lnSpc>
            </a:pPr>
            <a:r>
              <a:rPr lang="en-US" sz="5562">
                <a:solidFill>
                  <a:srgbClr val="1B1B27"/>
                </a:solidFill>
                <a:latin typeface="Corben"/>
                <a:ea typeface="Corben"/>
                <a:cs typeface="Corben"/>
                <a:sym typeface="Corben"/>
              </a:rPr>
              <a:t>Proposed System</a:t>
            </a:r>
          </a:p>
        </p:txBody>
      </p:sp>
      <p:sp>
        <p:nvSpPr>
          <p:cNvPr name="TextBox 7" id="7"/>
          <p:cNvSpPr txBox="true"/>
          <p:nvPr/>
        </p:nvSpPr>
        <p:spPr>
          <a:xfrm rot="0">
            <a:off x="992238" y="2667895"/>
            <a:ext cx="16303523" cy="558403"/>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An Android-based secure exam platform that combines real-time monitoring with privacy-focused design.</a:t>
            </a:r>
          </a:p>
        </p:txBody>
      </p:sp>
      <p:sp>
        <p:nvSpPr>
          <p:cNvPr name="Freeform 8" id="8" descr="preencoded.png"/>
          <p:cNvSpPr/>
          <p:nvPr/>
        </p:nvSpPr>
        <p:spPr>
          <a:xfrm flipH="false" flipV="false" rot="0">
            <a:off x="992238" y="3545234"/>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3">
              <a:extLst>
                <a:ext uri="{96DAC541-7B7A-43D3-8B79-37D633B846F1}">
                  <asvg:svgBlip xmlns:asvg="http://schemas.microsoft.com/office/drawing/2016/SVG/main" r:embed="rId4"/>
                </a:ext>
              </a:extLst>
            </a:blip>
            <a:stretch>
              <a:fillRect l="0" t="-32000" r="0" b="-32000"/>
            </a:stretch>
          </a:blipFill>
        </p:spPr>
      </p:sp>
      <p:sp>
        <p:nvSpPr>
          <p:cNvPr name="TextBox 9" id="9"/>
          <p:cNvSpPr txBox="true"/>
          <p:nvPr/>
        </p:nvSpPr>
        <p:spPr>
          <a:xfrm rot="0">
            <a:off x="2055314" y="3535709"/>
            <a:ext cx="3544043"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Android Platform</a:t>
            </a:r>
          </a:p>
        </p:txBody>
      </p:sp>
      <p:sp>
        <p:nvSpPr>
          <p:cNvPr name="TextBox 10" id="10"/>
          <p:cNvSpPr txBox="true"/>
          <p:nvPr/>
        </p:nvSpPr>
        <p:spPr>
          <a:xfrm rot="0">
            <a:off x="2055314" y="4053478"/>
            <a:ext cx="4135193" cy="1919287"/>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Mobile-first deployment ensures accessibility and scalability across diverse student populations</a:t>
            </a:r>
          </a:p>
        </p:txBody>
      </p:sp>
      <p:sp>
        <p:nvSpPr>
          <p:cNvPr name="Freeform 11" id="11" descr="preencoded.png"/>
          <p:cNvSpPr/>
          <p:nvPr/>
        </p:nvSpPr>
        <p:spPr>
          <a:xfrm flipH="false" flipV="false" rot="0">
            <a:off x="6544866" y="3545234"/>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5">
              <a:extLst>
                <a:ext uri="{96DAC541-7B7A-43D3-8B79-37D633B846F1}">
                  <asvg:svgBlip xmlns:asvg="http://schemas.microsoft.com/office/drawing/2016/SVG/main" r:embed="rId6"/>
                </a:ext>
              </a:extLst>
            </a:blip>
            <a:stretch>
              <a:fillRect l="-11333" t="0" r="-11333" b="0"/>
            </a:stretch>
          </a:blipFill>
        </p:spPr>
      </p:sp>
      <p:sp>
        <p:nvSpPr>
          <p:cNvPr name="TextBox 12" id="12"/>
          <p:cNvSpPr txBox="true"/>
          <p:nvPr/>
        </p:nvSpPr>
        <p:spPr>
          <a:xfrm rot="0">
            <a:off x="7607941" y="3535709"/>
            <a:ext cx="3685584"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Real-Time Monitoring</a:t>
            </a:r>
          </a:p>
        </p:txBody>
      </p:sp>
      <p:sp>
        <p:nvSpPr>
          <p:cNvPr name="TextBox 13" id="13"/>
          <p:cNvSpPr txBox="true"/>
          <p:nvPr/>
        </p:nvSpPr>
        <p:spPr>
          <a:xfrm rot="0">
            <a:off x="7607941" y="4053478"/>
            <a:ext cx="4135193" cy="1919287"/>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Continuous camera and activity tracking with AI-driven face recognition and behavior analysis</a:t>
            </a:r>
          </a:p>
        </p:txBody>
      </p:sp>
      <p:sp>
        <p:nvSpPr>
          <p:cNvPr name="Freeform 14" id="14" descr="preencoded.png"/>
          <p:cNvSpPr/>
          <p:nvPr/>
        </p:nvSpPr>
        <p:spPr>
          <a:xfrm flipH="false" flipV="false" rot="0">
            <a:off x="12097493" y="3545234"/>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7">
              <a:extLst>
                <a:ext uri="{96DAC541-7B7A-43D3-8B79-37D633B846F1}">
                  <asvg:svgBlip xmlns:asvg="http://schemas.microsoft.com/office/drawing/2016/SVG/main" r:embed="rId8"/>
                </a:ext>
              </a:extLst>
            </a:blip>
            <a:stretch>
              <a:fillRect l="0" t="-6666" r="0" b="-6667"/>
            </a:stretch>
          </a:blipFill>
        </p:spPr>
      </p:sp>
      <p:sp>
        <p:nvSpPr>
          <p:cNvPr name="TextBox 15" id="15"/>
          <p:cNvSpPr txBox="true"/>
          <p:nvPr/>
        </p:nvSpPr>
        <p:spPr>
          <a:xfrm rot="0">
            <a:off x="13160578" y="3535709"/>
            <a:ext cx="3544043"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App Lockdown</a:t>
            </a:r>
          </a:p>
        </p:txBody>
      </p:sp>
      <p:sp>
        <p:nvSpPr>
          <p:cNvPr name="TextBox 16" id="16"/>
          <p:cNvSpPr txBox="true"/>
          <p:nvPr/>
        </p:nvSpPr>
        <p:spPr>
          <a:xfrm rot="0">
            <a:off x="13160578" y="4053478"/>
            <a:ext cx="4135193" cy="1465659"/>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Prevents background processes and app switching during exam sessions</a:t>
            </a:r>
          </a:p>
        </p:txBody>
      </p:sp>
      <p:sp>
        <p:nvSpPr>
          <p:cNvPr name="Freeform 17" id="17" descr="preencoded.png"/>
          <p:cNvSpPr/>
          <p:nvPr/>
        </p:nvSpPr>
        <p:spPr>
          <a:xfrm flipH="false" flipV="false" rot="0">
            <a:off x="992238" y="6539808"/>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9">
              <a:extLst>
                <a:ext uri="{96DAC541-7B7A-43D3-8B79-37D633B846F1}">
                  <asvg:svgBlip xmlns:asvg="http://schemas.microsoft.com/office/drawing/2016/SVG/main" r:embed="rId10"/>
                </a:ext>
              </a:extLst>
            </a:blip>
            <a:stretch>
              <a:fillRect l="-7332" t="0" r="-7334" b="0"/>
            </a:stretch>
          </a:blipFill>
        </p:spPr>
      </p:sp>
      <p:sp>
        <p:nvSpPr>
          <p:cNvPr name="TextBox 18" id="18"/>
          <p:cNvSpPr txBox="true"/>
          <p:nvPr/>
        </p:nvSpPr>
        <p:spPr>
          <a:xfrm rot="0">
            <a:off x="2055314" y="6530283"/>
            <a:ext cx="3544043"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Host Control</a:t>
            </a:r>
          </a:p>
        </p:txBody>
      </p:sp>
      <p:sp>
        <p:nvSpPr>
          <p:cNvPr name="TextBox 19" id="19"/>
          <p:cNvSpPr txBox="true"/>
          <p:nvPr/>
        </p:nvSpPr>
        <p:spPr>
          <a:xfrm rot="0">
            <a:off x="2055314" y="7048052"/>
            <a:ext cx="4135193" cy="1919287"/>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Examiners maintain live oversight and session management throughout testing</a:t>
            </a:r>
          </a:p>
        </p:txBody>
      </p:sp>
      <p:sp>
        <p:nvSpPr>
          <p:cNvPr name="Freeform 20" id="20" descr="preencoded.png"/>
          <p:cNvSpPr/>
          <p:nvPr/>
        </p:nvSpPr>
        <p:spPr>
          <a:xfrm flipH="false" flipV="false" rot="0">
            <a:off x="6544866" y="6539808"/>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11">
              <a:extLst>
                <a:ext uri="{96DAC541-7B7A-43D3-8B79-37D633B846F1}">
                  <asvg:svgBlip xmlns:asvg="http://schemas.microsoft.com/office/drawing/2016/SVG/main" r:embed="rId12"/>
                </a:ext>
              </a:extLst>
            </a:blip>
            <a:stretch>
              <a:fillRect l="0" t="-10667" r="0" b="-10667"/>
            </a:stretch>
          </a:blipFill>
        </p:spPr>
      </p:sp>
      <p:sp>
        <p:nvSpPr>
          <p:cNvPr name="TextBox 21" id="21"/>
          <p:cNvSpPr txBox="true"/>
          <p:nvPr/>
        </p:nvSpPr>
        <p:spPr>
          <a:xfrm rot="0">
            <a:off x="7607941" y="6530283"/>
            <a:ext cx="3544043"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Privacy Focused</a:t>
            </a:r>
          </a:p>
        </p:txBody>
      </p:sp>
      <p:sp>
        <p:nvSpPr>
          <p:cNvPr name="TextBox 22" id="22"/>
          <p:cNvSpPr txBox="true"/>
          <p:nvPr/>
        </p:nvSpPr>
        <p:spPr>
          <a:xfrm rot="0">
            <a:off x="7607941" y="7048052"/>
            <a:ext cx="4135193" cy="1465659"/>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Minimal data collection with device-based processing prioritizing student privacy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886416" y="703212"/>
            <a:ext cx="6332039" cy="810520"/>
          </a:xfrm>
          <a:prstGeom prst="rect">
            <a:avLst/>
          </a:prstGeom>
        </p:spPr>
        <p:txBody>
          <a:bodyPr anchor="t" rtlCol="false" tIns="0" lIns="0" bIns="0" rIns="0">
            <a:spAutoFit/>
          </a:bodyPr>
          <a:lstStyle/>
          <a:p>
            <a:pPr algn="l">
              <a:lnSpc>
                <a:spcPts val="6187"/>
              </a:lnSpc>
            </a:pPr>
            <a:r>
              <a:rPr lang="en-US" sz="4937">
                <a:solidFill>
                  <a:srgbClr val="1B1B27"/>
                </a:solidFill>
                <a:latin typeface="Corben"/>
                <a:ea typeface="Corben"/>
                <a:cs typeface="Corben"/>
                <a:sym typeface="Corben"/>
              </a:rPr>
              <a:t>System Architecture</a:t>
            </a:r>
          </a:p>
        </p:txBody>
      </p:sp>
      <p:grpSp>
        <p:nvGrpSpPr>
          <p:cNvPr name="Group 7" id="7"/>
          <p:cNvGrpSpPr/>
          <p:nvPr/>
        </p:nvGrpSpPr>
        <p:grpSpPr>
          <a:xfrm rot="0">
            <a:off x="886416" y="1966170"/>
            <a:ext cx="1266377" cy="1519685"/>
            <a:chOff x="0" y="0"/>
            <a:chExt cx="1688503" cy="2026247"/>
          </a:xfrm>
        </p:grpSpPr>
        <p:sp>
          <p:nvSpPr>
            <p:cNvPr name="Freeform 8" id="8" descr="preencoded.png"/>
            <p:cNvSpPr/>
            <p:nvPr/>
          </p:nvSpPr>
          <p:spPr>
            <a:xfrm flipH="false" flipV="false" rot="0">
              <a:off x="0" y="0"/>
              <a:ext cx="1688465" cy="2026285"/>
            </a:xfrm>
            <a:custGeom>
              <a:avLst/>
              <a:gdLst/>
              <a:ahLst/>
              <a:cxnLst/>
              <a:rect r="r" b="b" t="t" l="l"/>
              <a:pathLst>
                <a:path h="2026285" w="1688465">
                  <a:moveTo>
                    <a:pt x="0" y="0"/>
                  </a:moveTo>
                  <a:lnTo>
                    <a:pt x="1688465" y="0"/>
                  </a:lnTo>
                  <a:lnTo>
                    <a:pt x="1688465" y="2026285"/>
                  </a:lnTo>
                  <a:lnTo>
                    <a:pt x="0" y="2026285"/>
                  </a:lnTo>
                  <a:lnTo>
                    <a:pt x="0" y="0"/>
                  </a:lnTo>
                  <a:close/>
                </a:path>
              </a:pathLst>
            </a:custGeom>
            <a:blipFill>
              <a:blip r:embed="rId3"/>
              <a:stretch>
                <a:fillRect l="0" t="-124" r="-2" b="-122"/>
              </a:stretch>
            </a:blipFill>
          </p:spPr>
        </p:sp>
      </p:grpSp>
      <p:sp>
        <p:nvSpPr>
          <p:cNvPr name="TextBox 9" id="9"/>
          <p:cNvSpPr txBox="true"/>
          <p:nvPr/>
        </p:nvSpPr>
        <p:spPr>
          <a:xfrm rot="0">
            <a:off x="2379021" y="2209800"/>
            <a:ext cx="3166024" cy="405108"/>
          </a:xfrm>
          <a:prstGeom prst="rect">
            <a:avLst/>
          </a:prstGeom>
        </p:spPr>
        <p:txBody>
          <a:bodyPr anchor="t" rtlCol="false" tIns="0" lIns="0" bIns="0" rIns="0">
            <a:spAutoFit/>
          </a:bodyPr>
          <a:lstStyle/>
          <a:p>
            <a:pPr algn="l">
              <a:lnSpc>
                <a:spcPts val="3062"/>
              </a:lnSpc>
            </a:pPr>
            <a:r>
              <a:rPr lang="en-US" sz="2437">
                <a:solidFill>
                  <a:srgbClr val="404155"/>
                </a:solidFill>
                <a:latin typeface="Corben"/>
                <a:ea typeface="Corben"/>
                <a:cs typeface="Corben"/>
                <a:sym typeface="Corben"/>
              </a:rPr>
              <a:t>Student Application</a:t>
            </a:r>
          </a:p>
        </p:txBody>
      </p:sp>
      <p:sp>
        <p:nvSpPr>
          <p:cNvPr name="TextBox 10" id="10"/>
          <p:cNvSpPr txBox="true"/>
          <p:nvPr/>
        </p:nvSpPr>
        <p:spPr>
          <a:xfrm rot="0">
            <a:off x="2379021" y="2664914"/>
            <a:ext cx="15022563" cy="469259"/>
          </a:xfrm>
          <a:prstGeom prst="rect">
            <a:avLst/>
          </a:prstGeom>
        </p:spPr>
        <p:txBody>
          <a:bodyPr anchor="t" rtlCol="false" tIns="0" lIns="0" bIns="0" rIns="0">
            <a:spAutoFit/>
          </a:bodyPr>
          <a:lstStyle/>
          <a:p>
            <a:pPr algn="l">
              <a:lnSpc>
                <a:spcPts val="3000"/>
              </a:lnSpc>
            </a:pPr>
            <a:r>
              <a:rPr lang="en-US" sz="1937">
                <a:solidFill>
                  <a:srgbClr val="404155"/>
                </a:solidFill>
                <a:latin typeface="Arimo"/>
                <a:ea typeface="Arimo"/>
                <a:cs typeface="Arimo"/>
                <a:sym typeface="Arimo"/>
              </a:rPr>
              <a:t>Secure exam interface with camera and activity monitoring</a:t>
            </a:r>
          </a:p>
        </p:txBody>
      </p:sp>
      <p:grpSp>
        <p:nvGrpSpPr>
          <p:cNvPr name="Group 11" id="11"/>
          <p:cNvGrpSpPr/>
          <p:nvPr/>
        </p:nvGrpSpPr>
        <p:grpSpPr>
          <a:xfrm rot="0">
            <a:off x="886416" y="3485855"/>
            <a:ext cx="1266377" cy="1519685"/>
            <a:chOff x="0" y="0"/>
            <a:chExt cx="1688503" cy="2026247"/>
          </a:xfrm>
        </p:grpSpPr>
        <p:sp>
          <p:nvSpPr>
            <p:cNvPr name="Freeform 12" id="12" descr="preencoded.png"/>
            <p:cNvSpPr/>
            <p:nvPr/>
          </p:nvSpPr>
          <p:spPr>
            <a:xfrm flipH="false" flipV="false" rot="0">
              <a:off x="0" y="0"/>
              <a:ext cx="1688465" cy="2026285"/>
            </a:xfrm>
            <a:custGeom>
              <a:avLst/>
              <a:gdLst/>
              <a:ahLst/>
              <a:cxnLst/>
              <a:rect r="r" b="b" t="t" l="l"/>
              <a:pathLst>
                <a:path h="2026285" w="1688465">
                  <a:moveTo>
                    <a:pt x="0" y="0"/>
                  </a:moveTo>
                  <a:lnTo>
                    <a:pt x="1688465" y="0"/>
                  </a:lnTo>
                  <a:lnTo>
                    <a:pt x="1688465" y="2026285"/>
                  </a:lnTo>
                  <a:lnTo>
                    <a:pt x="0" y="2026285"/>
                  </a:lnTo>
                  <a:lnTo>
                    <a:pt x="0" y="0"/>
                  </a:lnTo>
                  <a:close/>
                </a:path>
              </a:pathLst>
            </a:custGeom>
            <a:blipFill>
              <a:blip r:embed="rId4"/>
              <a:stretch>
                <a:fillRect l="0" t="-124" r="-2" b="-122"/>
              </a:stretch>
            </a:blipFill>
          </p:spPr>
        </p:sp>
      </p:grpSp>
      <p:sp>
        <p:nvSpPr>
          <p:cNvPr name="TextBox 13" id="13"/>
          <p:cNvSpPr txBox="true"/>
          <p:nvPr/>
        </p:nvSpPr>
        <p:spPr>
          <a:xfrm rot="0">
            <a:off x="2379021" y="3729485"/>
            <a:ext cx="3166024" cy="405108"/>
          </a:xfrm>
          <a:prstGeom prst="rect">
            <a:avLst/>
          </a:prstGeom>
        </p:spPr>
        <p:txBody>
          <a:bodyPr anchor="t" rtlCol="false" tIns="0" lIns="0" bIns="0" rIns="0">
            <a:spAutoFit/>
          </a:bodyPr>
          <a:lstStyle/>
          <a:p>
            <a:pPr algn="l">
              <a:lnSpc>
                <a:spcPts val="3062"/>
              </a:lnSpc>
            </a:pPr>
            <a:r>
              <a:rPr lang="en-US" sz="2437">
                <a:solidFill>
                  <a:srgbClr val="404155"/>
                </a:solidFill>
                <a:latin typeface="Corben"/>
                <a:ea typeface="Corben"/>
                <a:cs typeface="Corben"/>
                <a:sym typeface="Corben"/>
              </a:rPr>
              <a:t>Monitoring Module</a:t>
            </a:r>
          </a:p>
        </p:txBody>
      </p:sp>
      <p:sp>
        <p:nvSpPr>
          <p:cNvPr name="TextBox 14" id="14"/>
          <p:cNvSpPr txBox="true"/>
          <p:nvPr/>
        </p:nvSpPr>
        <p:spPr>
          <a:xfrm rot="0">
            <a:off x="2379021" y="4184599"/>
            <a:ext cx="15022563" cy="469259"/>
          </a:xfrm>
          <a:prstGeom prst="rect">
            <a:avLst/>
          </a:prstGeom>
        </p:spPr>
        <p:txBody>
          <a:bodyPr anchor="t" rtlCol="false" tIns="0" lIns="0" bIns="0" rIns="0">
            <a:spAutoFit/>
          </a:bodyPr>
          <a:lstStyle/>
          <a:p>
            <a:pPr algn="l">
              <a:lnSpc>
                <a:spcPts val="3000"/>
              </a:lnSpc>
            </a:pPr>
            <a:r>
              <a:rPr lang="en-US" sz="1937">
                <a:solidFill>
                  <a:srgbClr val="404155"/>
                </a:solidFill>
                <a:latin typeface="Arimo"/>
                <a:ea typeface="Arimo"/>
                <a:cs typeface="Arimo"/>
                <a:sym typeface="Arimo"/>
              </a:rPr>
              <a:t>AI-driven face and activity detection</a:t>
            </a:r>
          </a:p>
        </p:txBody>
      </p:sp>
      <p:grpSp>
        <p:nvGrpSpPr>
          <p:cNvPr name="Group 15" id="15"/>
          <p:cNvGrpSpPr/>
          <p:nvPr/>
        </p:nvGrpSpPr>
        <p:grpSpPr>
          <a:xfrm rot="0">
            <a:off x="886416" y="5005540"/>
            <a:ext cx="1266377" cy="1519685"/>
            <a:chOff x="0" y="0"/>
            <a:chExt cx="1688503" cy="2026247"/>
          </a:xfrm>
        </p:grpSpPr>
        <p:sp>
          <p:nvSpPr>
            <p:cNvPr name="Freeform 16" id="16" descr="preencoded.png"/>
            <p:cNvSpPr/>
            <p:nvPr/>
          </p:nvSpPr>
          <p:spPr>
            <a:xfrm flipH="false" flipV="false" rot="0">
              <a:off x="0" y="0"/>
              <a:ext cx="1688465" cy="2026285"/>
            </a:xfrm>
            <a:custGeom>
              <a:avLst/>
              <a:gdLst/>
              <a:ahLst/>
              <a:cxnLst/>
              <a:rect r="r" b="b" t="t" l="l"/>
              <a:pathLst>
                <a:path h="2026285" w="1688465">
                  <a:moveTo>
                    <a:pt x="0" y="0"/>
                  </a:moveTo>
                  <a:lnTo>
                    <a:pt x="1688465" y="0"/>
                  </a:lnTo>
                  <a:lnTo>
                    <a:pt x="1688465" y="2026285"/>
                  </a:lnTo>
                  <a:lnTo>
                    <a:pt x="0" y="2026285"/>
                  </a:lnTo>
                  <a:lnTo>
                    <a:pt x="0" y="0"/>
                  </a:lnTo>
                  <a:close/>
                </a:path>
              </a:pathLst>
            </a:custGeom>
            <a:blipFill>
              <a:blip r:embed="rId5"/>
              <a:stretch>
                <a:fillRect l="0" t="-124" r="-2" b="-122"/>
              </a:stretch>
            </a:blipFill>
          </p:spPr>
        </p:sp>
      </p:grpSp>
      <p:sp>
        <p:nvSpPr>
          <p:cNvPr name="TextBox 17" id="17"/>
          <p:cNvSpPr txBox="true"/>
          <p:nvPr/>
        </p:nvSpPr>
        <p:spPr>
          <a:xfrm rot="0">
            <a:off x="2379021" y="5249170"/>
            <a:ext cx="3508772" cy="405108"/>
          </a:xfrm>
          <a:prstGeom prst="rect">
            <a:avLst/>
          </a:prstGeom>
        </p:spPr>
        <p:txBody>
          <a:bodyPr anchor="t" rtlCol="false" tIns="0" lIns="0" bIns="0" rIns="0">
            <a:spAutoFit/>
          </a:bodyPr>
          <a:lstStyle/>
          <a:p>
            <a:pPr algn="l">
              <a:lnSpc>
                <a:spcPts val="3062"/>
              </a:lnSpc>
            </a:pPr>
            <a:r>
              <a:rPr lang="en-US" sz="2437">
                <a:solidFill>
                  <a:srgbClr val="404155"/>
                </a:solidFill>
                <a:latin typeface="Corben"/>
                <a:ea typeface="Corben"/>
                <a:cs typeface="Corben"/>
                <a:sym typeface="Corben"/>
              </a:rPr>
              <a:t>Socket Communication</a:t>
            </a:r>
          </a:p>
        </p:txBody>
      </p:sp>
      <p:sp>
        <p:nvSpPr>
          <p:cNvPr name="TextBox 18" id="18"/>
          <p:cNvSpPr txBox="true"/>
          <p:nvPr/>
        </p:nvSpPr>
        <p:spPr>
          <a:xfrm rot="0">
            <a:off x="2379021" y="5704284"/>
            <a:ext cx="15022563" cy="469259"/>
          </a:xfrm>
          <a:prstGeom prst="rect">
            <a:avLst/>
          </a:prstGeom>
        </p:spPr>
        <p:txBody>
          <a:bodyPr anchor="t" rtlCol="false" tIns="0" lIns="0" bIns="0" rIns="0">
            <a:spAutoFit/>
          </a:bodyPr>
          <a:lstStyle/>
          <a:p>
            <a:pPr algn="l">
              <a:lnSpc>
                <a:spcPts val="3000"/>
              </a:lnSpc>
            </a:pPr>
            <a:r>
              <a:rPr lang="en-US" sz="1937">
                <a:solidFill>
                  <a:srgbClr val="404155"/>
                </a:solidFill>
                <a:latin typeface="Arimo"/>
                <a:ea typeface="Arimo"/>
                <a:cs typeface="Arimo"/>
                <a:sym typeface="Arimo"/>
              </a:rPr>
              <a:t>Real-time, secure data transfer</a:t>
            </a:r>
          </a:p>
        </p:txBody>
      </p:sp>
      <p:grpSp>
        <p:nvGrpSpPr>
          <p:cNvPr name="Group 19" id="19"/>
          <p:cNvGrpSpPr/>
          <p:nvPr/>
        </p:nvGrpSpPr>
        <p:grpSpPr>
          <a:xfrm rot="0">
            <a:off x="886416" y="6525216"/>
            <a:ext cx="1266377" cy="1519685"/>
            <a:chOff x="0" y="0"/>
            <a:chExt cx="1688503" cy="2026247"/>
          </a:xfrm>
        </p:grpSpPr>
        <p:sp>
          <p:nvSpPr>
            <p:cNvPr name="Freeform 20" id="20" descr="preencoded.png"/>
            <p:cNvSpPr/>
            <p:nvPr/>
          </p:nvSpPr>
          <p:spPr>
            <a:xfrm flipH="false" flipV="false" rot="0">
              <a:off x="0" y="0"/>
              <a:ext cx="1688465" cy="2026285"/>
            </a:xfrm>
            <a:custGeom>
              <a:avLst/>
              <a:gdLst/>
              <a:ahLst/>
              <a:cxnLst/>
              <a:rect r="r" b="b" t="t" l="l"/>
              <a:pathLst>
                <a:path h="2026285" w="1688465">
                  <a:moveTo>
                    <a:pt x="0" y="0"/>
                  </a:moveTo>
                  <a:lnTo>
                    <a:pt x="1688465" y="0"/>
                  </a:lnTo>
                  <a:lnTo>
                    <a:pt x="1688465" y="2026285"/>
                  </a:lnTo>
                  <a:lnTo>
                    <a:pt x="0" y="2026285"/>
                  </a:lnTo>
                  <a:lnTo>
                    <a:pt x="0" y="0"/>
                  </a:lnTo>
                  <a:close/>
                </a:path>
              </a:pathLst>
            </a:custGeom>
            <a:blipFill>
              <a:blip r:embed="rId6"/>
              <a:stretch>
                <a:fillRect l="0" t="-124" r="-2" b="-122"/>
              </a:stretch>
            </a:blipFill>
          </p:spPr>
        </p:sp>
      </p:grpSp>
      <p:sp>
        <p:nvSpPr>
          <p:cNvPr name="TextBox 21" id="21"/>
          <p:cNvSpPr txBox="true"/>
          <p:nvPr/>
        </p:nvSpPr>
        <p:spPr>
          <a:xfrm rot="0">
            <a:off x="2379021" y="6768856"/>
            <a:ext cx="3166024" cy="405108"/>
          </a:xfrm>
          <a:prstGeom prst="rect">
            <a:avLst/>
          </a:prstGeom>
        </p:spPr>
        <p:txBody>
          <a:bodyPr anchor="t" rtlCol="false" tIns="0" lIns="0" bIns="0" rIns="0">
            <a:spAutoFit/>
          </a:bodyPr>
          <a:lstStyle/>
          <a:p>
            <a:pPr algn="l">
              <a:lnSpc>
                <a:spcPts val="3062"/>
              </a:lnSpc>
            </a:pPr>
            <a:r>
              <a:rPr lang="en-US" sz="2437">
                <a:solidFill>
                  <a:srgbClr val="404155"/>
                </a:solidFill>
                <a:latin typeface="Corben"/>
                <a:ea typeface="Corben"/>
                <a:cs typeface="Corben"/>
                <a:sym typeface="Corben"/>
              </a:rPr>
              <a:t>Alert &amp; Logging</a:t>
            </a:r>
          </a:p>
        </p:txBody>
      </p:sp>
      <p:sp>
        <p:nvSpPr>
          <p:cNvPr name="TextBox 22" id="22"/>
          <p:cNvSpPr txBox="true"/>
          <p:nvPr/>
        </p:nvSpPr>
        <p:spPr>
          <a:xfrm rot="0">
            <a:off x="2379021" y="7223970"/>
            <a:ext cx="15022563" cy="469259"/>
          </a:xfrm>
          <a:prstGeom prst="rect">
            <a:avLst/>
          </a:prstGeom>
        </p:spPr>
        <p:txBody>
          <a:bodyPr anchor="t" rtlCol="false" tIns="0" lIns="0" bIns="0" rIns="0">
            <a:spAutoFit/>
          </a:bodyPr>
          <a:lstStyle/>
          <a:p>
            <a:pPr algn="l">
              <a:lnSpc>
                <a:spcPts val="3000"/>
              </a:lnSpc>
            </a:pPr>
            <a:r>
              <a:rPr lang="en-US" sz="1937">
                <a:solidFill>
                  <a:srgbClr val="404155"/>
                </a:solidFill>
                <a:latin typeface="Arimo"/>
                <a:ea typeface="Arimo"/>
                <a:cs typeface="Arimo"/>
                <a:sym typeface="Arimo"/>
              </a:rPr>
              <a:t>Violation recording and alert generation</a:t>
            </a:r>
          </a:p>
        </p:txBody>
      </p:sp>
      <p:grpSp>
        <p:nvGrpSpPr>
          <p:cNvPr name="Group 23" id="23"/>
          <p:cNvGrpSpPr/>
          <p:nvPr/>
        </p:nvGrpSpPr>
        <p:grpSpPr>
          <a:xfrm rot="0">
            <a:off x="886416" y="8044901"/>
            <a:ext cx="1266377" cy="1519685"/>
            <a:chOff x="0" y="0"/>
            <a:chExt cx="1688503" cy="2026247"/>
          </a:xfrm>
        </p:grpSpPr>
        <p:sp>
          <p:nvSpPr>
            <p:cNvPr name="Freeform 24" id="24" descr="preencoded.png"/>
            <p:cNvSpPr/>
            <p:nvPr/>
          </p:nvSpPr>
          <p:spPr>
            <a:xfrm flipH="false" flipV="false" rot="0">
              <a:off x="0" y="0"/>
              <a:ext cx="1688465" cy="2026285"/>
            </a:xfrm>
            <a:custGeom>
              <a:avLst/>
              <a:gdLst/>
              <a:ahLst/>
              <a:cxnLst/>
              <a:rect r="r" b="b" t="t" l="l"/>
              <a:pathLst>
                <a:path h="2026285" w="1688465">
                  <a:moveTo>
                    <a:pt x="0" y="0"/>
                  </a:moveTo>
                  <a:lnTo>
                    <a:pt x="1688465" y="0"/>
                  </a:lnTo>
                  <a:lnTo>
                    <a:pt x="1688465" y="2026285"/>
                  </a:lnTo>
                  <a:lnTo>
                    <a:pt x="0" y="2026285"/>
                  </a:lnTo>
                  <a:lnTo>
                    <a:pt x="0" y="0"/>
                  </a:lnTo>
                  <a:close/>
                </a:path>
              </a:pathLst>
            </a:custGeom>
            <a:blipFill>
              <a:blip r:embed="rId7"/>
              <a:stretch>
                <a:fillRect l="0" t="-124" r="-2" b="-122"/>
              </a:stretch>
            </a:blipFill>
          </p:spPr>
        </p:sp>
      </p:grpSp>
      <p:sp>
        <p:nvSpPr>
          <p:cNvPr name="TextBox 25" id="25"/>
          <p:cNvSpPr txBox="true"/>
          <p:nvPr/>
        </p:nvSpPr>
        <p:spPr>
          <a:xfrm rot="0">
            <a:off x="2379021" y="8288541"/>
            <a:ext cx="3166024" cy="405108"/>
          </a:xfrm>
          <a:prstGeom prst="rect">
            <a:avLst/>
          </a:prstGeom>
        </p:spPr>
        <p:txBody>
          <a:bodyPr anchor="t" rtlCol="false" tIns="0" lIns="0" bIns="0" rIns="0">
            <a:spAutoFit/>
          </a:bodyPr>
          <a:lstStyle/>
          <a:p>
            <a:pPr algn="l">
              <a:lnSpc>
                <a:spcPts val="3062"/>
              </a:lnSpc>
            </a:pPr>
            <a:r>
              <a:rPr lang="en-US" sz="2437">
                <a:solidFill>
                  <a:srgbClr val="404155"/>
                </a:solidFill>
                <a:latin typeface="Corben"/>
                <a:ea typeface="Corben"/>
                <a:cs typeface="Corben"/>
                <a:sym typeface="Corben"/>
              </a:rPr>
              <a:t>Host Application</a:t>
            </a:r>
          </a:p>
        </p:txBody>
      </p:sp>
      <p:sp>
        <p:nvSpPr>
          <p:cNvPr name="TextBox 26" id="26"/>
          <p:cNvSpPr txBox="true"/>
          <p:nvPr/>
        </p:nvSpPr>
        <p:spPr>
          <a:xfrm rot="0">
            <a:off x="2379021" y="8743655"/>
            <a:ext cx="15022563" cy="469259"/>
          </a:xfrm>
          <a:prstGeom prst="rect">
            <a:avLst/>
          </a:prstGeom>
        </p:spPr>
        <p:txBody>
          <a:bodyPr anchor="t" rtlCol="false" tIns="0" lIns="0" bIns="0" rIns="0">
            <a:spAutoFit/>
          </a:bodyPr>
          <a:lstStyle/>
          <a:p>
            <a:pPr algn="l">
              <a:lnSpc>
                <a:spcPts val="3000"/>
              </a:lnSpc>
            </a:pPr>
            <a:r>
              <a:rPr lang="en-US" sz="1937">
                <a:solidFill>
                  <a:srgbClr val="404155"/>
                </a:solidFill>
                <a:latin typeface="Arimo"/>
                <a:ea typeface="Arimo"/>
                <a:cs typeface="Arimo"/>
                <a:sym typeface="Arimo"/>
              </a:rPr>
              <a:t>Live supervision and exam control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55177" y="788489"/>
            <a:ext cx="6823024" cy="871985"/>
          </a:xfrm>
          <a:prstGeom prst="rect">
            <a:avLst/>
          </a:prstGeom>
        </p:spPr>
        <p:txBody>
          <a:bodyPr anchor="t" rtlCol="false" tIns="0" lIns="0" bIns="0" rIns="0">
            <a:spAutoFit/>
          </a:bodyPr>
          <a:lstStyle/>
          <a:p>
            <a:pPr algn="l">
              <a:lnSpc>
                <a:spcPts val="6687"/>
              </a:lnSpc>
            </a:pPr>
            <a:r>
              <a:rPr lang="en-US" sz="5312">
                <a:solidFill>
                  <a:srgbClr val="1B1B27"/>
                </a:solidFill>
                <a:latin typeface="Corben"/>
                <a:ea typeface="Corben"/>
                <a:cs typeface="Corben"/>
                <a:sym typeface="Corben"/>
              </a:rPr>
              <a:t>Module Description</a:t>
            </a:r>
          </a:p>
        </p:txBody>
      </p:sp>
      <p:grpSp>
        <p:nvGrpSpPr>
          <p:cNvPr name="Group 7" id="7"/>
          <p:cNvGrpSpPr/>
          <p:nvPr/>
        </p:nvGrpSpPr>
        <p:grpSpPr>
          <a:xfrm rot="0">
            <a:off x="950414" y="2181073"/>
            <a:ext cx="5293519" cy="3953466"/>
            <a:chOff x="0" y="0"/>
            <a:chExt cx="7058025" cy="5271287"/>
          </a:xfrm>
        </p:grpSpPr>
        <p:sp>
          <p:nvSpPr>
            <p:cNvPr name="Freeform 8" id="8"/>
            <p:cNvSpPr/>
            <p:nvPr/>
          </p:nvSpPr>
          <p:spPr>
            <a:xfrm flipH="false" flipV="false" rot="0">
              <a:off x="6350" y="6350"/>
              <a:ext cx="7045325" cy="5258562"/>
            </a:xfrm>
            <a:custGeom>
              <a:avLst/>
              <a:gdLst/>
              <a:ahLst/>
              <a:cxnLst/>
              <a:rect r="r" b="b" t="t" l="l"/>
              <a:pathLst>
                <a:path h="5258562" w="7045325">
                  <a:moveTo>
                    <a:pt x="0" y="152781"/>
                  </a:moveTo>
                  <a:cubicBezTo>
                    <a:pt x="0" y="68453"/>
                    <a:pt x="68453" y="0"/>
                    <a:pt x="152908" y="0"/>
                  </a:cubicBezTo>
                  <a:lnTo>
                    <a:pt x="6892417" y="0"/>
                  </a:lnTo>
                  <a:cubicBezTo>
                    <a:pt x="6976873" y="0"/>
                    <a:pt x="7045325" y="68453"/>
                    <a:pt x="7045325" y="152781"/>
                  </a:cubicBezTo>
                  <a:lnTo>
                    <a:pt x="7045325" y="5105781"/>
                  </a:lnTo>
                  <a:cubicBezTo>
                    <a:pt x="7045325" y="5190236"/>
                    <a:pt x="6976873" y="5258562"/>
                    <a:pt x="6892417" y="5258562"/>
                  </a:cubicBezTo>
                  <a:lnTo>
                    <a:pt x="152908" y="5258562"/>
                  </a:lnTo>
                  <a:cubicBezTo>
                    <a:pt x="68453" y="5258562"/>
                    <a:pt x="0" y="5190236"/>
                    <a:pt x="0" y="5105781"/>
                  </a:cubicBezTo>
                  <a:close/>
                </a:path>
              </a:pathLst>
            </a:custGeom>
            <a:solidFill>
              <a:srgbClr val="D2D9F9"/>
            </a:solidFill>
          </p:spPr>
        </p:sp>
        <p:sp>
          <p:nvSpPr>
            <p:cNvPr name="Freeform 9" id="9"/>
            <p:cNvSpPr/>
            <p:nvPr/>
          </p:nvSpPr>
          <p:spPr>
            <a:xfrm flipH="false" flipV="false" rot="0">
              <a:off x="0" y="0"/>
              <a:ext cx="7058025" cy="5271262"/>
            </a:xfrm>
            <a:custGeom>
              <a:avLst/>
              <a:gdLst/>
              <a:ahLst/>
              <a:cxnLst/>
              <a:rect r="r" b="b" t="t" l="l"/>
              <a:pathLst>
                <a:path h="5271262" w="7058025">
                  <a:moveTo>
                    <a:pt x="0" y="159131"/>
                  </a:moveTo>
                  <a:cubicBezTo>
                    <a:pt x="0" y="71247"/>
                    <a:pt x="71247" y="0"/>
                    <a:pt x="159258" y="0"/>
                  </a:cubicBezTo>
                  <a:lnTo>
                    <a:pt x="6898767" y="0"/>
                  </a:lnTo>
                  <a:lnTo>
                    <a:pt x="6898767" y="6350"/>
                  </a:lnTo>
                  <a:lnTo>
                    <a:pt x="6898767" y="0"/>
                  </a:lnTo>
                  <a:cubicBezTo>
                    <a:pt x="6986778" y="0"/>
                    <a:pt x="7058025" y="71247"/>
                    <a:pt x="7058025" y="159131"/>
                  </a:cubicBezTo>
                  <a:lnTo>
                    <a:pt x="7051675" y="159131"/>
                  </a:lnTo>
                  <a:lnTo>
                    <a:pt x="7058025" y="159131"/>
                  </a:lnTo>
                  <a:lnTo>
                    <a:pt x="7058025" y="5112131"/>
                  </a:lnTo>
                  <a:lnTo>
                    <a:pt x="7051675" y="5112131"/>
                  </a:lnTo>
                  <a:lnTo>
                    <a:pt x="7058025" y="5112131"/>
                  </a:lnTo>
                  <a:cubicBezTo>
                    <a:pt x="7058025" y="5200015"/>
                    <a:pt x="6986778" y="5271262"/>
                    <a:pt x="6898767" y="5271262"/>
                  </a:cubicBezTo>
                  <a:lnTo>
                    <a:pt x="6898767" y="5264912"/>
                  </a:lnTo>
                  <a:lnTo>
                    <a:pt x="6898767" y="5271262"/>
                  </a:lnTo>
                  <a:lnTo>
                    <a:pt x="159258" y="5271262"/>
                  </a:lnTo>
                  <a:lnTo>
                    <a:pt x="159258" y="5264912"/>
                  </a:lnTo>
                  <a:lnTo>
                    <a:pt x="159258" y="5271262"/>
                  </a:lnTo>
                  <a:cubicBezTo>
                    <a:pt x="71247" y="5271262"/>
                    <a:pt x="0" y="5200015"/>
                    <a:pt x="0" y="5112131"/>
                  </a:cubicBezTo>
                  <a:lnTo>
                    <a:pt x="0" y="159131"/>
                  </a:lnTo>
                  <a:lnTo>
                    <a:pt x="6350" y="159131"/>
                  </a:lnTo>
                  <a:lnTo>
                    <a:pt x="0" y="159131"/>
                  </a:lnTo>
                  <a:moveTo>
                    <a:pt x="12700" y="159131"/>
                  </a:moveTo>
                  <a:lnTo>
                    <a:pt x="12700" y="5112131"/>
                  </a:lnTo>
                  <a:lnTo>
                    <a:pt x="6350" y="5112131"/>
                  </a:lnTo>
                  <a:lnTo>
                    <a:pt x="12700" y="5112131"/>
                  </a:lnTo>
                  <a:cubicBezTo>
                    <a:pt x="12700" y="5193030"/>
                    <a:pt x="78359" y="5258562"/>
                    <a:pt x="159258" y="5258562"/>
                  </a:cubicBezTo>
                  <a:lnTo>
                    <a:pt x="6898767" y="5258562"/>
                  </a:lnTo>
                  <a:cubicBezTo>
                    <a:pt x="6979666" y="5258562"/>
                    <a:pt x="7045325" y="5193030"/>
                    <a:pt x="7045325" y="5112131"/>
                  </a:cubicBezTo>
                  <a:lnTo>
                    <a:pt x="7045325" y="159131"/>
                  </a:lnTo>
                  <a:cubicBezTo>
                    <a:pt x="7045325" y="78232"/>
                    <a:pt x="6979666" y="12700"/>
                    <a:pt x="6898767" y="12700"/>
                  </a:cubicBezTo>
                  <a:lnTo>
                    <a:pt x="159258" y="12700"/>
                  </a:lnTo>
                  <a:lnTo>
                    <a:pt x="159258" y="6350"/>
                  </a:lnTo>
                  <a:lnTo>
                    <a:pt x="159258" y="12700"/>
                  </a:lnTo>
                  <a:cubicBezTo>
                    <a:pt x="78359" y="12700"/>
                    <a:pt x="12700" y="78232"/>
                    <a:pt x="12700" y="159131"/>
                  </a:cubicBezTo>
                  <a:close/>
                </a:path>
              </a:pathLst>
            </a:custGeom>
            <a:solidFill>
              <a:srgbClr val="B8BFDF"/>
            </a:solidFill>
          </p:spPr>
        </p:sp>
      </p:grpSp>
      <p:grpSp>
        <p:nvGrpSpPr>
          <p:cNvPr name="Group 10" id="10"/>
          <p:cNvGrpSpPr/>
          <p:nvPr/>
        </p:nvGrpSpPr>
        <p:grpSpPr>
          <a:xfrm rot="0">
            <a:off x="1237507" y="2468166"/>
            <a:ext cx="818702" cy="818702"/>
            <a:chOff x="0" y="0"/>
            <a:chExt cx="1091603" cy="1091603"/>
          </a:xfrm>
        </p:grpSpPr>
        <p:sp>
          <p:nvSpPr>
            <p:cNvPr name="Freeform 11" id="11"/>
            <p:cNvSpPr/>
            <p:nvPr/>
          </p:nvSpPr>
          <p:spPr>
            <a:xfrm flipH="false" flipV="false" rot="0">
              <a:off x="0" y="0"/>
              <a:ext cx="1091565" cy="1091565"/>
            </a:xfrm>
            <a:custGeom>
              <a:avLst/>
              <a:gdLst/>
              <a:ahLst/>
              <a:cxnLst/>
              <a:rect r="r" b="b" t="t" l="l"/>
              <a:pathLst>
                <a:path h="1091565" w="1091565">
                  <a:moveTo>
                    <a:pt x="0" y="545846"/>
                  </a:moveTo>
                  <a:cubicBezTo>
                    <a:pt x="0" y="244348"/>
                    <a:pt x="244348" y="0"/>
                    <a:pt x="545846" y="0"/>
                  </a:cubicBezTo>
                  <a:cubicBezTo>
                    <a:pt x="847344" y="0"/>
                    <a:pt x="1091565" y="244348"/>
                    <a:pt x="1091565" y="545846"/>
                  </a:cubicBezTo>
                  <a:cubicBezTo>
                    <a:pt x="1091565" y="847344"/>
                    <a:pt x="847217" y="1091565"/>
                    <a:pt x="545846" y="1091565"/>
                  </a:cubicBezTo>
                  <a:cubicBezTo>
                    <a:pt x="244475" y="1091565"/>
                    <a:pt x="0" y="847217"/>
                    <a:pt x="0" y="545846"/>
                  </a:cubicBezTo>
                  <a:close/>
                </a:path>
              </a:pathLst>
            </a:custGeom>
            <a:solidFill>
              <a:srgbClr val="4967E9"/>
            </a:solidFill>
          </p:spPr>
        </p:sp>
      </p:grpSp>
      <p:sp>
        <p:nvSpPr>
          <p:cNvPr name="Freeform 12" id="12" descr="preencoded.png"/>
          <p:cNvSpPr/>
          <p:nvPr/>
        </p:nvSpPr>
        <p:spPr>
          <a:xfrm flipH="false" flipV="false" rot="0">
            <a:off x="1462678" y="2693194"/>
            <a:ext cx="368351" cy="368351"/>
          </a:xfrm>
          <a:custGeom>
            <a:avLst/>
            <a:gdLst/>
            <a:ahLst/>
            <a:cxnLst/>
            <a:rect r="r" b="b" t="t" l="l"/>
            <a:pathLst>
              <a:path h="368351" w="368351">
                <a:moveTo>
                  <a:pt x="0" y="0"/>
                </a:moveTo>
                <a:lnTo>
                  <a:pt x="368351" y="0"/>
                </a:lnTo>
                <a:lnTo>
                  <a:pt x="368351" y="368351"/>
                </a:lnTo>
                <a:lnTo>
                  <a:pt x="0" y="368351"/>
                </a:lnTo>
                <a:lnTo>
                  <a:pt x="0" y="0"/>
                </a:lnTo>
                <a:close/>
              </a:path>
            </a:pathLst>
          </a:custGeom>
          <a:blipFill>
            <a:blip r:embed="rId3">
              <a:extLst>
                <a:ext uri="{96DAC541-7B7A-43D3-8B79-37D633B846F1}">
                  <asvg:svgBlip xmlns:asvg="http://schemas.microsoft.com/office/drawing/2016/SVG/main" r:embed="rId4"/>
                </a:ext>
              </a:extLst>
            </a:blip>
            <a:stretch>
              <a:fillRect l="-8975" t="0" r="-8972" b="0"/>
            </a:stretch>
          </a:blipFill>
        </p:spPr>
      </p:sp>
      <p:sp>
        <p:nvSpPr>
          <p:cNvPr name="TextBox 13" id="13"/>
          <p:cNvSpPr txBox="true"/>
          <p:nvPr/>
        </p:nvSpPr>
        <p:spPr>
          <a:xfrm rot="0">
            <a:off x="1237507" y="3530498"/>
            <a:ext cx="3411436" cy="445446"/>
          </a:xfrm>
          <a:prstGeom prst="rect">
            <a:avLst/>
          </a:prstGeom>
        </p:spPr>
        <p:txBody>
          <a:bodyPr anchor="t" rtlCol="false" tIns="0" lIns="0" bIns="0" rIns="0">
            <a:spAutoFit/>
          </a:bodyPr>
          <a:lstStyle/>
          <a:p>
            <a:pPr algn="l">
              <a:lnSpc>
                <a:spcPts val="3312"/>
              </a:lnSpc>
            </a:pPr>
            <a:r>
              <a:rPr lang="en-US" sz="2625">
                <a:solidFill>
                  <a:srgbClr val="404155"/>
                </a:solidFill>
                <a:latin typeface="Corben"/>
                <a:ea typeface="Corben"/>
                <a:cs typeface="Corben"/>
                <a:sym typeface="Corben"/>
              </a:rPr>
              <a:t>Student Module</a:t>
            </a:r>
          </a:p>
        </p:txBody>
      </p:sp>
      <p:sp>
        <p:nvSpPr>
          <p:cNvPr name="TextBox 14" id="14"/>
          <p:cNvSpPr txBox="true"/>
          <p:nvPr/>
        </p:nvSpPr>
        <p:spPr>
          <a:xfrm rot="0">
            <a:off x="1237507" y="4047830"/>
            <a:ext cx="4719342" cy="1799634"/>
          </a:xfrm>
          <a:prstGeom prst="rect">
            <a:avLst/>
          </a:prstGeom>
        </p:spPr>
        <p:txBody>
          <a:bodyPr anchor="t" rtlCol="false" tIns="0" lIns="0" bIns="0" rIns="0">
            <a:spAutoFit/>
          </a:bodyPr>
          <a:lstStyle/>
          <a:p>
            <a:pPr algn="l">
              <a:lnSpc>
                <a:spcPts val="3312"/>
              </a:lnSpc>
            </a:pPr>
            <a:r>
              <a:rPr lang="en-US" sz="2125">
                <a:solidFill>
                  <a:srgbClr val="404155"/>
                </a:solidFill>
                <a:latin typeface="Arimo"/>
                <a:ea typeface="Arimo"/>
                <a:cs typeface="Arimo"/>
                <a:sym typeface="Arimo"/>
              </a:rPr>
              <a:t>Creates restricted environment preventing app switching and ensuring continuous camera monitoring throughout exams</a:t>
            </a:r>
          </a:p>
        </p:txBody>
      </p:sp>
      <p:grpSp>
        <p:nvGrpSpPr>
          <p:cNvPr name="Group 15" id="15"/>
          <p:cNvGrpSpPr/>
          <p:nvPr/>
        </p:nvGrpSpPr>
        <p:grpSpPr>
          <a:xfrm rot="0">
            <a:off x="6497088" y="2181073"/>
            <a:ext cx="5293671" cy="3953466"/>
            <a:chOff x="0" y="0"/>
            <a:chExt cx="7058228" cy="5271287"/>
          </a:xfrm>
        </p:grpSpPr>
        <p:sp>
          <p:nvSpPr>
            <p:cNvPr name="Freeform 16" id="16"/>
            <p:cNvSpPr/>
            <p:nvPr/>
          </p:nvSpPr>
          <p:spPr>
            <a:xfrm flipH="false" flipV="false" rot="0">
              <a:off x="6350" y="6350"/>
              <a:ext cx="7045578" cy="5258562"/>
            </a:xfrm>
            <a:custGeom>
              <a:avLst/>
              <a:gdLst/>
              <a:ahLst/>
              <a:cxnLst/>
              <a:rect r="r" b="b" t="t" l="l"/>
              <a:pathLst>
                <a:path h="5258562" w="7045578">
                  <a:moveTo>
                    <a:pt x="0" y="152781"/>
                  </a:moveTo>
                  <a:cubicBezTo>
                    <a:pt x="0" y="68453"/>
                    <a:pt x="68453" y="0"/>
                    <a:pt x="152908" y="0"/>
                  </a:cubicBezTo>
                  <a:lnTo>
                    <a:pt x="6892671" y="0"/>
                  </a:lnTo>
                  <a:cubicBezTo>
                    <a:pt x="6977126" y="0"/>
                    <a:pt x="7045578" y="68453"/>
                    <a:pt x="7045578" y="152781"/>
                  </a:cubicBezTo>
                  <a:lnTo>
                    <a:pt x="7045578" y="5105781"/>
                  </a:lnTo>
                  <a:cubicBezTo>
                    <a:pt x="7045578" y="5190236"/>
                    <a:pt x="6977126" y="5258562"/>
                    <a:pt x="6892671" y="5258562"/>
                  </a:cubicBezTo>
                  <a:lnTo>
                    <a:pt x="152908" y="5258562"/>
                  </a:lnTo>
                  <a:cubicBezTo>
                    <a:pt x="68453" y="5258562"/>
                    <a:pt x="0" y="5190236"/>
                    <a:pt x="0" y="5105781"/>
                  </a:cubicBezTo>
                  <a:close/>
                </a:path>
              </a:pathLst>
            </a:custGeom>
            <a:solidFill>
              <a:srgbClr val="D2D9F9"/>
            </a:solidFill>
          </p:spPr>
        </p:sp>
        <p:sp>
          <p:nvSpPr>
            <p:cNvPr name="Freeform 17" id="17"/>
            <p:cNvSpPr/>
            <p:nvPr/>
          </p:nvSpPr>
          <p:spPr>
            <a:xfrm flipH="false" flipV="false" rot="0">
              <a:off x="0" y="0"/>
              <a:ext cx="7058278" cy="5271262"/>
            </a:xfrm>
            <a:custGeom>
              <a:avLst/>
              <a:gdLst/>
              <a:ahLst/>
              <a:cxnLst/>
              <a:rect r="r" b="b" t="t" l="l"/>
              <a:pathLst>
                <a:path h="5271262" w="7058278">
                  <a:moveTo>
                    <a:pt x="0" y="159131"/>
                  </a:moveTo>
                  <a:cubicBezTo>
                    <a:pt x="0" y="71247"/>
                    <a:pt x="71247" y="0"/>
                    <a:pt x="159258" y="0"/>
                  </a:cubicBezTo>
                  <a:lnTo>
                    <a:pt x="6899021" y="0"/>
                  </a:lnTo>
                  <a:lnTo>
                    <a:pt x="6899021" y="6350"/>
                  </a:lnTo>
                  <a:lnTo>
                    <a:pt x="6899021" y="0"/>
                  </a:lnTo>
                  <a:cubicBezTo>
                    <a:pt x="6987032" y="0"/>
                    <a:pt x="7058278" y="71247"/>
                    <a:pt x="7058278" y="159131"/>
                  </a:cubicBezTo>
                  <a:lnTo>
                    <a:pt x="7051928" y="159131"/>
                  </a:lnTo>
                  <a:lnTo>
                    <a:pt x="7058278" y="159131"/>
                  </a:lnTo>
                  <a:lnTo>
                    <a:pt x="7058278" y="5112131"/>
                  </a:lnTo>
                  <a:lnTo>
                    <a:pt x="7051928" y="5112131"/>
                  </a:lnTo>
                  <a:lnTo>
                    <a:pt x="7058278" y="5112131"/>
                  </a:lnTo>
                  <a:cubicBezTo>
                    <a:pt x="7058278" y="5200015"/>
                    <a:pt x="6987032" y="5271262"/>
                    <a:pt x="6899021" y="5271262"/>
                  </a:cubicBezTo>
                  <a:lnTo>
                    <a:pt x="6899021" y="5264912"/>
                  </a:lnTo>
                  <a:lnTo>
                    <a:pt x="6899021" y="5271262"/>
                  </a:lnTo>
                  <a:lnTo>
                    <a:pt x="159258" y="5271262"/>
                  </a:lnTo>
                  <a:lnTo>
                    <a:pt x="159258" y="5264912"/>
                  </a:lnTo>
                  <a:lnTo>
                    <a:pt x="159258" y="5271262"/>
                  </a:lnTo>
                  <a:cubicBezTo>
                    <a:pt x="71247" y="5271262"/>
                    <a:pt x="0" y="5200015"/>
                    <a:pt x="0" y="5112131"/>
                  </a:cubicBezTo>
                  <a:lnTo>
                    <a:pt x="0" y="159131"/>
                  </a:lnTo>
                  <a:lnTo>
                    <a:pt x="6350" y="159131"/>
                  </a:lnTo>
                  <a:lnTo>
                    <a:pt x="0" y="159131"/>
                  </a:lnTo>
                  <a:moveTo>
                    <a:pt x="12700" y="159131"/>
                  </a:moveTo>
                  <a:lnTo>
                    <a:pt x="12700" y="5112131"/>
                  </a:lnTo>
                  <a:lnTo>
                    <a:pt x="6350" y="5112131"/>
                  </a:lnTo>
                  <a:lnTo>
                    <a:pt x="12700" y="5112131"/>
                  </a:lnTo>
                  <a:cubicBezTo>
                    <a:pt x="12700" y="5193030"/>
                    <a:pt x="78359" y="5258562"/>
                    <a:pt x="159258" y="5258562"/>
                  </a:cubicBezTo>
                  <a:lnTo>
                    <a:pt x="6899021" y="5258562"/>
                  </a:lnTo>
                  <a:cubicBezTo>
                    <a:pt x="6979920" y="5258562"/>
                    <a:pt x="7045578" y="5193030"/>
                    <a:pt x="7045578" y="5112131"/>
                  </a:cubicBezTo>
                  <a:lnTo>
                    <a:pt x="7045578" y="159131"/>
                  </a:lnTo>
                  <a:cubicBezTo>
                    <a:pt x="7045579" y="78232"/>
                    <a:pt x="6979920" y="12700"/>
                    <a:pt x="6899021" y="12700"/>
                  </a:cubicBezTo>
                  <a:lnTo>
                    <a:pt x="159258" y="12700"/>
                  </a:lnTo>
                  <a:lnTo>
                    <a:pt x="159258" y="6350"/>
                  </a:lnTo>
                  <a:lnTo>
                    <a:pt x="159258" y="12700"/>
                  </a:lnTo>
                  <a:cubicBezTo>
                    <a:pt x="78359" y="12700"/>
                    <a:pt x="12700" y="78232"/>
                    <a:pt x="12700" y="159131"/>
                  </a:cubicBezTo>
                  <a:close/>
                </a:path>
              </a:pathLst>
            </a:custGeom>
            <a:solidFill>
              <a:srgbClr val="B8BFDF"/>
            </a:solidFill>
          </p:spPr>
        </p:sp>
      </p:grpSp>
      <p:grpSp>
        <p:nvGrpSpPr>
          <p:cNvPr name="Group 18" id="18"/>
          <p:cNvGrpSpPr/>
          <p:nvPr/>
        </p:nvGrpSpPr>
        <p:grpSpPr>
          <a:xfrm rot="0">
            <a:off x="6784181" y="2468166"/>
            <a:ext cx="818702" cy="818702"/>
            <a:chOff x="0" y="0"/>
            <a:chExt cx="1091603" cy="1091603"/>
          </a:xfrm>
        </p:grpSpPr>
        <p:sp>
          <p:nvSpPr>
            <p:cNvPr name="Freeform 19" id="19"/>
            <p:cNvSpPr/>
            <p:nvPr/>
          </p:nvSpPr>
          <p:spPr>
            <a:xfrm flipH="false" flipV="false" rot="0">
              <a:off x="0" y="0"/>
              <a:ext cx="1091565" cy="1091565"/>
            </a:xfrm>
            <a:custGeom>
              <a:avLst/>
              <a:gdLst/>
              <a:ahLst/>
              <a:cxnLst/>
              <a:rect r="r" b="b" t="t" l="l"/>
              <a:pathLst>
                <a:path h="1091565" w="1091565">
                  <a:moveTo>
                    <a:pt x="0" y="545846"/>
                  </a:moveTo>
                  <a:cubicBezTo>
                    <a:pt x="0" y="244348"/>
                    <a:pt x="244348" y="0"/>
                    <a:pt x="545846" y="0"/>
                  </a:cubicBezTo>
                  <a:cubicBezTo>
                    <a:pt x="847344" y="0"/>
                    <a:pt x="1091565" y="244348"/>
                    <a:pt x="1091565" y="545846"/>
                  </a:cubicBezTo>
                  <a:cubicBezTo>
                    <a:pt x="1091565" y="847344"/>
                    <a:pt x="847217" y="1091565"/>
                    <a:pt x="545846" y="1091565"/>
                  </a:cubicBezTo>
                  <a:cubicBezTo>
                    <a:pt x="244475" y="1091565"/>
                    <a:pt x="0" y="847217"/>
                    <a:pt x="0" y="545846"/>
                  </a:cubicBezTo>
                  <a:close/>
                </a:path>
              </a:pathLst>
            </a:custGeom>
            <a:solidFill>
              <a:srgbClr val="4967E9"/>
            </a:solidFill>
          </p:spPr>
        </p:sp>
      </p:grpSp>
      <p:sp>
        <p:nvSpPr>
          <p:cNvPr name="Freeform 20" id="20" descr="preencoded.png"/>
          <p:cNvSpPr/>
          <p:nvPr/>
        </p:nvSpPr>
        <p:spPr>
          <a:xfrm flipH="false" flipV="false" rot="0">
            <a:off x="7009362" y="2693194"/>
            <a:ext cx="368351" cy="368351"/>
          </a:xfrm>
          <a:custGeom>
            <a:avLst/>
            <a:gdLst/>
            <a:ahLst/>
            <a:cxnLst/>
            <a:rect r="r" b="b" t="t" l="l"/>
            <a:pathLst>
              <a:path h="368351" w="368351">
                <a:moveTo>
                  <a:pt x="0" y="0"/>
                </a:moveTo>
                <a:lnTo>
                  <a:pt x="368351" y="0"/>
                </a:lnTo>
                <a:lnTo>
                  <a:pt x="368351" y="368351"/>
                </a:lnTo>
                <a:lnTo>
                  <a:pt x="0" y="368351"/>
                </a:lnTo>
                <a:lnTo>
                  <a:pt x="0" y="0"/>
                </a:lnTo>
                <a:close/>
              </a:path>
            </a:pathLst>
          </a:custGeom>
          <a:blipFill>
            <a:blip r:embed="rId5">
              <a:extLst>
                <a:ext uri="{96DAC541-7B7A-43D3-8B79-37D633B846F1}">
                  <asvg:svgBlip xmlns:asvg="http://schemas.microsoft.com/office/drawing/2016/SVG/main" r:embed="rId6"/>
                </a:ext>
              </a:extLst>
            </a:blip>
            <a:stretch>
              <a:fillRect l="-8975" t="0" r="-8972" b="0"/>
            </a:stretch>
          </a:blipFill>
        </p:spPr>
      </p:sp>
      <p:sp>
        <p:nvSpPr>
          <p:cNvPr name="TextBox 21" id="21"/>
          <p:cNvSpPr txBox="true"/>
          <p:nvPr/>
        </p:nvSpPr>
        <p:spPr>
          <a:xfrm rot="0">
            <a:off x="6784181" y="3530498"/>
            <a:ext cx="3411436" cy="445446"/>
          </a:xfrm>
          <a:prstGeom prst="rect">
            <a:avLst/>
          </a:prstGeom>
        </p:spPr>
        <p:txBody>
          <a:bodyPr anchor="t" rtlCol="false" tIns="0" lIns="0" bIns="0" rIns="0">
            <a:spAutoFit/>
          </a:bodyPr>
          <a:lstStyle/>
          <a:p>
            <a:pPr algn="l">
              <a:lnSpc>
                <a:spcPts val="3312"/>
              </a:lnSpc>
            </a:pPr>
            <a:r>
              <a:rPr lang="en-US" sz="2625">
                <a:solidFill>
                  <a:srgbClr val="404155"/>
                </a:solidFill>
                <a:latin typeface="Corben"/>
                <a:ea typeface="Corben"/>
                <a:cs typeface="Corben"/>
                <a:sym typeface="Corben"/>
              </a:rPr>
              <a:t>Host Module</a:t>
            </a:r>
          </a:p>
        </p:txBody>
      </p:sp>
      <p:sp>
        <p:nvSpPr>
          <p:cNvPr name="TextBox 22" id="22"/>
          <p:cNvSpPr txBox="true"/>
          <p:nvPr/>
        </p:nvSpPr>
        <p:spPr>
          <a:xfrm rot="0">
            <a:off x="6784181" y="4047830"/>
            <a:ext cx="4719485" cy="1371152"/>
          </a:xfrm>
          <a:prstGeom prst="rect">
            <a:avLst/>
          </a:prstGeom>
        </p:spPr>
        <p:txBody>
          <a:bodyPr anchor="t" rtlCol="false" tIns="0" lIns="0" bIns="0" rIns="0">
            <a:spAutoFit/>
          </a:bodyPr>
          <a:lstStyle/>
          <a:p>
            <a:pPr algn="l">
              <a:lnSpc>
                <a:spcPts val="3312"/>
              </a:lnSpc>
            </a:pPr>
            <a:r>
              <a:rPr lang="en-US" sz="2125">
                <a:solidFill>
                  <a:srgbClr val="404155"/>
                </a:solidFill>
                <a:latin typeface="Arimo"/>
                <a:ea typeface="Arimo"/>
                <a:cs typeface="Arimo"/>
                <a:sym typeface="Arimo"/>
              </a:rPr>
              <a:t>Enables exam management, live feed viewing, and instant violation alerts for proactive oversight</a:t>
            </a:r>
          </a:p>
        </p:txBody>
      </p:sp>
      <p:grpSp>
        <p:nvGrpSpPr>
          <p:cNvPr name="Group 23" id="23"/>
          <p:cNvGrpSpPr/>
          <p:nvPr/>
        </p:nvGrpSpPr>
        <p:grpSpPr>
          <a:xfrm rot="0">
            <a:off x="12043915" y="2181073"/>
            <a:ext cx="5293671" cy="3953466"/>
            <a:chOff x="0" y="0"/>
            <a:chExt cx="7058228" cy="5271287"/>
          </a:xfrm>
        </p:grpSpPr>
        <p:sp>
          <p:nvSpPr>
            <p:cNvPr name="Freeform 24" id="24"/>
            <p:cNvSpPr/>
            <p:nvPr/>
          </p:nvSpPr>
          <p:spPr>
            <a:xfrm flipH="false" flipV="false" rot="0">
              <a:off x="6350" y="6350"/>
              <a:ext cx="7045578" cy="5258562"/>
            </a:xfrm>
            <a:custGeom>
              <a:avLst/>
              <a:gdLst/>
              <a:ahLst/>
              <a:cxnLst/>
              <a:rect r="r" b="b" t="t" l="l"/>
              <a:pathLst>
                <a:path h="5258562" w="7045578">
                  <a:moveTo>
                    <a:pt x="0" y="152781"/>
                  </a:moveTo>
                  <a:cubicBezTo>
                    <a:pt x="0" y="68453"/>
                    <a:pt x="68453" y="0"/>
                    <a:pt x="152908" y="0"/>
                  </a:cubicBezTo>
                  <a:lnTo>
                    <a:pt x="6892671" y="0"/>
                  </a:lnTo>
                  <a:cubicBezTo>
                    <a:pt x="6977126" y="0"/>
                    <a:pt x="7045578" y="68453"/>
                    <a:pt x="7045578" y="152781"/>
                  </a:cubicBezTo>
                  <a:lnTo>
                    <a:pt x="7045578" y="5105781"/>
                  </a:lnTo>
                  <a:cubicBezTo>
                    <a:pt x="7045578" y="5190236"/>
                    <a:pt x="6977126" y="5258562"/>
                    <a:pt x="6892671" y="5258562"/>
                  </a:cubicBezTo>
                  <a:lnTo>
                    <a:pt x="152908" y="5258562"/>
                  </a:lnTo>
                  <a:cubicBezTo>
                    <a:pt x="68453" y="5258562"/>
                    <a:pt x="0" y="5190236"/>
                    <a:pt x="0" y="5105781"/>
                  </a:cubicBezTo>
                  <a:close/>
                </a:path>
              </a:pathLst>
            </a:custGeom>
            <a:solidFill>
              <a:srgbClr val="D2D9F9"/>
            </a:solidFill>
          </p:spPr>
        </p:sp>
        <p:sp>
          <p:nvSpPr>
            <p:cNvPr name="Freeform 25" id="25"/>
            <p:cNvSpPr/>
            <p:nvPr/>
          </p:nvSpPr>
          <p:spPr>
            <a:xfrm flipH="false" flipV="false" rot="0">
              <a:off x="0" y="0"/>
              <a:ext cx="7058278" cy="5271262"/>
            </a:xfrm>
            <a:custGeom>
              <a:avLst/>
              <a:gdLst/>
              <a:ahLst/>
              <a:cxnLst/>
              <a:rect r="r" b="b" t="t" l="l"/>
              <a:pathLst>
                <a:path h="5271262" w="7058278">
                  <a:moveTo>
                    <a:pt x="0" y="159131"/>
                  </a:moveTo>
                  <a:cubicBezTo>
                    <a:pt x="0" y="71247"/>
                    <a:pt x="71247" y="0"/>
                    <a:pt x="159258" y="0"/>
                  </a:cubicBezTo>
                  <a:lnTo>
                    <a:pt x="6899021" y="0"/>
                  </a:lnTo>
                  <a:lnTo>
                    <a:pt x="6899021" y="6350"/>
                  </a:lnTo>
                  <a:lnTo>
                    <a:pt x="6899021" y="0"/>
                  </a:lnTo>
                  <a:cubicBezTo>
                    <a:pt x="6987032" y="0"/>
                    <a:pt x="7058278" y="71247"/>
                    <a:pt x="7058278" y="159131"/>
                  </a:cubicBezTo>
                  <a:lnTo>
                    <a:pt x="7051928" y="159131"/>
                  </a:lnTo>
                  <a:lnTo>
                    <a:pt x="7058278" y="159131"/>
                  </a:lnTo>
                  <a:lnTo>
                    <a:pt x="7058278" y="5112131"/>
                  </a:lnTo>
                  <a:lnTo>
                    <a:pt x="7051928" y="5112131"/>
                  </a:lnTo>
                  <a:lnTo>
                    <a:pt x="7058278" y="5112131"/>
                  </a:lnTo>
                  <a:cubicBezTo>
                    <a:pt x="7058278" y="5200015"/>
                    <a:pt x="6987032" y="5271262"/>
                    <a:pt x="6899021" y="5271262"/>
                  </a:cubicBezTo>
                  <a:lnTo>
                    <a:pt x="6899021" y="5264912"/>
                  </a:lnTo>
                  <a:lnTo>
                    <a:pt x="6899021" y="5271262"/>
                  </a:lnTo>
                  <a:lnTo>
                    <a:pt x="159258" y="5271262"/>
                  </a:lnTo>
                  <a:lnTo>
                    <a:pt x="159258" y="5264912"/>
                  </a:lnTo>
                  <a:lnTo>
                    <a:pt x="159258" y="5271262"/>
                  </a:lnTo>
                  <a:cubicBezTo>
                    <a:pt x="71247" y="5271262"/>
                    <a:pt x="0" y="5200015"/>
                    <a:pt x="0" y="5112131"/>
                  </a:cubicBezTo>
                  <a:lnTo>
                    <a:pt x="0" y="159131"/>
                  </a:lnTo>
                  <a:lnTo>
                    <a:pt x="6350" y="159131"/>
                  </a:lnTo>
                  <a:lnTo>
                    <a:pt x="0" y="159131"/>
                  </a:lnTo>
                  <a:moveTo>
                    <a:pt x="12700" y="159131"/>
                  </a:moveTo>
                  <a:lnTo>
                    <a:pt x="12700" y="5112131"/>
                  </a:lnTo>
                  <a:lnTo>
                    <a:pt x="6350" y="5112131"/>
                  </a:lnTo>
                  <a:lnTo>
                    <a:pt x="12700" y="5112131"/>
                  </a:lnTo>
                  <a:cubicBezTo>
                    <a:pt x="12700" y="5193030"/>
                    <a:pt x="78359" y="5258562"/>
                    <a:pt x="159258" y="5258562"/>
                  </a:cubicBezTo>
                  <a:lnTo>
                    <a:pt x="6899021" y="5258562"/>
                  </a:lnTo>
                  <a:cubicBezTo>
                    <a:pt x="6979920" y="5258562"/>
                    <a:pt x="7045578" y="5193030"/>
                    <a:pt x="7045578" y="5112131"/>
                  </a:cubicBezTo>
                  <a:lnTo>
                    <a:pt x="7045578" y="159131"/>
                  </a:lnTo>
                  <a:cubicBezTo>
                    <a:pt x="7045579" y="78232"/>
                    <a:pt x="6979920" y="12700"/>
                    <a:pt x="6899021" y="12700"/>
                  </a:cubicBezTo>
                  <a:lnTo>
                    <a:pt x="159258" y="12700"/>
                  </a:lnTo>
                  <a:lnTo>
                    <a:pt x="159258" y="6350"/>
                  </a:lnTo>
                  <a:lnTo>
                    <a:pt x="159258" y="12700"/>
                  </a:lnTo>
                  <a:cubicBezTo>
                    <a:pt x="78359" y="12700"/>
                    <a:pt x="12700" y="78232"/>
                    <a:pt x="12700" y="159131"/>
                  </a:cubicBezTo>
                  <a:close/>
                </a:path>
              </a:pathLst>
            </a:custGeom>
            <a:solidFill>
              <a:srgbClr val="B8BFDF"/>
            </a:solidFill>
          </p:spPr>
        </p:sp>
      </p:grpSp>
      <p:grpSp>
        <p:nvGrpSpPr>
          <p:cNvPr name="Group 26" id="26"/>
          <p:cNvGrpSpPr/>
          <p:nvPr/>
        </p:nvGrpSpPr>
        <p:grpSpPr>
          <a:xfrm rot="0">
            <a:off x="12331008" y="2468166"/>
            <a:ext cx="818702" cy="818702"/>
            <a:chOff x="0" y="0"/>
            <a:chExt cx="1091603" cy="1091603"/>
          </a:xfrm>
        </p:grpSpPr>
        <p:sp>
          <p:nvSpPr>
            <p:cNvPr name="Freeform 27" id="27"/>
            <p:cNvSpPr/>
            <p:nvPr/>
          </p:nvSpPr>
          <p:spPr>
            <a:xfrm flipH="false" flipV="false" rot="0">
              <a:off x="0" y="0"/>
              <a:ext cx="1091565" cy="1091565"/>
            </a:xfrm>
            <a:custGeom>
              <a:avLst/>
              <a:gdLst/>
              <a:ahLst/>
              <a:cxnLst/>
              <a:rect r="r" b="b" t="t" l="l"/>
              <a:pathLst>
                <a:path h="1091565" w="1091565">
                  <a:moveTo>
                    <a:pt x="0" y="545846"/>
                  </a:moveTo>
                  <a:cubicBezTo>
                    <a:pt x="0" y="244348"/>
                    <a:pt x="244348" y="0"/>
                    <a:pt x="545846" y="0"/>
                  </a:cubicBezTo>
                  <a:cubicBezTo>
                    <a:pt x="847344" y="0"/>
                    <a:pt x="1091565" y="244348"/>
                    <a:pt x="1091565" y="545846"/>
                  </a:cubicBezTo>
                  <a:cubicBezTo>
                    <a:pt x="1091565" y="847344"/>
                    <a:pt x="847217" y="1091565"/>
                    <a:pt x="545846" y="1091565"/>
                  </a:cubicBezTo>
                  <a:cubicBezTo>
                    <a:pt x="244475" y="1091565"/>
                    <a:pt x="0" y="847217"/>
                    <a:pt x="0" y="545846"/>
                  </a:cubicBezTo>
                  <a:close/>
                </a:path>
              </a:pathLst>
            </a:custGeom>
            <a:solidFill>
              <a:srgbClr val="4967E9"/>
            </a:solidFill>
          </p:spPr>
        </p:sp>
      </p:grpSp>
      <p:sp>
        <p:nvSpPr>
          <p:cNvPr name="Freeform 28" id="28" descr="preencoded.png"/>
          <p:cNvSpPr/>
          <p:nvPr/>
        </p:nvSpPr>
        <p:spPr>
          <a:xfrm flipH="false" flipV="false" rot="0">
            <a:off x="12556179" y="2693194"/>
            <a:ext cx="368351" cy="368351"/>
          </a:xfrm>
          <a:custGeom>
            <a:avLst/>
            <a:gdLst/>
            <a:ahLst/>
            <a:cxnLst/>
            <a:rect r="r" b="b" t="t" l="l"/>
            <a:pathLst>
              <a:path h="368351" w="368351">
                <a:moveTo>
                  <a:pt x="0" y="0"/>
                </a:moveTo>
                <a:lnTo>
                  <a:pt x="368351" y="0"/>
                </a:lnTo>
                <a:lnTo>
                  <a:pt x="368351" y="368351"/>
                </a:lnTo>
                <a:lnTo>
                  <a:pt x="0" y="368351"/>
                </a:lnTo>
                <a:lnTo>
                  <a:pt x="0" y="0"/>
                </a:lnTo>
                <a:close/>
              </a:path>
            </a:pathLst>
          </a:custGeom>
          <a:blipFill>
            <a:blip r:embed="rId7">
              <a:extLst>
                <a:ext uri="{96DAC541-7B7A-43D3-8B79-37D633B846F1}">
                  <asvg:svgBlip xmlns:asvg="http://schemas.microsoft.com/office/drawing/2016/SVG/main" r:embed="rId8"/>
                </a:ext>
              </a:extLst>
            </a:blip>
            <a:stretch>
              <a:fillRect l="-24358" t="0" r="-24358" b="0"/>
            </a:stretch>
          </a:blipFill>
        </p:spPr>
      </p:sp>
      <p:sp>
        <p:nvSpPr>
          <p:cNvPr name="TextBox 29" id="29"/>
          <p:cNvSpPr txBox="true"/>
          <p:nvPr/>
        </p:nvSpPr>
        <p:spPr>
          <a:xfrm rot="0">
            <a:off x="12331008" y="3530498"/>
            <a:ext cx="3411436" cy="445446"/>
          </a:xfrm>
          <a:prstGeom prst="rect">
            <a:avLst/>
          </a:prstGeom>
        </p:spPr>
        <p:txBody>
          <a:bodyPr anchor="t" rtlCol="false" tIns="0" lIns="0" bIns="0" rIns="0">
            <a:spAutoFit/>
          </a:bodyPr>
          <a:lstStyle/>
          <a:p>
            <a:pPr algn="l">
              <a:lnSpc>
                <a:spcPts val="3312"/>
              </a:lnSpc>
            </a:pPr>
            <a:r>
              <a:rPr lang="en-US" sz="2625">
                <a:solidFill>
                  <a:srgbClr val="404155"/>
                </a:solidFill>
                <a:latin typeface="Corben"/>
                <a:ea typeface="Corben"/>
                <a:cs typeface="Corben"/>
                <a:sym typeface="Corben"/>
              </a:rPr>
              <a:t>Monitoring Module</a:t>
            </a:r>
          </a:p>
        </p:txBody>
      </p:sp>
      <p:sp>
        <p:nvSpPr>
          <p:cNvPr name="TextBox 30" id="30"/>
          <p:cNvSpPr txBox="true"/>
          <p:nvPr/>
        </p:nvSpPr>
        <p:spPr>
          <a:xfrm rot="0">
            <a:off x="12331008" y="4047830"/>
            <a:ext cx="4719485" cy="1799634"/>
          </a:xfrm>
          <a:prstGeom prst="rect">
            <a:avLst/>
          </a:prstGeom>
        </p:spPr>
        <p:txBody>
          <a:bodyPr anchor="t" rtlCol="false" tIns="0" lIns="0" bIns="0" rIns="0">
            <a:spAutoFit/>
          </a:bodyPr>
          <a:lstStyle/>
          <a:p>
            <a:pPr algn="l">
              <a:lnSpc>
                <a:spcPts val="3312"/>
              </a:lnSpc>
            </a:pPr>
            <a:r>
              <a:rPr lang="en-US" sz="2125">
                <a:solidFill>
                  <a:srgbClr val="404155"/>
                </a:solidFill>
                <a:latin typeface="Arimo"/>
                <a:ea typeface="Arimo"/>
                <a:cs typeface="Arimo"/>
                <a:sym typeface="Arimo"/>
              </a:rPr>
              <a:t>Detects suspicious behavior including multiple faces, absence from camera view, and abnormal activity patterns</a:t>
            </a:r>
          </a:p>
        </p:txBody>
      </p:sp>
      <p:grpSp>
        <p:nvGrpSpPr>
          <p:cNvPr name="Group 31" id="31"/>
          <p:cNvGrpSpPr/>
          <p:nvPr/>
        </p:nvGrpSpPr>
        <p:grpSpPr>
          <a:xfrm rot="0">
            <a:off x="950414" y="6387703"/>
            <a:ext cx="8066932" cy="3096520"/>
            <a:chOff x="0" y="0"/>
            <a:chExt cx="10755909" cy="4128694"/>
          </a:xfrm>
        </p:grpSpPr>
        <p:sp>
          <p:nvSpPr>
            <p:cNvPr name="Freeform 32" id="32"/>
            <p:cNvSpPr/>
            <p:nvPr/>
          </p:nvSpPr>
          <p:spPr>
            <a:xfrm flipH="false" flipV="false" rot="0">
              <a:off x="6350" y="6350"/>
              <a:ext cx="10743311" cy="4115943"/>
            </a:xfrm>
            <a:custGeom>
              <a:avLst/>
              <a:gdLst/>
              <a:ahLst/>
              <a:cxnLst/>
              <a:rect r="r" b="b" t="t" l="l"/>
              <a:pathLst>
                <a:path h="4115943" w="10743311">
                  <a:moveTo>
                    <a:pt x="0" y="152781"/>
                  </a:moveTo>
                  <a:cubicBezTo>
                    <a:pt x="0" y="68453"/>
                    <a:pt x="68580" y="0"/>
                    <a:pt x="153162" y="0"/>
                  </a:cubicBezTo>
                  <a:lnTo>
                    <a:pt x="10590149" y="0"/>
                  </a:lnTo>
                  <a:cubicBezTo>
                    <a:pt x="10674731" y="0"/>
                    <a:pt x="10743311" y="68453"/>
                    <a:pt x="10743311" y="152781"/>
                  </a:cubicBezTo>
                  <a:lnTo>
                    <a:pt x="10743311" y="3963162"/>
                  </a:lnTo>
                  <a:cubicBezTo>
                    <a:pt x="10743311" y="4047617"/>
                    <a:pt x="10674731" y="4115943"/>
                    <a:pt x="10590149" y="4115943"/>
                  </a:cubicBezTo>
                  <a:lnTo>
                    <a:pt x="153162" y="4115943"/>
                  </a:lnTo>
                  <a:cubicBezTo>
                    <a:pt x="68580" y="4115943"/>
                    <a:pt x="0" y="4047617"/>
                    <a:pt x="0" y="3963162"/>
                  </a:cubicBezTo>
                  <a:close/>
                </a:path>
              </a:pathLst>
            </a:custGeom>
            <a:solidFill>
              <a:srgbClr val="D2D9F9"/>
            </a:solidFill>
          </p:spPr>
        </p:sp>
        <p:sp>
          <p:nvSpPr>
            <p:cNvPr name="Freeform 33" id="33"/>
            <p:cNvSpPr/>
            <p:nvPr/>
          </p:nvSpPr>
          <p:spPr>
            <a:xfrm flipH="false" flipV="false" rot="0">
              <a:off x="0" y="0"/>
              <a:ext cx="10756011" cy="4128643"/>
            </a:xfrm>
            <a:custGeom>
              <a:avLst/>
              <a:gdLst/>
              <a:ahLst/>
              <a:cxnLst/>
              <a:rect r="r" b="b" t="t" l="l"/>
              <a:pathLst>
                <a:path h="4128643" w="10756011">
                  <a:moveTo>
                    <a:pt x="0" y="159131"/>
                  </a:moveTo>
                  <a:cubicBezTo>
                    <a:pt x="0" y="71247"/>
                    <a:pt x="71374" y="0"/>
                    <a:pt x="159512" y="0"/>
                  </a:cubicBezTo>
                  <a:lnTo>
                    <a:pt x="10596499" y="0"/>
                  </a:lnTo>
                  <a:lnTo>
                    <a:pt x="10596499" y="6350"/>
                  </a:lnTo>
                  <a:lnTo>
                    <a:pt x="10596499" y="0"/>
                  </a:lnTo>
                  <a:cubicBezTo>
                    <a:pt x="10684510" y="0"/>
                    <a:pt x="10756011" y="71247"/>
                    <a:pt x="10756011" y="159131"/>
                  </a:cubicBezTo>
                  <a:lnTo>
                    <a:pt x="10749661" y="159131"/>
                  </a:lnTo>
                  <a:lnTo>
                    <a:pt x="10756011" y="159131"/>
                  </a:lnTo>
                  <a:lnTo>
                    <a:pt x="10756011" y="3969512"/>
                  </a:lnTo>
                  <a:lnTo>
                    <a:pt x="10749661" y="3969512"/>
                  </a:lnTo>
                  <a:lnTo>
                    <a:pt x="10756011" y="3969512"/>
                  </a:lnTo>
                  <a:cubicBezTo>
                    <a:pt x="10756011" y="4057396"/>
                    <a:pt x="10684637" y="4128643"/>
                    <a:pt x="10596499" y="4128643"/>
                  </a:cubicBezTo>
                  <a:lnTo>
                    <a:pt x="10596499" y="4122293"/>
                  </a:lnTo>
                  <a:lnTo>
                    <a:pt x="10596499" y="4128643"/>
                  </a:lnTo>
                  <a:lnTo>
                    <a:pt x="159512" y="4128643"/>
                  </a:lnTo>
                  <a:lnTo>
                    <a:pt x="159512" y="4122293"/>
                  </a:lnTo>
                  <a:lnTo>
                    <a:pt x="159512" y="4128643"/>
                  </a:lnTo>
                  <a:cubicBezTo>
                    <a:pt x="71374" y="4128643"/>
                    <a:pt x="0" y="4057396"/>
                    <a:pt x="0" y="3969512"/>
                  </a:cubicBezTo>
                  <a:lnTo>
                    <a:pt x="0" y="159131"/>
                  </a:lnTo>
                  <a:lnTo>
                    <a:pt x="6350" y="159131"/>
                  </a:lnTo>
                  <a:lnTo>
                    <a:pt x="0" y="159131"/>
                  </a:lnTo>
                  <a:moveTo>
                    <a:pt x="12700" y="159131"/>
                  </a:moveTo>
                  <a:lnTo>
                    <a:pt x="12700" y="3969512"/>
                  </a:lnTo>
                  <a:lnTo>
                    <a:pt x="6350" y="3969512"/>
                  </a:lnTo>
                  <a:lnTo>
                    <a:pt x="12700" y="3969512"/>
                  </a:lnTo>
                  <a:cubicBezTo>
                    <a:pt x="12700" y="4050411"/>
                    <a:pt x="78359" y="4115943"/>
                    <a:pt x="159512" y="4115943"/>
                  </a:cubicBezTo>
                  <a:lnTo>
                    <a:pt x="10596499" y="4115943"/>
                  </a:lnTo>
                  <a:cubicBezTo>
                    <a:pt x="10677525" y="4115943"/>
                    <a:pt x="10743311" y="4050411"/>
                    <a:pt x="10743311" y="3969512"/>
                  </a:cubicBezTo>
                  <a:lnTo>
                    <a:pt x="10743311" y="159131"/>
                  </a:lnTo>
                  <a:cubicBezTo>
                    <a:pt x="10743184" y="78232"/>
                    <a:pt x="10677525" y="12700"/>
                    <a:pt x="10596499" y="12700"/>
                  </a:cubicBezTo>
                  <a:lnTo>
                    <a:pt x="159512" y="12700"/>
                  </a:lnTo>
                  <a:lnTo>
                    <a:pt x="159512" y="6350"/>
                  </a:lnTo>
                  <a:lnTo>
                    <a:pt x="159512" y="12700"/>
                  </a:lnTo>
                  <a:cubicBezTo>
                    <a:pt x="78359" y="12700"/>
                    <a:pt x="12700" y="78232"/>
                    <a:pt x="12700" y="159131"/>
                  </a:cubicBezTo>
                  <a:close/>
                </a:path>
              </a:pathLst>
            </a:custGeom>
            <a:solidFill>
              <a:srgbClr val="B8BFDF"/>
            </a:solidFill>
          </p:spPr>
        </p:sp>
      </p:grpSp>
      <p:grpSp>
        <p:nvGrpSpPr>
          <p:cNvPr name="Group 34" id="34"/>
          <p:cNvGrpSpPr/>
          <p:nvPr/>
        </p:nvGrpSpPr>
        <p:grpSpPr>
          <a:xfrm rot="0">
            <a:off x="1237507" y="6674796"/>
            <a:ext cx="818702" cy="818702"/>
            <a:chOff x="0" y="0"/>
            <a:chExt cx="1091603" cy="1091603"/>
          </a:xfrm>
        </p:grpSpPr>
        <p:sp>
          <p:nvSpPr>
            <p:cNvPr name="Freeform 35" id="35"/>
            <p:cNvSpPr/>
            <p:nvPr/>
          </p:nvSpPr>
          <p:spPr>
            <a:xfrm flipH="false" flipV="false" rot="0">
              <a:off x="0" y="0"/>
              <a:ext cx="1091565" cy="1091565"/>
            </a:xfrm>
            <a:custGeom>
              <a:avLst/>
              <a:gdLst/>
              <a:ahLst/>
              <a:cxnLst/>
              <a:rect r="r" b="b" t="t" l="l"/>
              <a:pathLst>
                <a:path h="1091565" w="1091565">
                  <a:moveTo>
                    <a:pt x="0" y="545846"/>
                  </a:moveTo>
                  <a:cubicBezTo>
                    <a:pt x="0" y="244348"/>
                    <a:pt x="244348" y="0"/>
                    <a:pt x="545846" y="0"/>
                  </a:cubicBezTo>
                  <a:cubicBezTo>
                    <a:pt x="847344" y="0"/>
                    <a:pt x="1091565" y="244348"/>
                    <a:pt x="1091565" y="545846"/>
                  </a:cubicBezTo>
                  <a:cubicBezTo>
                    <a:pt x="1091565" y="847344"/>
                    <a:pt x="847217" y="1091565"/>
                    <a:pt x="545846" y="1091565"/>
                  </a:cubicBezTo>
                  <a:cubicBezTo>
                    <a:pt x="244475" y="1091565"/>
                    <a:pt x="0" y="847217"/>
                    <a:pt x="0" y="545846"/>
                  </a:cubicBezTo>
                  <a:close/>
                </a:path>
              </a:pathLst>
            </a:custGeom>
            <a:solidFill>
              <a:srgbClr val="4967E9"/>
            </a:solidFill>
          </p:spPr>
        </p:sp>
      </p:grpSp>
      <p:sp>
        <p:nvSpPr>
          <p:cNvPr name="Freeform 36" id="36" descr="preencoded.png"/>
          <p:cNvSpPr/>
          <p:nvPr/>
        </p:nvSpPr>
        <p:spPr>
          <a:xfrm flipH="false" flipV="false" rot="0">
            <a:off x="1462678" y="6899824"/>
            <a:ext cx="368351" cy="368351"/>
          </a:xfrm>
          <a:custGeom>
            <a:avLst/>
            <a:gdLst/>
            <a:ahLst/>
            <a:cxnLst/>
            <a:rect r="r" b="b" t="t" l="l"/>
            <a:pathLst>
              <a:path h="368351" w="368351">
                <a:moveTo>
                  <a:pt x="0" y="0"/>
                </a:moveTo>
                <a:lnTo>
                  <a:pt x="368351" y="0"/>
                </a:lnTo>
                <a:lnTo>
                  <a:pt x="368351" y="368351"/>
                </a:lnTo>
                <a:lnTo>
                  <a:pt x="0" y="368351"/>
                </a:lnTo>
                <a:lnTo>
                  <a:pt x="0" y="0"/>
                </a:lnTo>
                <a:close/>
              </a:path>
            </a:pathLst>
          </a:custGeom>
          <a:blipFill>
            <a:blip r:embed="rId9">
              <a:extLst>
                <a:ext uri="{96DAC541-7B7A-43D3-8B79-37D633B846F1}">
                  <asvg:svgBlip xmlns:asvg="http://schemas.microsoft.com/office/drawing/2016/SVG/main" r:embed="rId10"/>
                </a:ext>
              </a:extLst>
            </a:blip>
            <a:stretch>
              <a:fillRect l="-6410" t="0" r="-6410" b="0"/>
            </a:stretch>
          </a:blipFill>
        </p:spPr>
      </p:sp>
      <p:sp>
        <p:nvSpPr>
          <p:cNvPr name="TextBox 37" id="37"/>
          <p:cNvSpPr txBox="true"/>
          <p:nvPr/>
        </p:nvSpPr>
        <p:spPr>
          <a:xfrm rot="0">
            <a:off x="1237507" y="7737129"/>
            <a:ext cx="3894087" cy="445446"/>
          </a:xfrm>
          <a:prstGeom prst="rect">
            <a:avLst/>
          </a:prstGeom>
        </p:spPr>
        <p:txBody>
          <a:bodyPr anchor="t" rtlCol="false" tIns="0" lIns="0" bIns="0" rIns="0">
            <a:spAutoFit/>
          </a:bodyPr>
          <a:lstStyle/>
          <a:p>
            <a:pPr algn="l">
              <a:lnSpc>
                <a:spcPts val="3312"/>
              </a:lnSpc>
            </a:pPr>
            <a:r>
              <a:rPr lang="en-US" sz="2625">
                <a:solidFill>
                  <a:srgbClr val="404155"/>
                </a:solidFill>
                <a:latin typeface="Corben"/>
                <a:ea typeface="Corben"/>
                <a:cs typeface="Corben"/>
                <a:sym typeface="Corben"/>
              </a:rPr>
              <a:t>Communication Module</a:t>
            </a:r>
          </a:p>
        </p:txBody>
      </p:sp>
      <p:sp>
        <p:nvSpPr>
          <p:cNvPr name="TextBox 38" id="38"/>
          <p:cNvSpPr txBox="true"/>
          <p:nvPr/>
        </p:nvSpPr>
        <p:spPr>
          <a:xfrm rot="0">
            <a:off x="1237507" y="8254451"/>
            <a:ext cx="7492756" cy="942680"/>
          </a:xfrm>
          <a:prstGeom prst="rect">
            <a:avLst/>
          </a:prstGeom>
        </p:spPr>
        <p:txBody>
          <a:bodyPr anchor="t" rtlCol="false" tIns="0" lIns="0" bIns="0" rIns="0">
            <a:spAutoFit/>
          </a:bodyPr>
          <a:lstStyle/>
          <a:p>
            <a:pPr algn="l">
              <a:lnSpc>
                <a:spcPts val="3312"/>
              </a:lnSpc>
            </a:pPr>
            <a:r>
              <a:rPr lang="en-US" sz="2125">
                <a:solidFill>
                  <a:srgbClr val="404155"/>
                </a:solidFill>
                <a:latin typeface="Arimo"/>
                <a:ea typeface="Arimo"/>
                <a:cs typeface="Arimo"/>
                <a:sym typeface="Arimo"/>
              </a:rPr>
              <a:t>Maintains socket-based encrypted channels for low-latency data exchange between student and host</a:t>
            </a:r>
          </a:p>
        </p:txBody>
      </p:sp>
      <p:grpSp>
        <p:nvGrpSpPr>
          <p:cNvPr name="Group 39" id="39"/>
          <p:cNvGrpSpPr/>
          <p:nvPr/>
        </p:nvGrpSpPr>
        <p:grpSpPr>
          <a:xfrm rot="0">
            <a:off x="9270502" y="6387703"/>
            <a:ext cx="8067084" cy="3096520"/>
            <a:chOff x="0" y="0"/>
            <a:chExt cx="10756113" cy="4128694"/>
          </a:xfrm>
        </p:grpSpPr>
        <p:sp>
          <p:nvSpPr>
            <p:cNvPr name="Freeform 40" id="40"/>
            <p:cNvSpPr/>
            <p:nvPr/>
          </p:nvSpPr>
          <p:spPr>
            <a:xfrm flipH="false" flipV="false" rot="0">
              <a:off x="6350" y="6350"/>
              <a:ext cx="10743438" cy="4115943"/>
            </a:xfrm>
            <a:custGeom>
              <a:avLst/>
              <a:gdLst/>
              <a:ahLst/>
              <a:cxnLst/>
              <a:rect r="r" b="b" t="t" l="l"/>
              <a:pathLst>
                <a:path h="4115943" w="10743438">
                  <a:moveTo>
                    <a:pt x="0" y="152781"/>
                  </a:moveTo>
                  <a:cubicBezTo>
                    <a:pt x="0" y="68453"/>
                    <a:pt x="68580" y="0"/>
                    <a:pt x="153162" y="0"/>
                  </a:cubicBezTo>
                  <a:lnTo>
                    <a:pt x="10590276" y="0"/>
                  </a:lnTo>
                  <a:cubicBezTo>
                    <a:pt x="10674858" y="0"/>
                    <a:pt x="10743438" y="68453"/>
                    <a:pt x="10743438" y="152781"/>
                  </a:cubicBezTo>
                  <a:lnTo>
                    <a:pt x="10743438" y="3963162"/>
                  </a:lnTo>
                  <a:cubicBezTo>
                    <a:pt x="10743438" y="4047617"/>
                    <a:pt x="10674858" y="4115943"/>
                    <a:pt x="10590276" y="4115943"/>
                  </a:cubicBezTo>
                  <a:lnTo>
                    <a:pt x="153162" y="4115943"/>
                  </a:lnTo>
                  <a:cubicBezTo>
                    <a:pt x="68580" y="4115943"/>
                    <a:pt x="0" y="4047617"/>
                    <a:pt x="0" y="3963162"/>
                  </a:cubicBezTo>
                  <a:close/>
                </a:path>
              </a:pathLst>
            </a:custGeom>
            <a:solidFill>
              <a:srgbClr val="D2D9F9"/>
            </a:solidFill>
          </p:spPr>
        </p:sp>
        <p:sp>
          <p:nvSpPr>
            <p:cNvPr name="Freeform 41" id="41"/>
            <p:cNvSpPr/>
            <p:nvPr/>
          </p:nvSpPr>
          <p:spPr>
            <a:xfrm flipH="false" flipV="false" rot="0">
              <a:off x="0" y="0"/>
              <a:ext cx="10756138" cy="4128643"/>
            </a:xfrm>
            <a:custGeom>
              <a:avLst/>
              <a:gdLst/>
              <a:ahLst/>
              <a:cxnLst/>
              <a:rect r="r" b="b" t="t" l="l"/>
              <a:pathLst>
                <a:path h="4128643" w="10756138">
                  <a:moveTo>
                    <a:pt x="0" y="159131"/>
                  </a:moveTo>
                  <a:cubicBezTo>
                    <a:pt x="0" y="71247"/>
                    <a:pt x="71374" y="0"/>
                    <a:pt x="159512" y="0"/>
                  </a:cubicBezTo>
                  <a:lnTo>
                    <a:pt x="10596626" y="0"/>
                  </a:lnTo>
                  <a:lnTo>
                    <a:pt x="10596626" y="6350"/>
                  </a:lnTo>
                  <a:lnTo>
                    <a:pt x="10596626" y="0"/>
                  </a:lnTo>
                  <a:cubicBezTo>
                    <a:pt x="10684637" y="0"/>
                    <a:pt x="10756138" y="71247"/>
                    <a:pt x="10756138" y="159131"/>
                  </a:cubicBezTo>
                  <a:lnTo>
                    <a:pt x="10749788" y="159131"/>
                  </a:lnTo>
                  <a:lnTo>
                    <a:pt x="10756138" y="159131"/>
                  </a:lnTo>
                  <a:lnTo>
                    <a:pt x="10756138" y="3969512"/>
                  </a:lnTo>
                  <a:lnTo>
                    <a:pt x="10749788" y="3969512"/>
                  </a:lnTo>
                  <a:lnTo>
                    <a:pt x="10756138" y="3969512"/>
                  </a:lnTo>
                  <a:cubicBezTo>
                    <a:pt x="10756138" y="4057396"/>
                    <a:pt x="10684764" y="4128643"/>
                    <a:pt x="10596626" y="4128643"/>
                  </a:cubicBezTo>
                  <a:lnTo>
                    <a:pt x="10596626" y="4122293"/>
                  </a:lnTo>
                  <a:lnTo>
                    <a:pt x="10596626" y="4128643"/>
                  </a:lnTo>
                  <a:lnTo>
                    <a:pt x="159512" y="4128643"/>
                  </a:lnTo>
                  <a:lnTo>
                    <a:pt x="159512" y="4122293"/>
                  </a:lnTo>
                  <a:lnTo>
                    <a:pt x="159512" y="4128643"/>
                  </a:lnTo>
                  <a:cubicBezTo>
                    <a:pt x="71374" y="4128643"/>
                    <a:pt x="0" y="4057396"/>
                    <a:pt x="0" y="3969512"/>
                  </a:cubicBezTo>
                  <a:lnTo>
                    <a:pt x="0" y="159131"/>
                  </a:lnTo>
                  <a:lnTo>
                    <a:pt x="6350" y="159131"/>
                  </a:lnTo>
                  <a:lnTo>
                    <a:pt x="0" y="159131"/>
                  </a:lnTo>
                  <a:moveTo>
                    <a:pt x="12700" y="159131"/>
                  </a:moveTo>
                  <a:lnTo>
                    <a:pt x="12700" y="3969512"/>
                  </a:lnTo>
                  <a:lnTo>
                    <a:pt x="6350" y="3969512"/>
                  </a:lnTo>
                  <a:lnTo>
                    <a:pt x="12700" y="3969512"/>
                  </a:lnTo>
                  <a:cubicBezTo>
                    <a:pt x="12700" y="4050411"/>
                    <a:pt x="78359" y="4115943"/>
                    <a:pt x="159512" y="4115943"/>
                  </a:cubicBezTo>
                  <a:lnTo>
                    <a:pt x="10596626" y="4115943"/>
                  </a:lnTo>
                  <a:cubicBezTo>
                    <a:pt x="10677652" y="4115943"/>
                    <a:pt x="10743438" y="4050411"/>
                    <a:pt x="10743438" y="3969512"/>
                  </a:cubicBezTo>
                  <a:lnTo>
                    <a:pt x="10743438" y="159131"/>
                  </a:lnTo>
                  <a:cubicBezTo>
                    <a:pt x="10743438" y="78232"/>
                    <a:pt x="10677652" y="12700"/>
                    <a:pt x="10596626" y="12700"/>
                  </a:cubicBezTo>
                  <a:lnTo>
                    <a:pt x="159512" y="12700"/>
                  </a:lnTo>
                  <a:lnTo>
                    <a:pt x="159512" y="6350"/>
                  </a:lnTo>
                  <a:lnTo>
                    <a:pt x="159512" y="12700"/>
                  </a:lnTo>
                  <a:cubicBezTo>
                    <a:pt x="78359" y="12700"/>
                    <a:pt x="12700" y="78232"/>
                    <a:pt x="12700" y="159131"/>
                  </a:cubicBezTo>
                  <a:close/>
                </a:path>
              </a:pathLst>
            </a:custGeom>
            <a:solidFill>
              <a:srgbClr val="B8BFDF"/>
            </a:solidFill>
          </p:spPr>
        </p:sp>
      </p:grpSp>
      <p:grpSp>
        <p:nvGrpSpPr>
          <p:cNvPr name="Group 42" id="42"/>
          <p:cNvGrpSpPr/>
          <p:nvPr/>
        </p:nvGrpSpPr>
        <p:grpSpPr>
          <a:xfrm rot="0">
            <a:off x="9557595" y="6674796"/>
            <a:ext cx="818702" cy="818702"/>
            <a:chOff x="0" y="0"/>
            <a:chExt cx="1091603" cy="1091603"/>
          </a:xfrm>
        </p:grpSpPr>
        <p:sp>
          <p:nvSpPr>
            <p:cNvPr name="Freeform 43" id="43"/>
            <p:cNvSpPr/>
            <p:nvPr/>
          </p:nvSpPr>
          <p:spPr>
            <a:xfrm flipH="false" flipV="false" rot="0">
              <a:off x="0" y="0"/>
              <a:ext cx="1091565" cy="1091565"/>
            </a:xfrm>
            <a:custGeom>
              <a:avLst/>
              <a:gdLst/>
              <a:ahLst/>
              <a:cxnLst/>
              <a:rect r="r" b="b" t="t" l="l"/>
              <a:pathLst>
                <a:path h="1091565" w="1091565">
                  <a:moveTo>
                    <a:pt x="0" y="545846"/>
                  </a:moveTo>
                  <a:cubicBezTo>
                    <a:pt x="0" y="244348"/>
                    <a:pt x="244348" y="0"/>
                    <a:pt x="545846" y="0"/>
                  </a:cubicBezTo>
                  <a:cubicBezTo>
                    <a:pt x="847344" y="0"/>
                    <a:pt x="1091565" y="244348"/>
                    <a:pt x="1091565" y="545846"/>
                  </a:cubicBezTo>
                  <a:cubicBezTo>
                    <a:pt x="1091565" y="847344"/>
                    <a:pt x="847217" y="1091565"/>
                    <a:pt x="545846" y="1091565"/>
                  </a:cubicBezTo>
                  <a:cubicBezTo>
                    <a:pt x="244475" y="1091565"/>
                    <a:pt x="0" y="847217"/>
                    <a:pt x="0" y="545846"/>
                  </a:cubicBezTo>
                  <a:close/>
                </a:path>
              </a:pathLst>
            </a:custGeom>
            <a:solidFill>
              <a:srgbClr val="4967E9"/>
            </a:solidFill>
          </p:spPr>
        </p:sp>
      </p:grpSp>
      <p:sp>
        <p:nvSpPr>
          <p:cNvPr name="Freeform 44" id="44" descr="preencoded.png"/>
          <p:cNvSpPr/>
          <p:nvPr/>
        </p:nvSpPr>
        <p:spPr>
          <a:xfrm flipH="false" flipV="false" rot="0">
            <a:off x="9782766" y="6899824"/>
            <a:ext cx="368351" cy="368351"/>
          </a:xfrm>
          <a:custGeom>
            <a:avLst/>
            <a:gdLst/>
            <a:ahLst/>
            <a:cxnLst/>
            <a:rect r="r" b="b" t="t" l="l"/>
            <a:pathLst>
              <a:path h="368351" w="368351">
                <a:moveTo>
                  <a:pt x="0" y="0"/>
                </a:moveTo>
                <a:lnTo>
                  <a:pt x="368350" y="0"/>
                </a:lnTo>
                <a:lnTo>
                  <a:pt x="368350" y="368351"/>
                </a:lnTo>
                <a:lnTo>
                  <a:pt x="0" y="368351"/>
                </a:lnTo>
                <a:lnTo>
                  <a:pt x="0" y="0"/>
                </a:lnTo>
                <a:close/>
              </a:path>
            </a:pathLst>
          </a:custGeom>
          <a:blipFill>
            <a:blip r:embed="rId11">
              <a:extLst>
                <a:ext uri="{96DAC541-7B7A-43D3-8B79-37D633B846F1}">
                  <asvg:svgBlip xmlns:asvg="http://schemas.microsoft.com/office/drawing/2016/SVG/main" r:embed="rId12"/>
                </a:ext>
              </a:extLst>
            </a:blip>
            <a:stretch>
              <a:fillRect l="-7692" t="0" r="-7690" b="0"/>
            </a:stretch>
          </a:blipFill>
        </p:spPr>
      </p:sp>
      <p:sp>
        <p:nvSpPr>
          <p:cNvPr name="TextBox 45" id="45"/>
          <p:cNvSpPr txBox="true"/>
          <p:nvPr/>
        </p:nvSpPr>
        <p:spPr>
          <a:xfrm rot="0">
            <a:off x="9557595" y="7737129"/>
            <a:ext cx="3411436" cy="445446"/>
          </a:xfrm>
          <a:prstGeom prst="rect">
            <a:avLst/>
          </a:prstGeom>
        </p:spPr>
        <p:txBody>
          <a:bodyPr anchor="t" rtlCol="false" tIns="0" lIns="0" bIns="0" rIns="0">
            <a:spAutoFit/>
          </a:bodyPr>
          <a:lstStyle/>
          <a:p>
            <a:pPr algn="l">
              <a:lnSpc>
                <a:spcPts val="3312"/>
              </a:lnSpc>
            </a:pPr>
            <a:r>
              <a:rPr lang="en-US" sz="2625">
                <a:solidFill>
                  <a:srgbClr val="404155"/>
                </a:solidFill>
                <a:latin typeface="Corben"/>
                <a:ea typeface="Corben"/>
                <a:cs typeface="Corben"/>
                <a:sym typeface="Corben"/>
              </a:rPr>
              <a:t>Logging Module</a:t>
            </a:r>
          </a:p>
        </p:txBody>
      </p:sp>
      <p:sp>
        <p:nvSpPr>
          <p:cNvPr name="TextBox 46" id="46"/>
          <p:cNvSpPr txBox="true"/>
          <p:nvPr/>
        </p:nvSpPr>
        <p:spPr>
          <a:xfrm rot="0">
            <a:off x="9557595" y="8254451"/>
            <a:ext cx="7492898" cy="942680"/>
          </a:xfrm>
          <a:prstGeom prst="rect">
            <a:avLst/>
          </a:prstGeom>
        </p:spPr>
        <p:txBody>
          <a:bodyPr anchor="t" rtlCol="false" tIns="0" lIns="0" bIns="0" rIns="0">
            <a:spAutoFit/>
          </a:bodyPr>
          <a:lstStyle/>
          <a:p>
            <a:pPr algn="l">
              <a:lnSpc>
                <a:spcPts val="3312"/>
              </a:lnSpc>
            </a:pPr>
            <a:r>
              <a:rPr lang="en-US" sz="2125">
                <a:solidFill>
                  <a:srgbClr val="404155"/>
                </a:solidFill>
                <a:latin typeface="Arimo"/>
                <a:ea typeface="Arimo"/>
                <a:cs typeface="Arimo"/>
                <a:sym typeface="Arimo"/>
              </a:rPr>
              <a:t>Maintains comprehensive violation logs for post-exam review and accountability purposes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grpSp>
        <p:nvGrpSpPr>
          <p:cNvPr name="Group 6" id="6"/>
          <p:cNvGrpSpPr/>
          <p:nvPr/>
        </p:nvGrpSpPr>
        <p:grpSpPr>
          <a:xfrm rot="0">
            <a:off x="0" y="1364528"/>
            <a:ext cx="8324952" cy="8322397"/>
            <a:chOff x="0" y="0"/>
            <a:chExt cx="14491574" cy="14487128"/>
          </a:xfrm>
        </p:grpSpPr>
        <p:sp>
          <p:nvSpPr>
            <p:cNvPr name="Freeform 7" id="7"/>
            <p:cNvSpPr/>
            <p:nvPr/>
          </p:nvSpPr>
          <p:spPr>
            <a:xfrm flipH="false" flipV="false" rot="0">
              <a:off x="0" y="0"/>
              <a:ext cx="14491574" cy="14487128"/>
            </a:xfrm>
            <a:custGeom>
              <a:avLst/>
              <a:gdLst/>
              <a:ahLst/>
              <a:cxnLst/>
              <a:rect r="r" b="b" t="t" l="l"/>
              <a:pathLst>
                <a:path h="14487128" w="14491574">
                  <a:moveTo>
                    <a:pt x="0" y="0"/>
                  </a:moveTo>
                  <a:lnTo>
                    <a:pt x="14491574" y="0"/>
                  </a:lnTo>
                  <a:lnTo>
                    <a:pt x="14491574" y="14487128"/>
                  </a:lnTo>
                  <a:lnTo>
                    <a:pt x="0" y="14487128"/>
                  </a:lnTo>
                  <a:lnTo>
                    <a:pt x="0" y="0"/>
                  </a:lnTo>
                  <a:close/>
                </a:path>
              </a:pathLst>
            </a:custGeom>
            <a:blipFill>
              <a:blip r:embed="rId3"/>
              <a:stretch>
                <a:fillRect l="0" t="-1707" r="0" b="-1707"/>
              </a:stretch>
            </a:blipFill>
          </p:spPr>
        </p:sp>
      </p:grpSp>
      <p:grpSp>
        <p:nvGrpSpPr>
          <p:cNvPr name="Group 8" id="8"/>
          <p:cNvGrpSpPr/>
          <p:nvPr/>
        </p:nvGrpSpPr>
        <p:grpSpPr>
          <a:xfrm rot="0">
            <a:off x="8756752" y="3155116"/>
            <a:ext cx="9445523" cy="5941371"/>
            <a:chOff x="0" y="0"/>
            <a:chExt cx="12594031" cy="7921828"/>
          </a:xfrm>
        </p:grpSpPr>
        <p:sp>
          <p:nvSpPr>
            <p:cNvPr name="Freeform 9" id="9" descr="preencoded.png"/>
            <p:cNvSpPr/>
            <p:nvPr/>
          </p:nvSpPr>
          <p:spPr>
            <a:xfrm flipH="false" flipV="false" rot="0">
              <a:off x="0" y="0"/>
              <a:ext cx="12594082" cy="7921879"/>
            </a:xfrm>
            <a:custGeom>
              <a:avLst/>
              <a:gdLst/>
              <a:ahLst/>
              <a:cxnLst/>
              <a:rect r="r" b="b" t="t" l="l"/>
              <a:pathLst>
                <a:path h="7921879" w="12594082">
                  <a:moveTo>
                    <a:pt x="0" y="0"/>
                  </a:moveTo>
                  <a:lnTo>
                    <a:pt x="12594082" y="0"/>
                  </a:lnTo>
                  <a:lnTo>
                    <a:pt x="12594082" y="7921879"/>
                  </a:lnTo>
                  <a:lnTo>
                    <a:pt x="0" y="7921879"/>
                  </a:lnTo>
                  <a:lnTo>
                    <a:pt x="0" y="0"/>
                  </a:lnTo>
                  <a:close/>
                </a:path>
              </a:pathLst>
            </a:custGeom>
            <a:blipFill>
              <a:blip r:embed="rId4"/>
              <a:stretch>
                <a:fillRect l="0" t="-1" r="0" b="0"/>
              </a:stretch>
            </a:blipFill>
          </p:spPr>
        </p:sp>
      </p:grpSp>
      <p:sp>
        <p:nvSpPr>
          <p:cNvPr name="TextBox 10" id="10"/>
          <p:cNvSpPr txBox="true"/>
          <p:nvPr/>
        </p:nvSpPr>
        <p:spPr>
          <a:xfrm rot="0">
            <a:off x="8960777" y="1000125"/>
            <a:ext cx="7088238" cy="914552"/>
          </a:xfrm>
          <a:prstGeom prst="rect">
            <a:avLst/>
          </a:prstGeom>
        </p:spPr>
        <p:txBody>
          <a:bodyPr anchor="t" rtlCol="false" tIns="0" lIns="0" bIns="0" rIns="0">
            <a:spAutoFit/>
          </a:bodyPr>
          <a:lstStyle/>
          <a:p>
            <a:pPr algn="l">
              <a:lnSpc>
                <a:spcPts val="6937"/>
              </a:lnSpc>
            </a:pPr>
            <a:r>
              <a:rPr lang="en-US" sz="5562">
                <a:solidFill>
                  <a:srgbClr val="1B1B27"/>
                </a:solidFill>
                <a:latin typeface="Corben"/>
                <a:ea typeface="Corben"/>
                <a:cs typeface="Corben"/>
                <a:sym typeface="Corben"/>
              </a:rPr>
              <a:t>UML Diagrams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grpSp>
        <p:nvGrpSpPr>
          <p:cNvPr name="Group 6" id="6"/>
          <p:cNvGrpSpPr/>
          <p:nvPr/>
        </p:nvGrpSpPr>
        <p:grpSpPr>
          <a:xfrm rot="0">
            <a:off x="3086707" y="2994397"/>
            <a:ext cx="3355210" cy="6136321"/>
            <a:chOff x="0" y="0"/>
            <a:chExt cx="4129715" cy="7552808"/>
          </a:xfrm>
        </p:grpSpPr>
        <p:sp>
          <p:nvSpPr>
            <p:cNvPr name="Freeform 7" id="7"/>
            <p:cNvSpPr/>
            <p:nvPr/>
          </p:nvSpPr>
          <p:spPr>
            <a:xfrm flipH="false" flipV="false" rot="0">
              <a:off x="0" y="0"/>
              <a:ext cx="4129715" cy="7552808"/>
            </a:xfrm>
            <a:custGeom>
              <a:avLst/>
              <a:gdLst/>
              <a:ahLst/>
              <a:cxnLst/>
              <a:rect r="r" b="b" t="t" l="l"/>
              <a:pathLst>
                <a:path h="7552808" w="4129715">
                  <a:moveTo>
                    <a:pt x="0" y="0"/>
                  </a:moveTo>
                  <a:lnTo>
                    <a:pt x="4129715" y="0"/>
                  </a:lnTo>
                  <a:lnTo>
                    <a:pt x="4129715" y="7552808"/>
                  </a:lnTo>
                  <a:lnTo>
                    <a:pt x="0" y="7552808"/>
                  </a:lnTo>
                  <a:lnTo>
                    <a:pt x="0" y="0"/>
                  </a:lnTo>
                  <a:close/>
                </a:path>
              </a:pathLst>
            </a:custGeom>
            <a:blipFill>
              <a:blip r:embed="rId3"/>
              <a:stretch>
                <a:fillRect l="-961" t="0" r="-961" b="0"/>
              </a:stretch>
            </a:blipFill>
          </p:spPr>
        </p:sp>
      </p:grpSp>
      <p:grpSp>
        <p:nvGrpSpPr>
          <p:cNvPr name="Group 8" id="8"/>
          <p:cNvGrpSpPr/>
          <p:nvPr/>
        </p:nvGrpSpPr>
        <p:grpSpPr>
          <a:xfrm rot="0">
            <a:off x="11845796" y="3121979"/>
            <a:ext cx="3422536" cy="6136321"/>
            <a:chOff x="0" y="0"/>
            <a:chExt cx="4212583" cy="7552808"/>
          </a:xfrm>
        </p:grpSpPr>
        <p:sp>
          <p:nvSpPr>
            <p:cNvPr name="Freeform 9" id="9"/>
            <p:cNvSpPr/>
            <p:nvPr/>
          </p:nvSpPr>
          <p:spPr>
            <a:xfrm flipH="false" flipV="false" rot="0">
              <a:off x="0" y="0"/>
              <a:ext cx="4212583" cy="7552808"/>
            </a:xfrm>
            <a:custGeom>
              <a:avLst/>
              <a:gdLst/>
              <a:ahLst/>
              <a:cxnLst/>
              <a:rect r="r" b="b" t="t" l="l"/>
              <a:pathLst>
                <a:path h="7552808" w="4212583">
                  <a:moveTo>
                    <a:pt x="0" y="0"/>
                  </a:moveTo>
                  <a:lnTo>
                    <a:pt x="4212583" y="0"/>
                  </a:lnTo>
                  <a:lnTo>
                    <a:pt x="4212583" y="7552808"/>
                  </a:lnTo>
                  <a:lnTo>
                    <a:pt x="0" y="7552808"/>
                  </a:lnTo>
                  <a:lnTo>
                    <a:pt x="0" y="0"/>
                  </a:lnTo>
                  <a:close/>
                </a:path>
              </a:pathLst>
            </a:custGeom>
            <a:blipFill>
              <a:blip r:embed="rId4"/>
              <a:stretch>
                <a:fillRect l="-63" t="0" r="-63" b="0"/>
              </a:stretch>
            </a:blipFill>
          </p:spPr>
        </p:sp>
      </p:grpSp>
      <p:grpSp>
        <p:nvGrpSpPr>
          <p:cNvPr name="Group 10" id="10"/>
          <p:cNvGrpSpPr/>
          <p:nvPr/>
        </p:nvGrpSpPr>
        <p:grpSpPr>
          <a:xfrm rot="0">
            <a:off x="7613492" y="2994397"/>
            <a:ext cx="3063549" cy="6136321"/>
            <a:chOff x="0" y="0"/>
            <a:chExt cx="3770728" cy="7552808"/>
          </a:xfrm>
        </p:grpSpPr>
        <p:sp>
          <p:nvSpPr>
            <p:cNvPr name="Freeform 11" id="11"/>
            <p:cNvSpPr/>
            <p:nvPr/>
          </p:nvSpPr>
          <p:spPr>
            <a:xfrm flipH="false" flipV="false" rot="0">
              <a:off x="0" y="0"/>
              <a:ext cx="3770728" cy="7552808"/>
            </a:xfrm>
            <a:custGeom>
              <a:avLst/>
              <a:gdLst/>
              <a:ahLst/>
              <a:cxnLst/>
              <a:rect r="r" b="b" t="t" l="l"/>
              <a:pathLst>
                <a:path h="7552808" w="3770728">
                  <a:moveTo>
                    <a:pt x="0" y="0"/>
                  </a:moveTo>
                  <a:lnTo>
                    <a:pt x="3770728" y="0"/>
                  </a:lnTo>
                  <a:lnTo>
                    <a:pt x="3770728" y="7552808"/>
                  </a:lnTo>
                  <a:lnTo>
                    <a:pt x="0" y="7552808"/>
                  </a:lnTo>
                  <a:lnTo>
                    <a:pt x="0" y="0"/>
                  </a:lnTo>
                  <a:close/>
                </a:path>
              </a:pathLst>
            </a:custGeom>
            <a:blipFill>
              <a:blip r:embed="rId5"/>
              <a:stretch>
                <a:fillRect l="-6237" t="0" r="-6237" b="0"/>
              </a:stretch>
            </a:blipFill>
          </p:spPr>
        </p:sp>
      </p:grpSp>
      <p:sp>
        <p:nvSpPr>
          <p:cNvPr name="TextBox 12" id="12"/>
          <p:cNvSpPr txBox="true"/>
          <p:nvPr/>
        </p:nvSpPr>
        <p:spPr>
          <a:xfrm rot="0">
            <a:off x="3019668" y="1389532"/>
            <a:ext cx="12248664" cy="871560"/>
          </a:xfrm>
          <a:prstGeom prst="rect">
            <a:avLst/>
          </a:prstGeom>
        </p:spPr>
        <p:txBody>
          <a:bodyPr anchor="t" rtlCol="false" tIns="0" lIns="0" bIns="0" rIns="0">
            <a:spAutoFit/>
          </a:bodyPr>
          <a:lstStyle/>
          <a:p>
            <a:pPr algn="ctr">
              <a:lnSpc>
                <a:spcPts val="6937"/>
              </a:lnSpc>
            </a:pPr>
            <a:r>
              <a:rPr lang="en-US" sz="5562">
                <a:solidFill>
                  <a:srgbClr val="1B1B27"/>
                </a:solidFill>
                <a:latin typeface="Corben"/>
                <a:ea typeface="Corben"/>
                <a:cs typeface="Corben"/>
                <a:sym typeface="Corben"/>
              </a:rPr>
              <a:t>Implementation - Common Activities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6685029" y="1000125"/>
            <a:ext cx="4917943" cy="871560"/>
          </a:xfrm>
          <a:prstGeom prst="rect">
            <a:avLst/>
          </a:prstGeom>
        </p:spPr>
        <p:txBody>
          <a:bodyPr anchor="t" rtlCol="false" tIns="0" lIns="0" bIns="0" rIns="0">
            <a:spAutoFit/>
          </a:bodyPr>
          <a:lstStyle/>
          <a:p>
            <a:pPr algn="ctr">
              <a:lnSpc>
                <a:spcPts val="6937"/>
              </a:lnSpc>
            </a:pPr>
            <a:r>
              <a:rPr lang="en-US" sz="5562">
                <a:solidFill>
                  <a:srgbClr val="1B1B27"/>
                </a:solidFill>
                <a:latin typeface="Corben"/>
                <a:ea typeface="Corben"/>
                <a:cs typeface="Corben"/>
                <a:sym typeface="Corben"/>
              </a:rPr>
              <a:t>Host Activities</a:t>
            </a:r>
          </a:p>
        </p:txBody>
      </p:sp>
      <p:grpSp>
        <p:nvGrpSpPr>
          <p:cNvPr name="Group 7" id="7"/>
          <p:cNvGrpSpPr/>
          <p:nvPr/>
        </p:nvGrpSpPr>
        <p:grpSpPr>
          <a:xfrm rot="0">
            <a:off x="1921143" y="2438705"/>
            <a:ext cx="4065938" cy="6819595"/>
            <a:chOff x="0" y="0"/>
            <a:chExt cx="4712792" cy="7904531"/>
          </a:xfrm>
        </p:grpSpPr>
        <p:sp>
          <p:nvSpPr>
            <p:cNvPr name="Freeform 8" id="8"/>
            <p:cNvSpPr/>
            <p:nvPr/>
          </p:nvSpPr>
          <p:spPr>
            <a:xfrm flipH="false" flipV="false" rot="0">
              <a:off x="0" y="0"/>
              <a:ext cx="4712792" cy="7904531"/>
            </a:xfrm>
            <a:custGeom>
              <a:avLst/>
              <a:gdLst/>
              <a:ahLst/>
              <a:cxnLst/>
              <a:rect r="r" b="b" t="t" l="l"/>
              <a:pathLst>
                <a:path h="7904531" w="4712792">
                  <a:moveTo>
                    <a:pt x="0" y="0"/>
                  </a:moveTo>
                  <a:lnTo>
                    <a:pt x="4712792" y="0"/>
                  </a:lnTo>
                  <a:lnTo>
                    <a:pt x="4712792" y="7904531"/>
                  </a:lnTo>
                  <a:lnTo>
                    <a:pt x="0" y="7904531"/>
                  </a:lnTo>
                  <a:lnTo>
                    <a:pt x="0" y="0"/>
                  </a:lnTo>
                  <a:close/>
                </a:path>
              </a:pathLst>
            </a:custGeom>
            <a:blipFill>
              <a:blip r:embed="rId3"/>
              <a:stretch>
                <a:fillRect l="0" t="-3088" r="0" b="-3088"/>
              </a:stretch>
            </a:blipFill>
          </p:spPr>
        </p:sp>
      </p:grpSp>
      <p:grpSp>
        <p:nvGrpSpPr>
          <p:cNvPr name="Group 9" id="9"/>
          <p:cNvGrpSpPr/>
          <p:nvPr/>
        </p:nvGrpSpPr>
        <p:grpSpPr>
          <a:xfrm rot="0">
            <a:off x="7111031" y="2438705"/>
            <a:ext cx="4065938" cy="6819595"/>
            <a:chOff x="0" y="0"/>
            <a:chExt cx="4712792" cy="7904531"/>
          </a:xfrm>
        </p:grpSpPr>
        <p:sp>
          <p:nvSpPr>
            <p:cNvPr name="Freeform 10" id="10"/>
            <p:cNvSpPr/>
            <p:nvPr/>
          </p:nvSpPr>
          <p:spPr>
            <a:xfrm flipH="false" flipV="false" rot="0">
              <a:off x="0" y="0"/>
              <a:ext cx="4712792" cy="7904531"/>
            </a:xfrm>
            <a:custGeom>
              <a:avLst/>
              <a:gdLst/>
              <a:ahLst/>
              <a:cxnLst/>
              <a:rect r="r" b="b" t="t" l="l"/>
              <a:pathLst>
                <a:path h="7904531" w="4712792">
                  <a:moveTo>
                    <a:pt x="0" y="0"/>
                  </a:moveTo>
                  <a:lnTo>
                    <a:pt x="4712792" y="0"/>
                  </a:lnTo>
                  <a:lnTo>
                    <a:pt x="4712792" y="7904531"/>
                  </a:lnTo>
                  <a:lnTo>
                    <a:pt x="0" y="7904531"/>
                  </a:lnTo>
                  <a:lnTo>
                    <a:pt x="0" y="0"/>
                  </a:lnTo>
                  <a:close/>
                </a:path>
              </a:pathLst>
            </a:custGeom>
            <a:blipFill>
              <a:blip r:embed="rId4"/>
              <a:stretch>
                <a:fillRect l="0" t="-2742" r="0" b="-2742"/>
              </a:stretch>
            </a:blipFill>
          </p:spPr>
        </p:sp>
      </p:grpSp>
      <p:grpSp>
        <p:nvGrpSpPr>
          <p:cNvPr name="Group 11" id="11"/>
          <p:cNvGrpSpPr/>
          <p:nvPr/>
        </p:nvGrpSpPr>
        <p:grpSpPr>
          <a:xfrm rot="0">
            <a:off x="12301384" y="2438705"/>
            <a:ext cx="4065938" cy="6819595"/>
            <a:chOff x="0" y="0"/>
            <a:chExt cx="4712792" cy="7904531"/>
          </a:xfrm>
        </p:grpSpPr>
        <p:sp>
          <p:nvSpPr>
            <p:cNvPr name="Freeform 12" id="12"/>
            <p:cNvSpPr/>
            <p:nvPr/>
          </p:nvSpPr>
          <p:spPr>
            <a:xfrm flipH="false" flipV="false" rot="0">
              <a:off x="0" y="0"/>
              <a:ext cx="4712792" cy="7904531"/>
            </a:xfrm>
            <a:custGeom>
              <a:avLst/>
              <a:gdLst/>
              <a:ahLst/>
              <a:cxnLst/>
              <a:rect r="r" b="b" t="t" l="l"/>
              <a:pathLst>
                <a:path h="7904531" w="4712792">
                  <a:moveTo>
                    <a:pt x="0" y="0"/>
                  </a:moveTo>
                  <a:lnTo>
                    <a:pt x="4712792" y="0"/>
                  </a:lnTo>
                  <a:lnTo>
                    <a:pt x="4712792" y="7904531"/>
                  </a:lnTo>
                  <a:lnTo>
                    <a:pt x="0" y="7904531"/>
                  </a:lnTo>
                  <a:lnTo>
                    <a:pt x="0" y="0"/>
                  </a:lnTo>
                  <a:close/>
                </a:path>
              </a:pathLst>
            </a:custGeom>
            <a:blipFill>
              <a:blip r:embed="rId5"/>
              <a:stretch>
                <a:fillRect l="0" t="-3112" r="0" b="-3112"/>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grpSp>
        <p:nvGrpSpPr>
          <p:cNvPr name="Group 6" id="6"/>
          <p:cNvGrpSpPr/>
          <p:nvPr/>
        </p:nvGrpSpPr>
        <p:grpSpPr>
          <a:xfrm rot="0">
            <a:off x="2678981" y="3541411"/>
            <a:ext cx="2726962" cy="5476453"/>
            <a:chOff x="0" y="0"/>
            <a:chExt cx="3407780" cy="6843712"/>
          </a:xfrm>
        </p:grpSpPr>
        <p:sp>
          <p:nvSpPr>
            <p:cNvPr name="Freeform 7" id="7"/>
            <p:cNvSpPr/>
            <p:nvPr/>
          </p:nvSpPr>
          <p:spPr>
            <a:xfrm flipH="false" flipV="false" rot="0">
              <a:off x="0" y="0"/>
              <a:ext cx="3407805" cy="6843655"/>
            </a:xfrm>
            <a:custGeom>
              <a:avLst/>
              <a:gdLst/>
              <a:ahLst/>
              <a:cxnLst/>
              <a:rect r="r" b="b" t="t" l="l"/>
              <a:pathLst>
                <a:path h="6843655" w="3407805">
                  <a:moveTo>
                    <a:pt x="0" y="0"/>
                  </a:moveTo>
                  <a:lnTo>
                    <a:pt x="3407805" y="0"/>
                  </a:lnTo>
                  <a:lnTo>
                    <a:pt x="3407805" y="6843655"/>
                  </a:lnTo>
                  <a:lnTo>
                    <a:pt x="0" y="6843655"/>
                  </a:lnTo>
                  <a:lnTo>
                    <a:pt x="0" y="0"/>
                  </a:lnTo>
                  <a:close/>
                </a:path>
              </a:pathLst>
            </a:custGeom>
            <a:blipFill>
              <a:blip r:embed="rId3"/>
              <a:stretch>
                <a:fillRect l="-6132" t="0" r="-6132" b="0"/>
              </a:stretch>
            </a:blipFill>
          </p:spPr>
        </p:sp>
      </p:grpSp>
      <p:grpSp>
        <p:nvGrpSpPr>
          <p:cNvPr name="Group 8" id="8"/>
          <p:cNvGrpSpPr/>
          <p:nvPr/>
        </p:nvGrpSpPr>
        <p:grpSpPr>
          <a:xfrm rot="0">
            <a:off x="6225094" y="3541411"/>
            <a:ext cx="2726962" cy="5476453"/>
            <a:chOff x="0" y="0"/>
            <a:chExt cx="3407780" cy="6843712"/>
          </a:xfrm>
        </p:grpSpPr>
        <p:sp>
          <p:nvSpPr>
            <p:cNvPr name="Freeform 9" id="9"/>
            <p:cNvSpPr/>
            <p:nvPr/>
          </p:nvSpPr>
          <p:spPr>
            <a:xfrm flipH="false" flipV="false" rot="0">
              <a:off x="0" y="0"/>
              <a:ext cx="3407805" cy="6843655"/>
            </a:xfrm>
            <a:custGeom>
              <a:avLst/>
              <a:gdLst/>
              <a:ahLst/>
              <a:cxnLst/>
              <a:rect r="r" b="b" t="t" l="l"/>
              <a:pathLst>
                <a:path h="6843655" w="3407805">
                  <a:moveTo>
                    <a:pt x="0" y="0"/>
                  </a:moveTo>
                  <a:lnTo>
                    <a:pt x="3407805" y="0"/>
                  </a:lnTo>
                  <a:lnTo>
                    <a:pt x="3407805" y="6843655"/>
                  </a:lnTo>
                  <a:lnTo>
                    <a:pt x="0" y="6843655"/>
                  </a:lnTo>
                  <a:lnTo>
                    <a:pt x="0" y="0"/>
                  </a:lnTo>
                  <a:close/>
                </a:path>
              </a:pathLst>
            </a:custGeom>
            <a:blipFill>
              <a:blip r:embed="rId4"/>
              <a:stretch>
                <a:fillRect l="-6139" t="0" r="-6139" b="0"/>
              </a:stretch>
            </a:blipFill>
          </p:spPr>
        </p:sp>
      </p:grpSp>
      <p:grpSp>
        <p:nvGrpSpPr>
          <p:cNvPr name="Group 10" id="10"/>
          <p:cNvGrpSpPr/>
          <p:nvPr/>
        </p:nvGrpSpPr>
        <p:grpSpPr>
          <a:xfrm rot="0">
            <a:off x="13322053" y="3541411"/>
            <a:ext cx="2726962" cy="5476453"/>
            <a:chOff x="0" y="0"/>
            <a:chExt cx="3407780" cy="6843712"/>
          </a:xfrm>
        </p:grpSpPr>
        <p:sp>
          <p:nvSpPr>
            <p:cNvPr name="Freeform 11" id="11"/>
            <p:cNvSpPr/>
            <p:nvPr/>
          </p:nvSpPr>
          <p:spPr>
            <a:xfrm flipH="false" flipV="false" rot="0">
              <a:off x="0" y="0"/>
              <a:ext cx="3407805" cy="6843655"/>
            </a:xfrm>
            <a:custGeom>
              <a:avLst/>
              <a:gdLst/>
              <a:ahLst/>
              <a:cxnLst/>
              <a:rect r="r" b="b" t="t" l="l"/>
              <a:pathLst>
                <a:path h="6843655" w="3407805">
                  <a:moveTo>
                    <a:pt x="0" y="0"/>
                  </a:moveTo>
                  <a:lnTo>
                    <a:pt x="3407805" y="0"/>
                  </a:lnTo>
                  <a:lnTo>
                    <a:pt x="3407805" y="6843655"/>
                  </a:lnTo>
                  <a:lnTo>
                    <a:pt x="0" y="6843655"/>
                  </a:lnTo>
                  <a:lnTo>
                    <a:pt x="0" y="0"/>
                  </a:lnTo>
                  <a:close/>
                </a:path>
              </a:pathLst>
            </a:custGeom>
            <a:blipFill>
              <a:blip r:embed="rId5"/>
              <a:stretch>
                <a:fillRect l="-6286" t="0" r="-6286" b="0"/>
              </a:stretch>
            </a:blipFill>
          </p:spPr>
        </p:sp>
      </p:grpSp>
      <p:grpSp>
        <p:nvGrpSpPr>
          <p:cNvPr name="Group 12" id="12"/>
          <p:cNvGrpSpPr/>
          <p:nvPr/>
        </p:nvGrpSpPr>
        <p:grpSpPr>
          <a:xfrm rot="0">
            <a:off x="9771206" y="3541411"/>
            <a:ext cx="2726962" cy="5476453"/>
            <a:chOff x="0" y="0"/>
            <a:chExt cx="3407780" cy="6843712"/>
          </a:xfrm>
        </p:grpSpPr>
        <p:sp>
          <p:nvSpPr>
            <p:cNvPr name="Freeform 13" id="13"/>
            <p:cNvSpPr/>
            <p:nvPr/>
          </p:nvSpPr>
          <p:spPr>
            <a:xfrm flipH="false" flipV="false" rot="0">
              <a:off x="0" y="0"/>
              <a:ext cx="3407805" cy="6843655"/>
            </a:xfrm>
            <a:custGeom>
              <a:avLst/>
              <a:gdLst/>
              <a:ahLst/>
              <a:cxnLst/>
              <a:rect r="r" b="b" t="t" l="l"/>
              <a:pathLst>
                <a:path h="6843655" w="3407805">
                  <a:moveTo>
                    <a:pt x="0" y="0"/>
                  </a:moveTo>
                  <a:lnTo>
                    <a:pt x="3407805" y="0"/>
                  </a:lnTo>
                  <a:lnTo>
                    <a:pt x="3407805" y="6843655"/>
                  </a:lnTo>
                  <a:lnTo>
                    <a:pt x="0" y="6843655"/>
                  </a:lnTo>
                  <a:lnTo>
                    <a:pt x="0" y="0"/>
                  </a:lnTo>
                  <a:close/>
                </a:path>
              </a:pathLst>
            </a:custGeom>
            <a:blipFill>
              <a:blip r:embed="rId6"/>
              <a:stretch>
                <a:fillRect l="-6459" t="0" r="-6459" b="0"/>
              </a:stretch>
            </a:blipFill>
          </p:spPr>
        </p:sp>
      </p:grpSp>
      <p:sp>
        <p:nvSpPr>
          <p:cNvPr name="TextBox 14" id="14"/>
          <p:cNvSpPr txBox="true"/>
          <p:nvPr/>
        </p:nvSpPr>
        <p:spPr>
          <a:xfrm rot="0">
            <a:off x="6188494" y="1499727"/>
            <a:ext cx="5911012" cy="871560"/>
          </a:xfrm>
          <a:prstGeom prst="rect">
            <a:avLst/>
          </a:prstGeom>
        </p:spPr>
        <p:txBody>
          <a:bodyPr anchor="t" rtlCol="false" tIns="0" lIns="0" bIns="0" rIns="0">
            <a:spAutoFit/>
          </a:bodyPr>
          <a:lstStyle/>
          <a:p>
            <a:pPr algn="ctr">
              <a:lnSpc>
                <a:spcPts val="6937"/>
              </a:lnSpc>
            </a:pPr>
            <a:r>
              <a:rPr lang="en-US" sz="5562">
                <a:solidFill>
                  <a:srgbClr val="1B1B27"/>
                </a:solidFill>
                <a:latin typeface="Corben"/>
                <a:ea typeface="Corben"/>
                <a:cs typeface="Corben"/>
                <a:sym typeface="Corben"/>
              </a:rPr>
              <a:t>Student Activities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2433342"/>
            <a:ext cx="7088238" cy="914552"/>
          </a:xfrm>
          <a:prstGeom prst="rect">
            <a:avLst/>
          </a:prstGeom>
        </p:spPr>
        <p:txBody>
          <a:bodyPr anchor="t" rtlCol="false" tIns="0" lIns="0" bIns="0" rIns="0">
            <a:spAutoFit/>
          </a:bodyPr>
          <a:lstStyle/>
          <a:p>
            <a:pPr algn="l">
              <a:lnSpc>
                <a:spcPts val="6937"/>
              </a:lnSpc>
            </a:pPr>
            <a:r>
              <a:rPr lang="en-US" sz="5562">
                <a:solidFill>
                  <a:srgbClr val="1B1B27"/>
                </a:solidFill>
                <a:latin typeface="Corben"/>
                <a:ea typeface="Corben"/>
                <a:cs typeface="Corben"/>
                <a:sym typeface="Corben"/>
              </a:rPr>
              <a:t>Advantages</a:t>
            </a:r>
          </a:p>
        </p:txBody>
      </p:sp>
      <p:grpSp>
        <p:nvGrpSpPr>
          <p:cNvPr name="Group 7" id="7"/>
          <p:cNvGrpSpPr/>
          <p:nvPr/>
        </p:nvGrpSpPr>
        <p:grpSpPr>
          <a:xfrm rot="0">
            <a:off x="987476" y="3910165"/>
            <a:ext cx="3872655" cy="3919690"/>
            <a:chOff x="0" y="0"/>
            <a:chExt cx="5163541" cy="5226253"/>
          </a:xfrm>
        </p:grpSpPr>
        <p:sp>
          <p:nvSpPr>
            <p:cNvPr name="Freeform 8" id="8"/>
            <p:cNvSpPr/>
            <p:nvPr/>
          </p:nvSpPr>
          <p:spPr>
            <a:xfrm flipH="false" flipV="false" rot="0">
              <a:off x="6350" y="6350"/>
              <a:ext cx="5150739" cy="5213477"/>
            </a:xfrm>
            <a:custGeom>
              <a:avLst/>
              <a:gdLst/>
              <a:ahLst/>
              <a:cxnLst/>
              <a:rect r="r" b="b" t="t" l="l"/>
              <a:pathLst>
                <a:path h="5213477" w="5150739">
                  <a:moveTo>
                    <a:pt x="0" y="158750"/>
                  </a:moveTo>
                  <a:cubicBezTo>
                    <a:pt x="0" y="71120"/>
                    <a:pt x="71120" y="0"/>
                    <a:pt x="158750" y="0"/>
                  </a:cubicBezTo>
                  <a:lnTo>
                    <a:pt x="4991989" y="0"/>
                  </a:lnTo>
                  <a:cubicBezTo>
                    <a:pt x="5079746" y="0"/>
                    <a:pt x="5150739" y="71120"/>
                    <a:pt x="5150739" y="158750"/>
                  </a:cubicBezTo>
                  <a:lnTo>
                    <a:pt x="5150739" y="5054727"/>
                  </a:lnTo>
                  <a:cubicBezTo>
                    <a:pt x="5150739" y="5142484"/>
                    <a:pt x="5079619" y="5213477"/>
                    <a:pt x="4991989" y="5213477"/>
                  </a:cubicBezTo>
                  <a:lnTo>
                    <a:pt x="158750" y="5213477"/>
                  </a:lnTo>
                  <a:cubicBezTo>
                    <a:pt x="70993" y="5213477"/>
                    <a:pt x="0" y="5142357"/>
                    <a:pt x="0" y="5054727"/>
                  </a:cubicBezTo>
                  <a:close/>
                </a:path>
              </a:pathLst>
            </a:custGeom>
            <a:solidFill>
              <a:srgbClr val="D2D9F9"/>
            </a:solidFill>
          </p:spPr>
        </p:sp>
        <p:sp>
          <p:nvSpPr>
            <p:cNvPr name="Freeform 9" id="9"/>
            <p:cNvSpPr/>
            <p:nvPr/>
          </p:nvSpPr>
          <p:spPr>
            <a:xfrm flipH="false" flipV="false" rot="0">
              <a:off x="0" y="0"/>
              <a:ext cx="5163439" cy="5226177"/>
            </a:xfrm>
            <a:custGeom>
              <a:avLst/>
              <a:gdLst/>
              <a:ahLst/>
              <a:cxnLst/>
              <a:rect r="r" b="b" t="t" l="l"/>
              <a:pathLst>
                <a:path h="5226177" w="5163439">
                  <a:moveTo>
                    <a:pt x="0" y="165100"/>
                  </a:moveTo>
                  <a:cubicBezTo>
                    <a:pt x="0" y="73914"/>
                    <a:pt x="73914" y="0"/>
                    <a:pt x="165100" y="0"/>
                  </a:cubicBezTo>
                  <a:lnTo>
                    <a:pt x="4998339" y="0"/>
                  </a:lnTo>
                  <a:lnTo>
                    <a:pt x="4998339" y="6350"/>
                  </a:lnTo>
                  <a:lnTo>
                    <a:pt x="4998339" y="0"/>
                  </a:lnTo>
                  <a:cubicBezTo>
                    <a:pt x="5089525" y="0"/>
                    <a:pt x="5163439" y="73914"/>
                    <a:pt x="5163439" y="165100"/>
                  </a:cubicBezTo>
                  <a:lnTo>
                    <a:pt x="5157089" y="165100"/>
                  </a:lnTo>
                  <a:lnTo>
                    <a:pt x="5163439" y="165100"/>
                  </a:lnTo>
                  <a:lnTo>
                    <a:pt x="5163439" y="5061077"/>
                  </a:lnTo>
                  <a:lnTo>
                    <a:pt x="5157089" y="5061077"/>
                  </a:lnTo>
                  <a:lnTo>
                    <a:pt x="5163439" y="5061077"/>
                  </a:lnTo>
                  <a:cubicBezTo>
                    <a:pt x="5163439" y="5152263"/>
                    <a:pt x="5089525" y="5226177"/>
                    <a:pt x="4998339" y="5226177"/>
                  </a:cubicBezTo>
                  <a:lnTo>
                    <a:pt x="4998339" y="5219827"/>
                  </a:lnTo>
                  <a:lnTo>
                    <a:pt x="4998339" y="5226177"/>
                  </a:lnTo>
                  <a:lnTo>
                    <a:pt x="165100" y="5226177"/>
                  </a:lnTo>
                  <a:lnTo>
                    <a:pt x="165100" y="5219827"/>
                  </a:lnTo>
                  <a:lnTo>
                    <a:pt x="165100" y="5226177"/>
                  </a:lnTo>
                  <a:cubicBezTo>
                    <a:pt x="73914" y="5226177"/>
                    <a:pt x="0" y="5152263"/>
                    <a:pt x="0" y="5061077"/>
                  </a:cubicBezTo>
                  <a:lnTo>
                    <a:pt x="0" y="165100"/>
                  </a:lnTo>
                  <a:lnTo>
                    <a:pt x="6350" y="165100"/>
                  </a:lnTo>
                  <a:lnTo>
                    <a:pt x="0" y="165100"/>
                  </a:lnTo>
                  <a:moveTo>
                    <a:pt x="12700" y="165100"/>
                  </a:moveTo>
                  <a:lnTo>
                    <a:pt x="12700" y="5061077"/>
                  </a:lnTo>
                  <a:lnTo>
                    <a:pt x="6350" y="5061077"/>
                  </a:lnTo>
                  <a:lnTo>
                    <a:pt x="12700" y="5061077"/>
                  </a:lnTo>
                  <a:cubicBezTo>
                    <a:pt x="12700" y="5145278"/>
                    <a:pt x="80899" y="5213477"/>
                    <a:pt x="165100" y="5213477"/>
                  </a:cubicBezTo>
                  <a:lnTo>
                    <a:pt x="4998339" y="5213477"/>
                  </a:lnTo>
                  <a:cubicBezTo>
                    <a:pt x="5082540" y="5213477"/>
                    <a:pt x="5150739" y="5145278"/>
                    <a:pt x="5150739" y="5061077"/>
                  </a:cubicBezTo>
                  <a:lnTo>
                    <a:pt x="5150739" y="165100"/>
                  </a:lnTo>
                  <a:cubicBezTo>
                    <a:pt x="5150739" y="80899"/>
                    <a:pt x="5082540" y="12700"/>
                    <a:pt x="4998339" y="12700"/>
                  </a:cubicBezTo>
                  <a:lnTo>
                    <a:pt x="165100" y="12700"/>
                  </a:lnTo>
                  <a:lnTo>
                    <a:pt x="165100" y="6350"/>
                  </a:lnTo>
                  <a:lnTo>
                    <a:pt x="165100" y="12700"/>
                  </a:lnTo>
                  <a:cubicBezTo>
                    <a:pt x="80899" y="12700"/>
                    <a:pt x="12700" y="80899"/>
                    <a:pt x="12700" y="165100"/>
                  </a:cubicBezTo>
                  <a:close/>
                </a:path>
              </a:pathLst>
            </a:custGeom>
            <a:solidFill>
              <a:srgbClr val="B8BFDF"/>
            </a:solidFill>
          </p:spPr>
        </p:sp>
      </p:grpSp>
      <p:sp>
        <p:nvSpPr>
          <p:cNvPr name="TextBox 10" id="10"/>
          <p:cNvSpPr txBox="true"/>
          <p:nvPr/>
        </p:nvSpPr>
        <p:spPr>
          <a:xfrm rot="0">
            <a:off x="1285284" y="4198439"/>
            <a:ext cx="3277048"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Ensures fairness</a:t>
            </a:r>
          </a:p>
        </p:txBody>
      </p:sp>
      <p:sp>
        <p:nvSpPr>
          <p:cNvPr name="TextBox 11" id="11"/>
          <p:cNvSpPr txBox="true"/>
          <p:nvPr/>
        </p:nvSpPr>
        <p:spPr>
          <a:xfrm rot="0">
            <a:off x="1285284" y="4716218"/>
            <a:ext cx="3277048" cy="1012031"/>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Equal opportunities for all students</a:t>
            </a:r>
          </a:p>
        </p:txBody>
      </p:sp>
      <p:grpSp>
        <p:nvGrpSpPr>
          <p:cNvPr name="Group 12" id="12"/>
          <p:cNvGrpSpPr/>
          <p:nvPr/>
        </p:nvGrpSpPr>
        <p:grpSpPr>
          <a:xfrm rot="0">
            <a:off x="5134127" y="3910165"/>
            <a:ext cx="3872808" cy="3919690"/>
            <a:chOff x="0" y="0"/>
            <a:chExt cx="5163744" cy="5226253"/>
          </a:xfrm>
        </p:grpSpPr>
        <p:sp>
          <p:nvSpPr>
            <p:cNvPr name="Freeform 13" id="13"/>
            <p:cNvSpPr/>
            <p:nvPr/>
          </p:nvSpPr>
          <p:spPr>
            <a:xfrm flipH="false" flipV="false" rot="0">
              <a:off x="6350" y="6350"/>
              <a:ext cx="5150993" cy="5213477"/>
            </a:xfrm>
            <a:custGeom>
              <a:avLst/>
              <a:gdLst/>
              <a:ahLst/>
              <a:cxnLst/>
              <a:rect r="r" b="b" t="t" l="l"/>
              <a:pathLst>
                <a:path h="5213477" w="5150993">
                  <a:moveTo>
                    <a:pt x="0" y="158750"/>
                  </a:moveTo>
                  <a:cubicBezTo>
                    <a:pt x="0" y="71120"/>
                    <a:pt x="71120" y="0"/>
                    <a:pt x="158750" y="0"/>
                  </a:cubicBezTo>
                  <a:lnTo>
                    <a:pt x="4992243" y="0"/>
                  </a:lnTo>
                  <a:cubicBezTo>
                    <a:pt x="5079873" y="0"/>
                    <a:pt x="5150993" y="71120"/>
                    <a:pt x="5150993" y="158750"/>
                  </a:cubicBezTo>
                  <a:lnTo>
                    <a:pt x="5150993" y="5054727"/>
                  </a:lnTo>
                  <a:cubicBezTo>
                    <a:pt x="5150993" y="5142357"/>
                    <a:pt x="5079873" y="5213477"/>
                    <a:pt x="4992243" y="5213477"/>
                  </a:cubicBezTo>
                  <a:lnTo>
                    <a:pt x="158750" y="5213477"/>
                  </a:lnTo>
                  <a:cubicBezTo>
                    <a:pt x="71120" y="5213477"/>
                    <a:pt x="0" y="5142357"/>
                    <a:pt x="0" y="5054727"/>
                  </a:cubicBezTo>
                  <a:close/>
                </a:path>
              </a:pathLst>
            </a:custGeom>
            <a:solidFill>
              <a:srgbClr val="D2D9F9"/>
            </a:solidFill>
          </p:spPr>
        </p:sp>
        <p:sp>
          <p:nvSpPr>
            <p:cNvPr name="Freeform 14" id="14"/>
            <p:cNvSpPr/>
            <p:nvPr/>
          </p:nvSpPr>
          <p:spPr>
            <a:xfrm flipH="false" flipV="false" rot="0">
              <a:off x="0" y="0"/>
              <a:ext cx="5163693" cy="5226177"/>
            </a:xfrm>
            <a:custGeom>
              <a:avLst/>
              <a:gdLst/>
              <a:ahLst/>
              <a:cxnLst/>
              <a:rect r="r" b="b" t="t" l="l"/>
              <a:pathLst>
                <a:path h="5226177" w="5163693">
                  <a:moveTo>
                    <a:pt x="0" y="165100"/>
                  </a:moveTo>
                  <a:cubicBezTo>
                    <a:pt x="0" y="73914"/>
                    <a:pt x="73914" y="0"/>
                    <a:pt x="165100" y="0"/>
                  </a:cubicBezTo>
                  <a:lnTo>
                    <a:pt x="4998593" y="0"/>
                  </a:lnTo>
                  <a:lnTo>
                    <a:pt x="4998593" y="6350"/>
                  </a:lnTo>
                  <a:lnTo>
                    <a:pt x="4998593" y="0"/>
                  </a:lnTo>
                  <a:cubicBezTo>
                    <a:pt x="5089779" y="0"/>
                    <a:pt x="5163693" y="73914"/>
                    <a:pt x="5163693" y="165100"/>
                  </a:cubicBezTo>
                  <a:lnTo>
                    <a:pt x="5157343" y="165100"/>
                  </a:lnTo>
                  <a:lnTo>
                    <a:pt x="5163693" y="165100"/>
                  </a:lnTo>
                  <a:lnTo>
                    <a:pt x="5163693" y="5061077"/>
                  </a:lnTo>
                  <a:lnTo>
                    <a:pt x="5157343" y="5061077"/>
                  </a:lnTo>
                  <a:lnTo>
                    <a:pt x="5163693" y="5061077"/>
                  </a:lnTo>
                  <a:cubicBezTo>
                    <a:pt x="5163693" y="5152263"/>
                    <a:pt x="5089779" y="5226177"/>
                    <a:pt x="4998593" y="5226177"/>
                  </a:cubicBezTo>
                  <a:lnTo>
                    <a:pt x="4998593" y="5219827"/>
                  </a:lnTo>
                  <a:lnTo>
                    <a:pt x="4998593" y="5226177"/>
                  </a:lnTo>
                  <a:lnTo>
                    <a:pt x="165100" y="5226177"/>
                  </a:lnTo>
                  <a:lnTo>
                    <a:pt x="165100" y="5219827"/>
                  </a:lnTo>
                  <a:lnTo>
                    <a:pt x="165100" y="5226177"/>
                  </a:lnTo>
                  <a:cubicBezTo>
                    <a:pt x="73914" y="5226177"/>
                    <a:pt x="0" y="5152263"/>
                    <a:pt x="0" y="5061077"/>
                  </a:cubicBezTo>
                  <a:lnTo>
                    <a:pt x="0" y="165100"/>
                  </a:lnTo>
                  <a:lnTo>
                    <a:pt x="6350" y="165100"/>
                  </a:lnTo>
                  <a:lnTo>
                    <a:pt x="0" y="165100"/>
                  </a:lnTo>
                  <a:moveTo>
                    <a:pt x="12700" y="165100"/>
                  </a:moveTo>
                  <a:lnTo>
                    <a:pt x="12700" y="5061077"/>
                  </a:lnTo>
                  <a:lnTo>
                    <a:pt x="6350" y="5061077"/>
                  </a:lnTo>
                  <a:lnTo>
                    <a:pt x="12700" y="5061077"/>
                  </a:lnTo>
                  <a:cubicBezTo>
                    <a:pt x="12700" y="5145278"/>
                    <a:pt x="80899" y="5213477"/>
                    <a:pt x="165100" y="5213477"/>
                  </a:cubicBezTo>
                  <a:lnTo>
                    <a:pt x="4998593" y="5213477"/>
                  </a:lnTo>
                  <a:cubicBezTo>
                    <a:pt x="5082794" y="5213477"/>
                    <a:pt x="5150993" y="5145278"/>
                    <a:pt x="5150993" y="5061077"/>
                  </a:cubicBezTo>
                  <a:lnTo>
                    <a:pt x="5150993" y="165100"/>
                  </a:lnTo>
                  <a:cubicBezTo>
                    <a:pt x="5150993" y="80899"/>
                    <a:pt x="5082794" y="12700"/>
                    <a:pt x="4998593" y="12700"/>
                  </a:cubicBezTo>
                  <a:lnTo>
                    <a:pt x="165100" y="12700"/>
                  </a:lnTo>
                  <a:lnTo>
                    <a:pt x="165100" y="6350"/>
                  </a:lnTo>
                  <a:lnTo>
                    <a:pt x="165100" y="12700"/>
                  </a:lnTo>
                  <a:cubicBezTo>
                    <a:pt x="80899" y="12700"/>
                    <a:pt x="12700" y="80899"/>
                    <a:pt x="12700" y="165100"/>
                  </a:cubicBezTo>
                  <a:close/>
                </a:path>
              </a:pathLst>
            </a:custGeom>
            <a:solidFill>
              <a:srgbClr val="B8BFDF"/>
            </a:solidFill>
          </p:spPr>
        </p:sp>
      </p:grpSp>
      <p:sp>
        <p:nvSpPr>
          <p:cNvPr name="TextBox 15" id="15"/>
          <p:cNvSpPr txBox="true"/>
          <p:nvPr/>
        </p:nvSpPr>
        <p:spPr>
          <a:xfrm rot="0">
            <a:off x="5431927" y="4198439"/>
            <a:ext cx="3277191"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Improves genuine learning</a:t>
            </a:r>
          </a:p>
        </p:txBody>
      </p:sp>
      <p:sp>
        <p:nvSpPr>
          <p:cNvPr name="TextBox 16" id="16"/>
          <p:cNvSpPr txBox="true"/>
          <p:nvPr/>
        </p:nvSpPr>
        <p:spPr>
          <a:xfrm rot="0">
            <a:off x="5431927" y="5159131"/>
            <a:ext cx="3277191" cy="1012031"/>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Encourages self-study and discipline</a:t>
            </a:r>
          </a:p>
        </p:txBody>
      </p:sp>
      <p:grpSp>
        <p:nvGrpSpPr>
          <p:cNvPr name="Group 17" id="17"/>
          <p:cNvGrpSpPr/>
          <p:nvPr/>
        </p:nvGrpSpPr>
        <p:grpSpPr>
          <a:xfrm rot="0">
            <a:off x="9280922" y="3910165"/>
            <a:ext cx="3872808" cy="3919690"/>
            <a:chOff x="0" y="0"/>
            <a:chExt cx="5163744" cy="5226253"/>
          </a:xfrm>
        </p:grpSpPr>
        <p:sp>
          <p:nvSpPr>
            <p:cNvPr name="Freeform 18" id="18"/>
            <p:cNvSpPr/>
            <p:nvPr/>
          </p:nvSpPr>
          <p:spPr>
            <a:xfrm flipH="false" flipV="false" rot="0">
              <a:off x="6350" y="6350"/>
              <a:ext cx="5150993" cy="5213477"/>
            </a:xfrm>
            <a:custGeom>
              <a:avLst/>
              <a:gdLst/>
              <a:ahLst/>
              <a:cxnLst/>
              <a:rect r="r" b="b" t="t" l="l"/>
              <a:pathLst>
                <a:path h="5213477" w="5150993">
                  <a:moveTo>
                    <a:pt x="0" y="158750"/>
                  </a:moveTo>
                  <a:cubicBezTo>
                    <a:pt x="0" y="71120"/>
                    <a:pt x="71120" y="0"/>
                    <a:pt x="158750" y="0"/>
                  </a:cubicBezTo>
                  <a:lnTo>
                    <a:pt x="4992243" y="0"/>
                  </a:lnTo>
                  <a:cubicBezTo>
                    <a:pt x="5079873" y="0"/>
                    <a:pt x="5150993" y="71120"/>
                    <a:pt x="5150993" y="158750"/>
                  </a:cubicBezTo>
                  <a:lnTo>
                    <a:pt x="5150993" y="5054727"/>
                  </a:lnTo>
                  <a:cubicBezTo>
                    <a:pt x="5150993" y="5142357"/>
                    <a:pt x="5079873" y="5213477"/>
                    <a:pt x="4992243" y="5213477"/>
                  </a:cubicBezTo>
                  <a:lnTo>
                    <a:pt x="158750" y="5213477"/>
                  </a:lnTo>
                  <a:cubicBezTo>
                    <a:pt x="71120" y="5213477"/>
                    <a:pt x="0" y="5142357"/>
                    <a:pt x="0" y="5054727"/>
                  </a:cubicBezTo>
                  <a:close/>
                </a:path>
              </a:pathLst>
            </a:custGeom>
            <a:solidFill>
              <a:srgbClr val="D2D9F9"/>
            </a:solidFill>
          </p:spPr>
        </p:sp>
        <p:sp>
          <p:nvSpPr>
            <p:cNvPr name="Freeform 19" id="19"/>
            <p:cNvSpPr/>
            <p:nvPr/>
          </p:nvSpPr>
          <p:spPr>
            <a:xfrm flipH="false" flipV="false" rot="0">
              <a:off x="0" y="0"/>
              <a:ext cx="5163693" cy="5226177"/>
            </a:xfrm>
            <a:custGeom>
              <a:avLst/>
              <a:gdLst/>
              <a:ahLst/>
              <a:cxnLst/>
              <a:rect r="r" b="b" t="t" l="l"/>
              <a:pathLst>
                <a:path h="5226177" w="5163693">
                  <a:moveTo>
                    <a:pt x="0" y="165100"/>
                  </a:moveTo>
                  <a:cubicBezTo>
                    <a:pt x="0" y="73914"/>
                    <a:pt x="73914" y="0"/>
                    <a:pt x="165100" y="0"/>
                  </a:cubicBezTo>
                  <a:lnTo>
                    <a:pt x="4998593" y="0"/>
                  </a:lnTo>
                  <a:lnTo>
                    <a:pt x="4998593" y="6350"/>
                  </a:lnTo>
                  <a:lnTo>
                    <a:pt x="4998593" y="0"/>
                  </a:lnTo>
                  <a:cubicBezTo>
                    <a:pt x="5089779" y="0"/>
                    <a:pt x="5163693" y="73914"/>
                    <a:pt x="5163693" y="165100"/>
                  </a:cubicBezTo>
                  <a:lnTo>
                    <a:pt x="5157343" y="165100"/>
                  </a:lnTo>
                  <a:lnTo>
                    <a:pt x="5163693" y="165100"/>
                  </a:lnTo>
                  <a:lnTo>
                    <a:pt x="5163693" y="5061077"/>
                  </a:lnTo>
                  <a:lnTo>
                    <a:pt x="5157343" y="5061077"/>
                  </a:lnTo>
                  <a:lnTo>
                    <a:pt x="5163693" y="5061077"/>
                  </a:lnTo>
                  <a:cubicBezTo>
                    <a:pt x="5163693" y="5152263"/>
                    <a:pt x="5089779" y="5226177"/>
                    <a:pt x="4998593" y="5226177"/>
                  </a:cubicBezTo>
                  <a:lnTo>
                    <a:pt x="4998593" y="5219827"/>
                  </a:lnTo>
                  <a:lnTo>
                    <a:pt x="4998593" y="5226177"/>
                  </a:lnTo>
                  <a:lnTo>
                    <a:pt x="165100" y="5226177"/>
                  </a:lnTo>
                  <a:lnTo>
                    <a:pt x="165100" y="5219827"/>
                  </a:lnTo>
                  <a:lnTo>
                    <a:pt x="165100" y="5226177"/>
                  </a:lnTo>
                  <a:cubicBezTo>
                    <a:pt x="73914" y="5226177"/>
                    <a:pt x="0" y="5152263"/>
                    <a:pt x="0" y="5061077"/>
                  </a:cubicBezTo>
                  <a:lnTo>
                    <a:pt x="0" y="165100"/>
                  </a:lnTo>
                  <a:lnTo>
                    <a:pt x="6350" y="165100"/>
                  </a:lnTo>
                  <a:lnTo>
                    <a:pt x="0" y="165100"/>
                  </a:lnTo>
                  <a:moveTo>
                    <a:pt x="12700" y="165100"/>
                  </a:moveTo>
                  <a:lnTo>
                    <a:pt x="12700" y="5061077"/>
                  </a:lnTo>
                  <a:lnTo>
                    <a:pt x="6350" y="5061077"/>
                  </a:lnTo>
                  <a:lnTo>
                    <a:pt x="12700" y="5061077"/>
                  </a:lnTo>
                  <a:cubicBezTo>
                    <a:pt x="12700" y="5145278"/>
                    <a:pt x="80899" y="5213477"/>
                    <a:pt x="165100" y="5213477"/>
                  </a:cubicBezTo>
                  <a:lnTo>
                    <a:pt x="4998593" y="5213477"/>
                  </a:lnTo>
                  <a:cubicBezTo>
                    <a:pt x="5082794" y="5213477"/>
                    <a:pt x="5150993" y="5145278"/>
                    <a:pt x="5150993" y="5061077"/>
                  </a:cubicBezTo>
                  <a:lnTo>
                    <a:pt x="5150993" y="165100"/>
                  </a:lnTo>
                  <a:cubicBezTo>
                    <a:pt x="5150993" y="80899"/>
                    <a:pt x="5082794" y="12700"/>
                    <a:pt x="4998593" y="12700"/>
                  </a:cubicBezTo>
                  <a:lnTo>
                    <a:pt x="165100" y="12700"/>
                  </a:lnTo>
                  <a:lnTo>
                    <a:pt x="165100" y="6350"/>
                  </a:lnTo>
                  <a:lnTo>
                    <a:pt x="165100" y="12700"/>
                  </a:lnTo>
                  <a:cubicBezTo>
                    <a:pt x="80899" y="12700"/>
                    <a:pt x="12700" y="80899"/>
                    <a:pt x="12700" y="165100"/>
                  </a:cubicBezTo>
                  <a:close/>
                </a:path>
              </a:pathLst>
            </a:custGeom>
            <a:solidFill>
              <a:srgbClr val="B8BFDF"/>
            </a:solidFill>
          </p:spPr>
        </p:sp>
      </p:grpSp>
      <p:sp>
        <p:nvSpPr>
          <p:cNvPr name="TextBox 20" id="20"/>
          <p:cNvSpPr txBox="true"/>
          <p:nvPr/>
        </p:nvSpPr>
        <p:spPr>
          <a:xfrm rot="0">
            <a:off x="9578731" y="4198439"/>
            <a:ext cx="3277191"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Saves time for teachers</a:t>
            </a:r>
          </a:p>
        </p:txBody>
      </p:sp>
      <p:sp>
        <p:nvSpPr>
          <p:cNvPr name="TextBox 21" id="21"/>
          <p:cNvSpPr txBox="true"/>
          <p:nvPr/>
        </p:nvSpPr>
        <p:spPr>
          <a:xfrm rot="0">
            <a:off x="9578731" y="5159131"/>
            <a:ext cx="3277191" cy="1465659"/>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Automated invigilation reduces manual supervision</a:t>
            </a:r>
          </a:p>
        </p:txBody>
      </p:sp>
      <p:grpSp>
        <p:nvGrpSpPr>
          <p:cNvPr name="Group 22" id="22"/>
          <p:cNvGrpSpPr/>
          <p:nvPr/>
        </p:nvGrpSpPr>
        <p:grpSpPr>
          <a:xfrm rot="0">
            <a:off x="13427716" y="3910165"/>
            <a:ext cx="3872808" cy="3919690"/>
            <a:chOff x="0" y="0"/>
            <a:chExt cx="5163744" cy="5226253"/>
          </a:xfrm>
        </p:grpSpPr>
        <p:sp>
          <p:nvSpPr>
            <p:cNvPr name="Freeform 23" id="23"/>
            <p:cNvSpPr/>
            <p:nvPr/>
          </p:nvSpPr>
          <p:spPr>
            <a:xfrm flipH="false" flipV="false" rot="0">
              <a:off x="6350" y="6350"/>
              <a:ext cx="5150993" cy="5213477"/>
            </a:xfrm>
            <a:custGeom>
              <a:avLst/>
              <a:gdLst/>
              <a:ahLst/>
              <a:cxnLst/>
              <a:rect r="r" b="b" t="t" l="l"/>
              <a:pathLst>
                <a:path h="5213477" w="5150993">
                  <a:moveTo>
                    <a:pt x="0" y="158750"/>
                  </a:moveTo>
                  <a:cubicBezTo>
                    <a:pt x="0" y="71120"/>
                    <a:pt x="71120" y="0"/>
                    <a:pt x="158750" y="0"/>
                  </a:cubicBezTo>
                  <a:lnTo>
                    <a:pt x="4992243" y="0"/>
                  </a:lnTo>
                  <a:cubicBezTo>
                    <a:pt x="5079873" y="0"/>
                    <a:pt x="5150993" y="71120"/>
                    <a:pt x="5150993" y="158750"/>
                  </a:cubicBezTo>
                  <a:lnTo>
                    <a:pt x="5150993" y="5054727"/>
                  </a:lnTo>
                  <a:cubicBezTo>
                    <a:pt x="5150993" y="5142357"/>
                    <a:pt x="5079873" y="5213477"/>
                    <a:pt x="4992243" y="5213477"/>
                  </a:cubicBezTo>
                  <a:lnTo>
                    <a:pt x="158750" y="5213477"/>
                  </a:lnTo>
                  <a:cubicBezTo>
                    <a:pt x="71120" y="5213477"/>
                    <a:pt x="0" y="5142357"/>
                    <a:pt x="0" y="5054727"/>
                  </a:cubicBezTo>
                  <a:close/>
                </a:path>
              </a:pathLst>
            </a:custGeom>
            <a:solidFill>
              <a:srgbClr val="D2D9F9"/>
            </a:solidFill>
          </p:spPr>
        </p:sp>
        <p:sp>
          <p:nvSpPr>
            <p:cNvPr name="Freeform 24" id="24"/>
            <p:cNvSpPr/>
            <p:nvPr/>
          </p:nvSpPr>
          <p:spPr>
            <a:xfrm flipH="false" flipV="false" rot="0">
              <a:off x="0" y="0"/>
              <a:ext cx="5163693" cy="5226177"/>
            </a:xfrm>
            <a:custGeom>
              <a:avLst/>
              <a:gdLst/>
              <a:ahLst/>
              <a:cxnLst/>
              <a:rect r="r" b="b" t="t" l="l"/>
              <a:pathLst>
                <a:path h="5226177" w="5163693">
                  <a:moveTo>
                    <a:pt x="0" y="165100"/>
                  </a:moveTo>
                  <a:cubicBezTo>
                    <a:pt x="0" y="73914"/>
                    <a:pt x="73914" y="0"/>
                    <a:pt x="165100" y="0"/>
                  </a:cubicBezTo>
                  <a:lnTo>
                    <a:pt x="4998593" y="0"/>
                  </a:lnTo>
                  <a:lnTo>
                    <a:pt x="4998593" y="6350"/>
                  </a:lnTo>
                  <a:lnTo>
                    <a:pt x="4998593" y="0"/>
                  </a:lnTo>
                  <a:cubicBezTo>
                    <a:pt x="5089779" y="0"/>
                    <a:pt x="5163693" y="73914"/>
                    <a:pt x="5163693" y="165100"/>
                  </a:cubicBezTo>
                  <a:lnTo>
                    <a:pt x="5157343" y="165100"/>
                  </a:lnTo>
                  <a:lnTo>
                    <a:pt x="5163693" y="165100"/>
                  </a:lnTo>
                  <a:lnTo>
                    <a:pt x="5163693" y="5061077"/>
                  </a:lnTo>
                  <a:lnTo>
                    <a:pt x="5157343" y="5061077"/>
                  </a:lnTo>
                  <a:lnTo>
                    <a:pt x="5163693" y="5061077"/>
                  </a:lnTo>
                  <a:cubicBezTo>
                    <a:pt x="5163693" y="5152263"/>
                    <a:pt x="5089779" y="5226177"/>
                    <a:pt x="4998593" y="5226177"/>
                  </a:cubicBezTo>
                  <a:lnTo>
                    <a:pt x="4998593" y="5219827"/>
                  </a:lnTo>
                  <a:lnTo>
                    <a:pt x="4998593" y="5226177"/>
                  </a:lnTo>
                  <a:lnTo>
                    <a:pt x="165100" y="5226177"/>
                  </a:lnTo>
                  <a:lnTo>
                    <a:pt x="165100" y="5219827"/>
                  </a:lnTo>
                  <a:lnTo>
                    <a:pt x="165100" y="5226177"/>
                  </a:lnTo>
                  <a:cubicBezTo>
                    <a:pt x="73914" y="5226177"/>
                    <a:pt x="0" y="5152263"/>
                    <a:pt x="0" y="5061077"/>
                  </a:cubicBezTo>
                  <a:lnTo>
                    <a:pt x="0" y="165100"/>
                  </a:lnTo>
                  <a:lnTo>
                    <a:pt x="6350" y="165100"/>
                  </a:lnTo>
                  <a:lnTo>
                    <a:pt x="0" y="165100"/>
                  </a:lnTo>
                  <a:moveTo>
                    <a:pt x="12700" y="165100"/>
                  </a:moveTo>
                  <a:lnTo>
                    <a:pt x="12700" y="5061077"/>
                  </a:lnTo>
                  <a:lnTo>
                    <a:pt x="6350" y="5061077"/>
                  </a:lnTo>
                  <a:lnTo>
                    <a:pt x="12700" y="5061077"/>
                  </a:lnTo>
                  <a:cubicBezTo>
                    <a:pt x="12700" y="5145278"/>
                    <a:pt x="80899" y="5213477"/>
                    <a:pt x="165100" y="5213477"/>
                  </a:cubicBezTo>
                  <a:lnTo>
                    <a:pt x="4998593" y="5213477"/>
                  </a:lnTo>
                  <a:cubicBezTo>
                    <a:pt x="5082794" y="5213477"/>
                    <a:pt x="5150993" y="5145278"/>
                    <a:pt x="5150993" y="5061077"/>
                  </a:cubicBezTo>
                  <a:lnTo>
                    <a:pt x="5150993" y="165100"/>
                  </a:lnTo>
                  <a:cubicBezTo>
                    <a:pt x="5150993" y="80899"/>
                    <a:pt x="5082794" y="12700"/>
                    <a:pt x="4998593" y="12700"/>
                  </a:cubicBezTo>
                  <a:lnTo>
                    <a:pt x="165100" y="12700"/>
                  </a:lnTo>
                  <a:lnTo>
                    <a:pt x="165100" y="6350"/>
                  </a:lnTo>
                  <a:lnTo>
                    <a:pt x="165100" y="12700"/>
                  </a:lnTo>
                  <a:cubicBezTo>
                    <a:pt x="80899" y="12700"/>
                    <a:pt x="12700" y="80899"/>
                    <a:pt x="12700" y="165100"/>
                  </a:cubicBezTo>
                  <a:close/>
                </a:path>
              </a:pathLst>
            </a:custGeom>
            <a:solidFill>
              <a:srgbClr val="B8BFDF"/>
            </a:solidFill>
          </p:spPr>
        </p:sp>
      </p:grpSp>
      <p:sp>
        <p:nvSpPr>
          <p:cNvPr name="TextBox 25" id="25"/>
          <p:cNvSpPr txBox="true"/>
          <p:nvPr/>
        </p:nvSpPr>
        <p:spPr>
          <a:xfrm rot="0">
            <a:off x="13725525" y="4198439"/>
            <a:ext cx="3277191"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Advanced monitoring</a:t>
            </a:r>
          </a:p>
        </p:txBody>
      </p:sp>
      <p:sp>
        <p:nvSpPr>
          <p:cNvPr name="TextBox 26" id="26"/>
          <p:cNvSpPr txBox="true"/>
          <p:nvPr/>
        </p:nvSpPr>
        <p:spPr>
          <a:xfrm rot="0">
            <a:off x="13725525" y="5159131"/>
            <a:ext cx="3277191" cy="2372916"/>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Screen monitoring, webcam proctoring, tab-switch detection, AI-based suspicious behaviour tracking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2433342"/>
            <a:ext cx="7088238" cy="914552"/>
          </a:xfrm>
          <a:prstGeom prst="rect">
            <a:avLst/>
          </a:prstGeom>
        </p:spPr>
        <p:txBody>
          <a:bodyPr anchor="t" rtlCol="false" tIns="0" lIns="0" bIns="0" rIns="0">
            <a:spAutoFit/>
          </a:bodyPr>
          <a:lstStyle/>
          <a:p>
            <a:pPr algn="l">
              <a:lnSpc>
                <a:spcPts val="6937"/>
              </a:lnSpc>
            </a:pPr>
            <a:r>
              <a:rPr lang="en-US" sz="5562">
                <a:solidFill>
                  <a:srgbClr val="1B1B27"/>
                </a:solidFill>
                <a:latin typeface="Corben"/>
                <a:ea typeface="Corben"/>
                <a:cs typeface="Corben"/>
                <a:sym typeface="Corben"/>
              </a:rPr>
              <a:t>Limitations</a:t>
            </a:r>
          </a:p>
        </p:txBody>
      </p:sp>
      <p:grpSp>
        <p:nvGrpSpPr>
          <p:cNvPr name="Group 7" id="7"/>
          <p:cNvGrpSpPr/>
          <p:nvPr/>
        </p:nvGrpSpPr>
        <p:grpSpPr>
          <a:xfrm rot="0">
            <a:off x="987476" y="3910165"/>
            <a:ext cx="3872655" cy="3919690"/>
            <a:chOff x="0" y="0"/>
            <a:chExt cx="5163541" cy="5226253"/>
          </a:xfrm>
        </p:grpSpPr>
        <p:sp>
          <p:nvSpPr>
            <p:cNvPr name="Freeform 8" id="8"/>
            <p:cNvSpPr/>
            <p:nvPr/>
          </p:nvSpPr>
          <p:spPr>
            <a:xfrm flipH="false" flipV="false" rot="0">
              <a:off x="6350" y="6350"/>
              <a:ext cx="5150739" cy="5213477"/>
            </a:xfrm>
            <a:custGeom>
              <a:avLst/>
              <a:gdLst/>
              <a:ahLst/>
              <a:cxnLst/>
              <a:rect r="r" b="b" t="t" l="l"/>
              <a:pathLst>
                <a:path h="5213477" w="5150739">
                  <a:moveTo>
                    <a:pt x="0" y="158750"/>
                  </a:moveTo>
                  <a:cubicBezTo>
                    <a:pt x="0" y="71120"/>
                    <a:pt x="71120" y="0"/>
                    <a:pt x="158750" y="0"/>
                  </a:cubicBezTo>
                  <a:lnTo>
                    <a:pt x="4991989" y="0"/>
                  </a:lnTo>
                  <a:cubicBezTo>
                    <a:pt x="5079746" y="0"/>
                    <a:pt x="5150739" y="71120"/>
                    <a:pt x="5150739" y="158750"/>
                  </a:cubicBezTo>
                  <a:lnTo>
                    <a:pt x="5150739" y="5054727"/>
                  </a:lnTo>
                  <a:cubicBezTo>
                    <a:pt x="5150739" y="5142484"/>
                    <a:pt x="5079619" y="5213477"/>
                    <a:pt x="4991989" y="5213477"/>
                  </a:cubicBezTo>
                  <a:lnTo>
                    <a:pt x="158750" y="5213477"/>
                  </a:lnTo>
                  <a:cubicBezTo>
                    <a:pt x="70993" y="5213477"/>
                    <a:pt x="0" y="5142357"/>
                    <a:pt x="0" y="5054727"/>
                  </a:cubicBezTo>
                  <a:close/>
                </a:path>
              </a:pathLst>
            </a:custGeom>
            <a:solidFill>
              <a:srgbClr val="D2D9F9"/>
            </a:solidFill>
          </p:spPr>
        </p:sp>
        <p:sp>
          <p:nvSpPr>
            <p:cNvPr name="Freeform 9" id="9"/>
            <p:cNvSpPr/>
            <p:nvPr/>
          </p:nvSpPr>
          <p:spPr>
            <a:xfrm flipH="false" flipV="false" rot="0">
              <a:off x="0" y="0"/>
              <a:ext cx="5163439" cy="5226177"/>
            </a:xfrm>
            <a:custGeom>
              <a:avLst/>
              <a:gdLst/>
              <a:ahLst/>
              <a:cxnLst/>
              <a:rect r="r" b="b" t="t" l="l"/>
              <a:pathLst>
                <a:path h="5226177" w="5163439">
                  <a:moveTo>
                    <a:pt x="0" y="165100"/>
                  </a:moveTo>
                  <a:cubicBezTo>
                    <a:pt x="0" y="73914"/>
                    <a:pt x="73914" y="0"/>
                    <a:pt x="165100" y="0"/>
                  </a:cubicBezTo>
                  <a:lnTo>
                    <a:pt x="4998339" y="0"/>
                  </a:lnTo>
                  <a:lnTo>
                    <a:pt x="4998339" y="6350"/>
                  </a:lnTo>
                  <a:lnTo>
                    <a:pt x="4998339" y="0"/>
                  </a:lnTo>
                  <a:cubicBezTo>
                    <a:pt x="5089525" y="0"/>
                    <a:pt x="5163439" y="73914"/>
                    <a:pt x="5163439" y="165100"/>
                  </a:cubicBezTo>
                  <a:lnTo>
                    <a:pt x="5157089" y="165100"/>
                  </a:lnTo>
                  <a:lnTo>
                    <a:pt x="5163439" y="165100"/>
                  </a:lnTo>
                  <a:lnTo>
                    <a:pt x="5163439" y="5061077"/>
                  </a:lnTo>
                  <a:lnTo>
                    <a:pt x="5157089" y="5061077"/>
                  </a:lnTo>
                  <a:lnTo>
                    <a:pt x="5163439" y="5061077"/>
                  </a:lnTo>
                  <a:cubicBezTo>
                    <a:pt x="5163439" y="5152263"/>
                    <a:pt x="5089525" y="5226177"/>
                    <a:pt x="4998339" y="5226177"/>
                  </a:cubicBezTo>
                  <a:lnTo>
                    <a:pt x="4998339" y="5219827"/>
                  </a:lnTo>
                  <a:lnTo>
                    <a:pt x="4998339" y="5226177"/>
                  </a:lnTo>
                  <a:lnTo>
                    <a:pt x="165100" y="5226177"/>
                  </a:lnTo>
                  <a:lnTo>
                    <a:pt x="165100" y="5219827"/>
                  </a:lnTo>
                  <a:lnTo>
                    <a:pt x="165100" y="5226177"/>
                  </a:lnTo>
                  <a:cubicBezTo>
                    <a:pt x="73914" y="5226177"/>
                    <a:pt x="0" y="5152263"/>
                    <a:pt x="0" y="5061077"/>
                  </a:cubicBezTo>
                  <a:lnTo>
                    <a:pt x="0" y="165100"/>
                  </a:lnTo>
                  <a:lnTo>
                    <a:pt x="6350" y="165100"/>
                  </a:lnTo>
                  <a:lnTo>
                    <a:pt x="0" y="165100"/>
                  </a:lnTo>
                  <a:moveTo>
                    <a:pt x="12700" y="165100"/>
                  </a:moveTo>
                  <a:lnTo>
                    <a:pt x="12700" y="5061077"/>
                  </a:lnTo>
                  <a:lnTo>
                    <a:pt x="6350" y="5061077"/>
                  </a:lnTo>
                  <a:lnTo>
                    <a:pt x="12700" y="5061077"/>
                  </a:lnTo>
                  <a:cubicBezTo>
                    <a:pt x="12700" y="5145278"/>
                    <a:pt x="80899" y="5213477"/>
                    <a:pt x="165100" y="5213477"/>
                  </a:cubicBezTo>
                  <a:lnTo>
                    <a:pt x="4998339" y="5213477"/>
                  </a:lnTo>
                  <a:cubicBezTo>
                    <a:pt x="5082540" y="5213477"/>
                    <a:pt x="5150739" y="5145278"/>
                    <a:pt x="5150739" y="5061077"/>
                  </a:cubicBezTo>
                  <a:lnTo>
                    <a:pt x="5150739" y="165100"/>
                  </a:lnTo>
                  <a:cubicBezTo>
                    <a:pt x="5150739" y="80899"/>
                    <a:pt x="5082540" y="12700"/>
                    <a:pt x="4998339" y="12700"/>
                  </a:cubicBezTo>
                  <a:lnTo>
                    <a:pt x="165100" y="12700"/>
                  </a:lnTo>
                  <a:lnTo>
                    <a:pt x="165100" y="6350"/>
                  </a:lnTo>
                  <a:lnTo>
                    <a:pt x="165100" y="12700"/>
                  </a:lnTo>
                  <a:cubicBezTo>
                    <a:pt x="80899" y="12700"/>
                    <a:pt x="12700" y="80899"/>
                    <a:pt x="12700" y="165100"/>
                  </a:cubicBezTo>
                  <a:close/>
                </a:path>
              </a:pathLst>
            </a:custGeom>
            <a:solidFill>
              <a:srgbClr val="B8BFDF"/>
            </a:solidFill>
          </p:spPr>
        </p:sp>
      </p:grpSp>
      <p:sp>
        <p:nvSpPr>
          <p:cNvPr name="TextBox 10" id="10"/>
          <p:cNvSpPr txBox="true"/>
          <p:nvPr/>
        </p:nvSpPr>
        <p:spPr>
          <a:xfrm rot="0">
            <a:off x="1285284" y="4198439"/>
            <a:ext cx="3277048"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Platform &amp; Ecosystem</a:t>
            </a:r>
          </a:p>
        </p:txBody>
      </p:sp>
      <p:sp>
        <p:nvSpPr>
          <p:cNvPr name="TextBox 11" id="11"/>
          <p:cNvSpPr txBox="true"/>
          <p:nvPr/>
        </p:nvSpPr>
        <p:spPr>
          <a:xfrm rot="0">
            <a:off x="1285284" y="5159131"/>
            <a:ext cx="3277048" cy="1465659"/>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Android-only support with OS dependency issues across versions.</a:t>
            </a:r>
          </a:p>
        </p:txBody>
      </p:sp>
      <p:grpSp>
        <p:nvGrpSpPr>
          <p:cNvPr name="Group 12" id="12"/>
          <p:cNvGrpSpPr/>
          <p:nvPr/>
        </p:nvGrpSpPr>
        <p:grpSpPr>
          <a:xfrm rot="0">
            <a:off x="5134127" y="3910165"/>
            <a:ext cx="3872808" cy="3919690"/>
            <a:chOff x="0" y="0"/>
            <a:chExt cx="5163744" cy="5226253"/>
          </a:xfrm>
        </p:grpSpPr>
        <p:sp>
          <p:nvSpPr>
            <p:cNvPr name="Freeform 13" id="13"/>
            <p:cNvSpPr/>
            <p:nvPr/>
          </p:nvSpPr>
          <p:spPr>
            <a:xfrm flipH="false" flipV="false" rot="0">
              <a:off x="6350" y="6350"/>
              <a:ext cx="5150993" cy="5213477"/>
            </a:xfrm>
            <a:custGeom>
              <a:avLst/>
              <a:gdLst/>
              <a:ahLst/>
              <a:cxnLst/>
              <a:rect r="r" b="b" t="t" l="l"/>
              <a:pathLst>
                <a:path h="5213477" w="5150993">
                  <a:moveTo>
                    <a:pt x="0" y="158750"/>
                  </a:moveTo>
                  <a:cubicBezTo>
                    <a:pt x="0" y="71120"/>
                    <a:pt x="71120" y="0"/>
                    <a:pt x="158750" y="0"/>
                  </a:cubicBezTo>
                  <a:lnTo>
                    <a:pt x="4992243" y="0"/>
                  </a:lnTo>
                  <a:cubicBezTo>
                    <a:pt x="5079873" y="0"/>
                    <a:pt x="5150993" y="71120"/>
                    <a:pt x="5150993" y="158750"/>
                  </a:cubicBezTo>
                  <a:lnTo>
                    <a:pt x="5150993" y="5054727"/>
                  </a:lnTo>
                  <a:cubicBezTo>
                    <a:pt x="5150993" y="5142357"/>
                    <a:pt x="5079873" y="5213477"/>
                    <a:pt x="4992243" y="5213477"/>
                  </a:cubicBezTo>
                  <a:lnTo>
                    <a:pt x="158750" y="5213477"/>
                  </a:lnTo>
                  <a:cubicBezTo>
                    <a:pt x="71120" y="5213477"/>
                    <a:pt x="0" y="5142357"/>
                    <a:pt x="0" y="5054727"/>
                  </a:cubicBezTo>
                  <a:close/>
                </a:path>
              </a:pathLst>
            </a:custGeom>
            <a:solidFill>
              <a:srgbClr val="D2D9F9"/>
            </a:solidFill>
          </p:spPr>
        </p:sp>
        <p:sp>
          <p:nvSpPr>
            <p:cNvPr name="Freeform 14" id="14"/>
            <p:cNvSpPr/>
            <p:nvPr/>
          </p:nvSpPr>
          <p:spPr>
            <a:xfrm flipH="false" flipV="false" rot="0">
              <a:off x="0" y="0"/>
              <a:ext cx="5163693" cy="5226177"/>
            </a:xfrm>
            <a:custGeom>
              <a:avLst/>
              <a:gdLst/>
              <a:ahLst/>
              <a:cxnLst/>
              <a:rect r="r" b="b" t="t" l="l"/>
              <a:pathLst>
                <a:path h="5226177" w="5163693">
                  <a:moveTo>
                    <a:pt x="0" y="165100"/>
                  </a:moveTo>
                  <a:cubicBezTo>
                    <a:pt x="0" y="73914"/>
                    <a:pt x="73914" y="0"/>
                    <a:pt x="165100" y="0"/>
                  </a:cubicBezTo>
                  <a:lnTo>
                    <a:pt x="4998593" y="0"/>
                  </a:lnTo>
                  <a:lnTo>
                    <a:pt x="4998593" y="6350"/>
                  </a:lnTo>
                  <a:lnTo>
                    <a:pt x="4998593" y="0"/>
                  </a:lnTo>
                  <a:cubicBezTo>
                    <a:pt x="5089779" y="0"/>
                    <a:pt x="5163693" y="73914"/>
                    <a:pt x="5163693" y="165100"/>
                  </a:cubicBezTo>
                  <a:lnTo>
                    <a:pt x="5157343" y="165100"/>
                  </a:lnTo>
                  <a:lnTo>
                    <a:pt x="5163693" y="165100"/>
                  </a:lnTo>
                  <a:lnTo>
                    <a:pt x="5163693" y="5061077"/>
                  </a:lnTo>
                  <a:lnTo>
                    <a:pt x="5157343" y="5061077"/>
                  </a:lnTo>
                  <a:lnTo>
                    <a:pt x="5163693" y="5061077"/>
                  </a:lnTo>
                  <a:cubicBezTo>
                    <a:pt x="5163693" y="5152263"/>
                    <a:pt x="5089779" y="5226177"/>
                    <a:pt x="4998593" y="5226177"/>
                  </a:cubicBezTo>
                  <a:lnTo>
                    <a:pt x="4998593" y="5219827"/>
                  </a:lnTo>
                  <a:lnTo>
                    <a:pt x="4998593" y="5226177"/>
                  </a:lnTo>
                  <a:lnTo>
                    <a:pt x="165100" y="5226177"/>
                  </a:lnTo>
                  <a:lnTo>
                    <a:pt x="165100" y="5219827"/>
                  </a:lnTo>
                  <a:lnTo>
                    <a:pt x="165100" y="5226177"/>
                  </a:lnTo>
                  <a:cubicBezTo>
                    <a:pt x="73914" y="5226177"/>
                    <a:pt x="0" y="5152263"/>
                    <a:pt x="0" y="5061077"/>
                  </a:cubicBezTo>
                  <a:lnTo>
                    <a:pt x="0" y="165100"/>
                  </a:lnTo>
                  <a:lnTo>
                    <a:pt x="6350" y="165100"/>
                  </a:lnTo>
                  <a:lnTo>
                    <a:pt x="0" y="165100"/>
                  </a:lnTo>
                  <a:moveTo>
                    <a:pt x="12700" y="165100"/>
                  </a:moveTo>
                  <a:lnTo>
                    <a:pt x="12700" y="5061077"/>
                  </a:lnTo>
                  <a:lnTo>
                    <a:pt x="6350" y="5061077"/>
                  </a:lnTo>
                  <a:lnTo>
                    <a:pt x="12700" y="5061077"/>
                  </a:lnTo>
                  <a:cubicBezTo>
                    <a:pt x="12700" y="5145278"/>
                    <a:pt x="80899" y="5213477"/>
                    <a:pt x="165100" y="5213477"/>
                  </a:cubicBezTo>
                  <a:lnTo>
                    <a:pt x="4998593" y="5213477"/>
                  </a:lnTo>
                  <a:cubicBezTo>
                    <a:pt x="5082794" y="5213477"/>
                    <a:pt x="5150993" y="5145278"/>
                    <a:pt x="5150993" y="5061077"/>
                  </a:cubicBezTo>
                  <a:lnTo>
                    <a:pt x="5150993" y="165100"/>
                  </a:lnTo>
                  <a:cubicBezTo>
                    <a:pt x="5150993" y="80899"/>
                    <a:pt x="5082794" y="12700"/>
                    <a:pt x="4998593" y="12700"/>
                  </a:cubicBezTo>
                  <a:lnTo>
                    <a:pt x="165100" y="12700"/>
                  </a:lnTo>
                  <a:lnTo>
                    <a:pt x="165100" y="6350"/>
                  </a:lnTo>
                  <a:lnTo>
                    <a:pt x="165100" y="12700"/>
                  </a:lnTo>
                  <a:cubicBezTo>
                    <a:pt x="80899" y="12700"/>
                    <a:pt x="12700" y="80899"/>
                    <a:pt x="12700" y="165100"/>
                  </a:cubicBezTo>
                  <a:close/>
                </a:path>
              </a:pathLst>
            </a:custGeom>
            <a:solidFill>
              <a:srgbClr val="B8BFDF"/>
            </a:solidFill>
          </p:spPr>
        </p:sp>
      </p:grpSp>
      <p:sp>
        <p:nvSpPr>
          <p:cNvPr name="TextBox 15" id="15"/>
          <p:cNvSpPr txBox="true"/>
          <p:nvPr/>
        </p:nvSpPr>
        <p:spPr>
          <a:xfrm rot="0">
            <a:off x="5431927" y="4198439"/>
            <a:ext cx="3277191"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Question Type Constraints</a:t>
            </a:r>
          </a:p>
        </p:txBody>
      </p:sp>
      <p:sp>
        <p:nvSpPr>
          <p:cNvPr name="TextBox 16" id="16"/>
          <p:cNvSpPr txBox="true"/>
          <p:nvPr/>
        </p:nvSpPr>
        <p:spPr>
          <a:xfrm rot="0">
            <a:off x="5431927" y="5159131"/>
            <a:ext cx="3277191" cy="1919287"/>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Designed for MCQs; no support for essays, coding, or image-based answers.</a:t>
            </a:r>
          </a:p>
        </p:txBody>
      </p:sp>
      <p:grpSp>
        <p:nvGrpSpPr>
          <p:cNvPr name="Group 17" id="17"/>
          <p:cNvGrpSpPr/>
          <p:nvPr/>
        </p:nvGrpSpPr>
        <p:grpSpPr>
          <a:xfrm rot="0">
            <a:off x="9280922" y="3910165"/>
            <a:ext cx="3872808" cy="3919690"/>
            <a:chOff x="0" y="0"/>
            <a:chExt cx="5163744" cy="5226253"/>
          </a:xfrm>
        </p:grpSpPr>
        <p:sp>
          <p:nvSpPr>
            <p:cNvPr name="Freeform 18" id="18"/>
            <p:cNvSpPr/>
            <p:nvPr/>
          </p:nvSpPr>
          <p:spPr>
            <a:xfrm flipH="false" flipV="false" rot="0">
              <a:off x="6350" y="6350"/>
              <a:ext cx="5150993" cy="5213477"/>
            </a:xfrm>
            <a:custGeom>
              <a:avLst/>
              <a:gdLst/>
              <a:ahLst/>
              <a:cxnLst/>
              <a:rect r="r" b="b" t="t" l="l"/>
              <a:pathLst>
                <a:path h="5213477" w="5150993">
                  <a:moveTo>
                    <a:pt x="0" y="158750"/>
                  </a:moveTo>
                  <a:cubicBezTo>
                    <a:pt x="0" y="71120"/>
                    <a:pt x="71120" y="0"/>
                    <a:pt x="158750" y="0"/>
                  </a:cubicBezTo>
                  <a:lnTo>
                    <a:pt x="4992243" y="0"/>
                  </a:lnTo>
                  <a:cubicBezTo>
                    <a:pt x="5079873" y="0"/>
                    <a:pt x="5150993" y="71120"/>
                    <a:pt x="5150993" y="158750"/>
                  </a:cubicBezTo>
                  <a:lnTo>
                    <a:pt x="5150993" y="5054727"/>
                  </a:lnTo>
                  <a:cubicBezTo>
                    <a:pt x="5150993" y="5142357"/>
                    <a:pt x="5079873" y="5213477"/>
                    <a:pt x="4992243" y="5213477"/>
                  </a:cubicBezTo>
                  <a:lnTo>
                    <a:pt x="158750" y="5213477"/>
                  </a:lnTo>
                  <a:cubicBezTo>
                    <a:pt x="71120" y="5213477"/>
                    <a:pt x="0" y="5142357"/>
                    <a:pt x="0" y="5054727"/>
                  </a:cubicBezTo>
                  <a:close/>
                </a:path>
              </a:pathLst>
            </a:custGeom>
            <a:solidFill>
              <a:srgbClr val="D2D9F9"/>
            </a:solidFill>
          </p:spPr>
        </p:sp>
        <p:sp>
          <p:nvSpPr>
            <p:cNvPr name="Freeform 19" id="19"/>
            <p:cNvSpPr/>
            <p:nvPr/>
          </p:nvSpPr>
          <p:spPr>
            <a:xfrm flipH="false" flipV="false" rot="0">
              <a:off x="0" y="0"/>
              <a:ext cx="5163693" cy="5226177"/>
            </a:xfrm>
            <a:custGeom>
              <a:avLst/>
              <a:gdLst/>
              <a:ahLst/>
              <a:cxnLst/>
              <a:rect r="r" b="b" t="t" l="l"/>
              <a:pathLst>
                <a:path h="5226177" w="5163693">
                  <a:moveTo>
                    <a:pt x="0" y="165100"/>
                  </a:moveTo>
                  <a:cubicBezTo>
                    <a:pt x="0" y="73914"/>
                    <a:pt x="73914" y="0"/>
                    <a:pt x="165100" y="0"/>
                  </a:cubicBezTo>
                  <a:lnTo>
                    <a:pt x="4998593" y="0"/>
                  </a:lnTo>
                  <a:lnTo>
                    <a:pt x="4998593" y="6350"/>
                  </a:lnTo>
                  <a:lnTo>
                    <a:pt x="4998593" y="0"/>
                  </a:lnTo>
                  <a:cubicBezTo>
                    <a:pt x="5089779" y="0"/>
                    <a:pt x="5163693" y="73914"/>
                    <a:pt x="5163693" y="165100"/>
                  </a:cubicBezTo>
                  <a:lnTo>
                    <a:pt x="5157343" y="165100"/>
                  </a:lnTo>
                  <a:lnTo>
                    <a:pt x="5163693" y="165100"/>
                  </a:lnTo>
                  <a:lnTo>
                    <a:pt x="5163693" y="5061077"/>
                  </a:lnTo>
                  <a:lnTo>
                    <a:pt x="5157343" y="5061077"/>
                  </a:lnTo>
                  <a:lnTo>
                    <a:pt x="5163693" y="5061077"/>
                  </a:lnTo>
                  <a:cubicBezTo>
                    <a:pt x="5163693" y="5152263"/>
                    <a:pt x="5089779" y="5226177"/>
                    <a:pt x="4998593" y="5226177"/>
                  </a:cubicBezTo>
                  <a:lnTo>
                    <a:pt x="4998593" y="5219827"/>
                  </a:lnTo>
                  <a:lnTo>
                    <a:pt x="4998593" y="5226177"/>
                  </a:lnTo>
                  <a:lnTo>
                    <a:pt x="165100" y="5226177"/>
                  </a:lnTo>
                  <a:lnTo>
                    <a:pt x="165100" y="5219827"/>
                  </a:lnTo>
                  <a:lnTo>
                    <a:pt x="165100" y="5226177"/>
                  </a:lnTo>
                  <a:cubicBezTo>
                    <a:pt x="73914" y="5226177"/>
                    <a:pt x="0" y="5152263"/>
                    <a:pt x="0" y="5061077"/>
                  </a:cubicBezTo>
                  <a:lnTo>
                    <a:pt x="0" y="165100"/>
                  </a:lnTo>
                  <a:lnTo>
                    <a:pt x="6350" y="165100"/>
                  </a:lnTo>
                  <a:lnTo>
                    <a:pt x="0" y="165100"/>
                  </a:lnTo>
                  <a:moveTo>
                    <a:pt x="12700" y="165100"/>
                  </a:moveTo>
                  <a:lnTo>
                    <a:pt x="12700" y="5061077"/>
                  </a:lnTo>
                  <a:lnTo>
                    <a:pt x="6350" y="5061077"/>
                  </a:lnTo>
                  <a:lnTo>
                    <a:pt x="12700" y="5061077"/>
                  </a:lnTo>
                  <a:cubicBezTo>
                    <a:pt x="12700" y="5145278"/>
                    <a:pt x="80899" y="5213477"/>
                    <a:pt x="165100" y="5213477"/>
                  </a:cubicBezTo>
                  <a:lnTo>
                    <a:pt x="4998593" y="5213477"/>
                  </a:lnTo>
                  <a:cubicBezTo>
                    <a:pt x="5082794" y="5213477"/>
                    <a:pt x="5150993" y="5145278"/>
                    <a:pt x="5150993" y="5061077"/>
                  </a:cubicBezTo>
                  <a:lnTo>
                    <a:pt x="5150993" y="165100"/>
                  </a:lnTo>
                  <a:cubicBezTo>
                    <a:pt x="5150993" y="80899"/>
                    <a:pt x="5082794" y="12700"/>
                    <a:pt x="4998593" y="12700"/>
                  </a:cubicBezTo>
                  <a:lnTo>
                    <a:pt x="165100" y="12700"/>
                  </a:lnTo>
                  <a:lnTo>
                    <a:pt x="165100" y="6350"/>
                  </a:lnTo>
                  <a:lnTo>
                    <a:pt x="165100" y="12700"/>
                  </a:lnTo>
                  <a:cubicBezTo>
                    <a:pt x="80899" y="12700"/>
                    <a:pt x="12700" y="80899"/>
                    <a:pt x="12700" y="165100"/>
                  </a:cubicBezTo>
                  <a:close/>
                </a:path>
              </a:pathLst>
            </a:custGeom>
            <a:solidFill>
              <a:srgbClr val="B8BFDF"/>
            </a:solidFill>
          </p:spPr>
        </p:sp>
      </p:grpSp>
      <p:sp>
        <p:nvSpPr>
          <p:cNvPr name="TextBox 20" id="20"/>
          <p:cNvSpPr txBox="true"/>
          <p:nvPr/>
        </p:nvSpPr>
        <p:spPr>
          <a:xfrm rot="0">
            <a:off x="9578731" y="4198439"/>
            <a:ext cx="3277191"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Security Boundaries</a:t>
            </a:r>
          </a:p>
        </p:txBody>
      </p:sp>
      <p:sp>
        <p:nvSpPr>
          <p:cNvPr name="TextBox 21" id="21"/>
          <p:cNvSpPr txBox="true"/>
          <p:nvPr/>
        </p:nvSpPr>
        <p:spPr>
          <a:xfrm rot="0">
            <a:off x="9578731" y="5159131"/>
            <a:ext cx="3277191" cy="2372916"/>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Rooted devices may bypass restrictions, and external hardware use cannot be fully prevented.</a:t>
            </a:r>
          </a:p>
        </p:txBody>
      </p:sp>
      <p:grpSp>
        <p:nvGrpSpPr>
          <p:cNvPr name="Group 22" id="22"/>
          <p:cNvGrpSpPr/>
          <p:nvPr/>
        </p:nvGrpSpPr>
        <p:grpSpPr>
          <a:xfrm rot="0">
            <a:off x="13427716" y="3910165"/>
            <a:ext cx="3872808" cy="3919690"/>
            <a:chOff x="0" y="0"/>
            <a:chExt cx="5163744" cy="5226253"/>
          </a:xfrm>
        </p:grpSpPr>
        <p:sp>
          <p:nvSpPr>
            <p:cNvPr name="Freeform 23" id="23"/>
            <p:cNvSpPr/>
            <p:nvPr/>
          </p:nvSpPr>
          <p:spPr>
            <a:xfrm flipH="false" flipV="false" rot="0">
              <a:off x="6350" y="6350"/>
              <a:ext cx="5150993" cy="5213477"/>
            </a:xfrm>
            <a:custGeom>
              <a:avLst/>
              <a:gdLst/>
              <a:ahLst/>
              <a:cxnLst/>
              <a:rect r="r" b="b" t="t" l="l"/>
              <a:pathLst>
                <a:path h="5213477" w="5150993">
                  <a:moveTo>
                    <a:pt x="0" y="158750"/>
                  </a:moveTo>
                  <a:cubicBezTo>
                    <a:pt x="0" y="71120"/>
                    <a:pt x="71120" y="0"/>
                    <a:pt x="158750" y="0"/>
                  </a:cubicBezTo>
                  <a:lnTo>
                    <a:pt x="4992243" y="0"/>
                  </a:lnTo>
                  <a:cubicBezTo>
                    <a:pt x="5079873" y="0"/>
                    <a:pt x="5150993" y="71120"/>
                    <a:pt x="5150993" y="158750"/>
                  </a:cubicBezTo>
                  <a:lnTo>
                    <a:pt x="5150993" y="5054727"/>
                  </a:lnTo>
                  <a:cubicBezTo>
                    <a:pt x="5150993" y="5142357"/>
                    <a:pt x="5079873" y="5213477"/>
                    <a:pt x="4992243" y="5213477"/>
                  </a:cubicBezTo>
                  <a:lnTo>
                    <a:pt x="158750" y="5213477"/>
                  </a:lnTo>
                  <a:cubicBezTo>
                    <a:pt x="71120" y="5213477"/>
                    <a:pt x="0" y="5142357"/>
                    <a:pt x="0" y="5054727"/>
                  </a:cubicBezTo>
                  <a:close/>
                </a:path>
              </a:pathLst>
            </a:custGeom>
            <a:solidFill>
              <a:srgbClr val="D2D9F9"/>
            </a:solidFill>
          </p:spPr>
        </p:sp>
        <p:sp>
          <p:nvSpPr>
            <p:cNvPr name="Freeform 24" id="24"/>
            <p:cNvSpPr/>
            <p:nvPr/>
          </p:nvSpPr>
          <p:spPr>
            <a:xfrm flipH="false" flipV="false" rot="0">
              <a:off x="0" y="0"/>
              <a:ext cx="5163693" cy="5226177"/>
            </a:xfrm>
            <a:custGeom>
              <a:avLst/>
              <a:gdLst/>
              <a:ahLst/>
              <a:cxnLst/>
              <a:rect r="r" b="b" t="t" l="l"/>
              <a:pathLst>
                <a:path h="5226177" w="5163693">
                  <a:moveTo>
                    <a:pt x="0" y="165100"/>
                  </a:moveTo>
                  <a:cubicBezTo>
                    <a:pt x="0" y="73914"/>
                    <a:pt x="73914" y="0"/>
                    <a:pt x="165100" y="0"/>
                  </a:cubicBezTo>
                  <a:lnTo>
                    <a:pt x="4998593" y="0"/>
                  </a:lnTo>
                  <a:lnTo>
                    <a:pt x="4998593" y="6350"/>
                  </a:lnTo>
                  <a:lnTo>
                    <a:pt x="4998593" y="0"/>
                  </a:lnTo>
                  <a:cubicBezTo>
                    <a:pt x="5089779" y="0"/>
                    <a:pt x="5163693" y="73914"/>
                    <a:pt x="5163693" y="165100"/>
                  </a:cubicBezTo>
                  <a:lnTo>
                    <a:pt x="5157343" y="165100"/>
                  </a:lnTo>
                  <a:lnTo>
                    <a:pt x="5163693" y="165100"/>
                  </a:lnTo>
                  <a:lnTo>
                    <a:pt x="5163693" y="5061077"/>
                  </a:lnTo>
                  <a:lnTo>
                    <a:pt x="5157343" y="5061077"/>
                  </a:lnTo>
                  <a:lnTo>
                    <a:pt x="5163693" y="5061077"/>
                  </a:lnTo>
                  <a:cubicBezTo>
                    <a:pt x="5163693" y="5152263"/>
                    <a:pt x="5089779" y="5226177"/>
                    <a:pt x="4998593" y="5226177"/>
                  </a:cubicBezTo>
                  <a:lnTo>
                    <a:pt x="4998593" y="5219827"/>
                  </a:lnTo>
                  <a:lnTo>
                    <a:pt x="4998593" y="5226177"/>
                  </a:lnTo>
                  <a:lnTo>
                    <a:pt x="165100" y="5226177"/>
                  </a:lnTo>
                  <a:lnTo>
                    <a:pt x="165100" y="5219827"/>
                  </a:lnTo>
                  <a:lnTo>
                    <a:pt x="165100" y="5226177"/>
                  </a:lnTo>
                  <a:cubicBezTo>
                    <a:pt x="73914" y="5226177"/>
                    <a:pt x="0" y="5152263"/>
                    <a:pt x="0" y="5061077"/>
                  </a:cubicBezTo>
                  <a:lnTo>
                    <a:pt x="0" y="165100"/>
                  </a:lnTo>
                  <a:lnTo>
                    <a:pt x="6350" y="165100"/>
                  </a:lnTo>
                  <a:lnTo>
                    <a:pt x="0" y="165100"/>
                  </a:lnTo>
                  <a:moveTo>
                    <a:pt x="12700" y="165100"/>
                  </a:moveTo>
                  <a:lnTo>
                    <a:pt x="12700" y="5061077"/>
                  </a:lnTo>
                  <a:lnTo>
                    <a:pt x="6350" y="5061077"/>
                  </a:lnTo>
                  <a:lnTo>
                    <a:pt x="12700" y="5061077"/>
                  </a:lnTo>
                  <a:cubicBezTo>
                    <a:pt x="12700" y="5145278"/>
                    <a:pt x="80899" y="5213477"/>
                    <a:pt x="165100" y="5213477"/>
                  </a:cubicBezTo>
                  <a:lnTo>
                    <a:pt x="4998593" y="5213477"/>
                  </a:lnTo>
                  <a:cubicBezTo>
                    <a:pt x="5082794" y="5213477"/>
                    <a:pt x="5150993" y="5145278"/>
                    <a:pt x="5150993" y="5061077"/>
                  </a:cubicBezTo>
                  <a:lnTo>
                    <a:pt x="5150993" y="165100"/>
                  </a:lnTo>
                  <a:cubicBezTo>
                    <a:pt x="5150993" y="80899"/>
                    <a:pt x="5082794" y="12700"/>
                    <a:pt x="4998593" y="12700"/>
                  </a:cubicBezTo>
                  <a:lnTo>
                    <a:pt x="165100" y="12700"/>
                  </a:lnTo>
                  <a:lnTo>
                    <a:pt x="165100" y="6350"/>
                  </a:lnTo>
                  <a:lnTo>
                    <a:pt x="165100" y="12700"/>
                  </a:lnTo>
                  <a:cubicBezTo>
                    <a:pt x="80899" y="12700"/>
                    <a:pt x="12700" y="80899"/>
                    <a:pt x="12700" y="165100"/>
                  </a:cubicBezTo>
                  <a:close/>
                </a:path>
              </a:pathLst>
            </a:custGeom>
            <a:solidFill>
              <a:srgbClr val="B8BFDF"/>
            </a:solidFill>
          </p:spPr>
        </p:sp>
      </p:grpSp>
      <p:sp>
        <p:nvSpPr>
          <p:cNvPr name="TextBox 25" id="25"/>
          <p:cNvSpPr txBox="true"/>
          <p:nvPr/>
        </p:nvSpPr>
        <p:spPr>
          <a:xfrm rot="0">
            <a:off x="13725525" y="4198439"/>
            <a:ext cx="3277191"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Performance &amp; Hardware Stress</a:t>
            </a:r>
          </a:p>
        </p:txBody>
      </p:sp>
      <p:sp>
        <p:nvSpPr>
          <p:cNvPr name="TextBox 26" id="26"/>
          <p:cNvSpPr txBox="true"/>
          <p:nvPr/>
        </p:nvSpPr>
        <p:spPr>
          <a:xfrm rot="0">
            <a:off x="13725525" y="5159131"/>
            <a:ext cx="3277191" cy="2372916"/>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Can cause battery drain and overheating, and depends on internet connectivity for Firebase sync.</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2200866"/>
            <a:ext cx="7088238" cy="914552"/>
          </a:xfrm>
          <a:prstGeom prst="rect">
            <a:avLst/>
          </a:prstGeom>
        </p:spPr>
        <p:txBody>
          <a:bodyPr anchor="t" rtlCol="false" tIns="0" lIns="0" bIns="0" rIns="0">
            <a:spAutoFit/>
          </a:bodyPr>
          <a:lstStyle/>
          <a:p>
            <a:pPr algn="l">
              <a:lnSpc>
                <a:spcPts val="6937"/>
              </a:lnSpc>
            </a:pPr>
            <a:r>
              <a:rPr lang="en-US" sz="5562">
                <a:solidFill>
                  <a:srgbClr val="1B1B27"/>
                </a:solidFill>
                <a:latin typeface="Corben"/>
                <a:ea typeface="Corben"/>
                <a:cs typeface="Corben"/>
                <a:sym typeface="Corben"/>
              </a:rPr>
              <a:t>Future Scope</a:t>
            </a:r>
          </a:p>
        </p:txBody>
      </p:sp>
      <p:grpSp>
        <p:nvGrpSpPr>
          <p:cNvPr name="Group 7" id="7"/>
          <p:cNvGrpSpPr/>
          <p:nvPr/>
        </p:nvGrpSpPr>
        <p:grpSpPr>
          <a:xfrm rot="0">
            <a:off x="973188" y="3663401"/>
            <a:ext cx="5283546" cy="4413047"/>
            <a:chOff x="0" y="0"/>
            <a:chExt cx="7044728" cy="5884062"/>
          </a:xfrm>
        </p:grpSpPr>
        <p:sp>
          <p:nvSpPr>
            <p:cNvPr name="Freeform 8" id="8"/>
            <p:cNvSpPr/>
            <p:nvPr/>
          </p:nvSpPr>
          <p:spPr>
            <a:xfrm flipH="false" flipV="false" rot="0">
              <a:off x="25400" y="25400"/>
              <a:ext cx="6993890" cy="5833237"/>
            </a:xfrm>
            <a:custGeom>
              <a:avLst/>
              <a:gdLst/>
              <a:ahLst/>
              <a:cxnLst/>
              <a:rect r="r" b="b" t="t" l="l"/>
              <a:pathLst>
                <a:path h="5833237" w="6993890">
                  <a:moveTo>
                    <a:pt x="0" y="158750"/>
                  </a:moveTo>
                  <a:cubicBezTo>
                    <a:pt x="0" y="71120"/>
                    <a:pt x="71247" y="0"/>
                    <a:pt x="159004" y="0"/>
                  </a:cubicBezTo>
                  <a:lnTo>
                    <a:pt x="6834886" y="0"/>
                  </a:lnTo>
                  <a:cubicBezTo>
                    <a:pt x="6922643" y="0"/>
                    <a:pt x="6993890" y="71120"/>
                    <a:pt x="6993890" y="158750"/>
                  </a:cubicBezTo>
                  <a:lnTo>
                    <a:pt x="6993890" y="5674487"/>
                  </a:lnTo>
                  <a:cubicBezTo>
                    <a:pt x="6993890" y="5762117"/>
                    <a:pt x="6922643" y="5833237"/>
                    <a:pt x="6834886" y="5833237"/>
                  </a:cubicBezTo>
                  <a:lnTo>
                    <a:pt x="159004" y="5833237"/>
                  </a:lnTo>
                  <a:cubicBezTo>
                    <a:pt x="71247" y="5833237"/>
                    <a:pt x="0" y="5762117"/>
                    <a:pt x="0" y="5674487"/>
                  </a:cubicBezTo>
                  <a:close/>
                </a:path>
              </a:pathLst>
            </a:custGeom>
            <a:solidFill>
              <a:srgbClr val="F9F9FF">
                <a:alpha val="90196"/>
              </a:srgbClr>
            </a:solidFill>
          </p:spPr>
        </p:sp>
        <p:sp>
          <p:nvSpPr>
            <p:cNvPr name="Freeform 9" id="9"/>
            <p:cNvSpPr/>
            <p:nvPr/>
          </p:nvSpPr>
          <p:spPr>
            <a:xfrm flipH="false" flipV="false" rot="0">
              <a:off x="0" y="0"/>
              <a:ext cx="7044690" cy="5884037"/>
            </a:xfrm>
            <a:custGeom>
              <a:avLst/>
              <a:gdLst/>
              <a:ahLst/>
              <a:cxnLst/>
              <a:rect r="r" b="b" t="t" l="l"/>
              <a:pathLst>
                <a:path h="5884037" w="7044690">
                  <a:moveTo>
                    <a:pt x="0" y="184150"/>
                  </a:moveTo>
                  <a:cubicBezTo>
                    <a:pt x="0" y="82423"/>
                    <a:pt x="82550" y="0"/>
                    <a:pt x="184404" y="0"/>
                  </a:cubicBezTo>
                  <a:lnTo>
                    <a:pt x="6860286" y="0"/>
                  </a:lnTo>
                  <a:lnTo>
                    <a:pt x="6860286" y="25400"/>
                  </a:lnTo>
                  <a:lnTo>
                    <a:pt x="6860286" y="0"/>
                  </a:lnTo>
                  <a:cubicBezTo>
                    <a:pt x="6962140" y="0"/>
                    <a:pt x="7044690" y="82423"/>
                    <a:pt x="7044690" y="184150"/>
                  </a:cubicBezTo>
                  <a:lnTo>
                    <a:pt x="7019290" y="184150"/>
                  </a:lnTo>
                  <a:lnTo>
                    <a:pt x="7044690" y="184150"/>
                  </a:lnTo>
                  <a:lnTo>
                    <a:pt x="7044690" y="5699887"/>
                  </a:lnTo>
                  <a:lnTo>
                    <a:pt x="7019290" y="5699887"/>
                  </a:lnTo>
                  <a:lnTo>
                    <a:pt x="7044690" y="5699887"/>
                  </a:lnTo>
                  <a:cubicBezTo>
                    <a:pt x="7044690" y="5801614"/>
                    <a:pt x="6962140" y="5884037"/>
                    <a:pt x="6860286" y="5884037"/>
                  </a:cubicBezTo>
                  <a:lnTo>
                    <a:pt x="6860286" y="5858637"/>
                  </a:lnTo>
                  <a:lnTo>
                    <a:pt x="6860286" y="5884037"/>
                  </a:lnTo>
                  <a:lnTo>
                    <a:pt x="184404" y="5884037"/>
                  </a:lnTo>
                  <a:lnTo>
                    <a:pt x="184404" y="5858637"/>
                  </a:lnTo>
                  <a:lnTo>
                    <a:pt x="184404" y="5884037"/>
                  </a:lnTo>
                  <a:cubicBezTo>
                    <a:pt x="82550" y="5884037"/>
                    <a:pt x="0" y="5801614"/>
                    <a:pt x="0" y="5699887"/>
                  </a:cubicBezTo>
                  <a:lnTo>
                    <a:pt x="0" y="184150"/>
                  </a:lnTo>
                  <a:lnTo>
                    <a:pt x="25400" y="184150"/>
                  </a:lnTo>
                  <a:lnTo>
                    <a:pt x="0" y="184150"/>
                  </a:lnTo>
                  <a:moveTo>
                    <a:pt x="50800" y="184150"/>
                  </a:moveTo>
                  <a:lnTo>
                    <a:pt x="50800" y="5699887"/>
                  </a:lnTo>
                  <a:lnTo>
                    <a:pt x="25400" y="5699887"/>
                  </a:lnTo>
                  <a:lnTo>
                    <a:pt x="50800" y="5699887"/>
                  </a:lnTo>
                  <a:cubicBezTo>
                    <a:pt x="50800" y="5773547"/>
                    <a:pt x="110617" y="5833237"/>
                    <a:pt x="184404" y="5833237"/>
                  </a:cubicBezTo>
                  <a:lnTo>
                    <a:pt x="6860286" y="5833237"/>
                  </a:lnTo>
                  <a:cubicBezTo>
                    <a:pt x="6934073" y="5833237"/>
                    <a:pt x="6993890" y="5773547"/>
                    <a:pt x="6993890" y="5699887"/>
                  </a:cubicBezTo>
                  <a:lnTo>
                    <a:pt x="6993890" y="184150"/>
                  </a:lnTo>
                  <a:cubicBezTo>
                    <a:pt x="6993890" y="110490"/>
                    <a:pt x="6934200" y="50800"/>
                    <a:pt x="6860286" y="50800"/>
                  </a:cubicBezTo>
                  <a:lnTo>
                    <a:pt x="184404" y="50800"/>
                  </a:lnTo>
                  <a:lnTo>
                    <a:pt x="184404" y="25400"/>
                  </a:lnTo>
                  <a:lnTo>
                    <a:pt x="184404" y="50800"/>
                  </a:lnTo>
                  <a:cubicBezTo>
                    <a:pt x="110617" y="50800"/>
                    <a:pt x="50800" y="110490"/>
                    <a:pt x="50800" y="184150"/>
                  </a:cubicBezTo>
                  <a:close/>
                </a:path>
              </a:pathLst>
            </a:custGeom>
            <a:solidFill>
              <a:srgbClr val="B8BFDF"/>
            </a:solidFill>
          </p:spPr>
        </p:sp>
      </p:grpSp>
      <p:grpSp>
        <p:nvGrpSpPr>
          <p:cNvPr name="Group 10" id="10"/>
          <p:cNvGrpSpPr/>
          <p:nvPr/>
        </p:nvGrpSpPr>
        <p:grpSpPr>
          <a:xfrm rot="0">
            <a:off x="1030338" y="3720551"/>
            <a:ext cx="5169246" cy="850554"/>
            <a:chOff x="0" y="0"/>
            <a:chExt cx="6892328" cy="1134072"/>
          </a:xfrm>
        </p:grpSpPr>
        <p:sp>
          <p:nvSpPr>
            <p:cNvPr name="Freeform 11" id="11"/>
            <p:cNvSpPr/>
            <p:nvPr/>
          </p:nvSpPr>
          <p:spPr>
            <a:xfrm flipH="false" flipV="false" rot="0">
              <a:off x="0" y="0"/>
              <a:ext cx="6892290" cy="1133983"/>
            </a:xfrm>
            <a:custGeom>
              <a:avLst/>
              <a:gdLst/>
              <a:ahLst/>
              <a:cxnLst/>
              <a:rect r="r" b="b" t="t" l="l"/>
              <a:pathLst>
                <a:path h="1133983" w="6892290">
                  <a:moveTo>
                    <a:pt x="0" y="97790"/>
                  </a:moveTo>
                  <a:cubicBezTo>
                    <a:pt x="0" y="43815"/>
                    <a:pt x="43815" y="0"/>
                    <a:pt x="97790" y="0"/>
                  </a:cubicBezTo>
                  <a:lnTo>
                    <a:pt x="6794500" y="0"/>
                  </a:lnTo>
                  <a:cubicBezTo>
                    <a:pt x="6848475" y="0"/>
                    <a:pt x="6892290" y="43815"/>
                    <a:pt x="6892290" y="97790"/>
                  </a:cubicBezTo>
                  <a:lnTo>
                    <a:pt x="6892290" y="1036193"/>
                  </a:lnTo>
                  <a:cubicBezTo>
                    <a:pt x="6892290" y="1090168"/>
                    <a:pt x="6848475" y="1133983"/>
                    <a:pt x="6794500" y="1133983"/>
                  </a:cubicBezTo>
                  <a:lnTo>
                    <a:pt x="97790" y="1133983"/>
                  </a:lnTo>
                  <a:cubicBezTo>
                    <a:pt x="43815" y="1133983"/>
                    <a:pt x="0" y="1090168"/>
                    <a:pt x="0" y="1036193"/>
                  </a:cubicBezTo>
                  <a:close/>
                </a:path>
              </a:pathLst>
            </a:custGeom>
            <a:solidFill>
              <a:srgbClr val="D2D9F9"/>
            </a:solidFill>
          </p:spPr>
        </p:sp>
      </p:grpSp>
      <p:sp>
        <p:nvSpPr>
          <p:cNvPr name="TextBox 12" id="12"/>
          <p:cNvSpPr txBox="true"/>
          <p:nvPr/>
        </p:nvSpPr>
        <p:spPr>
          <a:xfrm rot="0">
            <a:off x="3402359" y="3932339"/>
            <a:ext cx="425206" cy="474459"/>
          </a:xfrm>
          <a:prstGeom prst="rect">
            <a:avLst/>
          </a:prstGeom>
        </p:spPr>
        <p:txBody>
          <a:bodyPr anchor="t" rtlCol="false" tIns="0" lIns="0" bIns="0" rIns="0">
            <a:spAutoFit/>
          </a:bodyPr>
          <a:lstStyle/>
          <a:p>
            <a:pPr algn="l">
              <a:lnSpc>
                <a:spcPts val="3312"/>
              </a:lnSpc>
            </a:pPr>
            <a:r>
              <a:rPr lang="en-US" sz="3312">
                <a:solidFill>
                  <a:srgbClr val="404155"/>
                </a:solidFill>
                <a:latin typeface="Corben"/>
                <a:ea typeface="Corben"/>
                <a:cs typeface="Corben"/>
                <a:sym typeface="Corben"/>
              </a:rPr>
              <a:t>1</a:t>
            </a:r>
          </a:p>
        </p:txBody>
      </p:sp>
      <p:sp>
        <p:nvSpPr>
          <p:cNvPr name="TextBox 13" id="13"/>
          <p:cNvSpPr txBox="true"/>
          <p:nvPr/>
        </p:nvSpPr>
        <p:spPr>
          <a:xfrm rot="0">
            <a:off x="1313859" y="4845101"/>
            <a:ext cx="4602213"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Cheat Detection &amp; Security Engine</a:t>
            </a:r>
          </a:p>
        </p:txBody>
      </p:sp>
      <p:sp>
        <p:nvSpPr>
          <p:cNvPr name="TextBox 14" id="14"/>
          <p:cNvSpPr txBox="true"/>
          <p:nvPr/>
        </p:nvSpPr>
        <p:spPr>
          <a:xfrm rot="0">
            <a:off x="1313859" y="5805783"/>
            <a:ext cx="4602213" cy="1465659"/>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Applications: Corporate recruitment, academic assessments</a:t>
            </a:r>
          </a:p>
        </p:txBody>
      </p:sp>
      <p:grpSp>
        <p:nvGrpSpPr>
          <p:cNvPr name="Group 15" id="15"/>
          <p:cNvGrpSpPr/>
          <p:nvPr/>
        </p:nvGrpSpPr>
        <p:grpSpPr>
          <a:xfrm rot="0">
            <a:off x="6502156" y="3663401"/>
            <a:ext cx="5283546" cy="4413047"/>
            <a:chOff x="0" y="0"/>
            <a:chExt cx="7044728" cy="5884062"/>
          </a:xfrm>
        </p:grpSpPr>
        <p:sp>
          <p:nvSpPr>
            <p:cNvPr name="Freeform 16" id="16"/>
            <p:cNvSpPr/>
            <p:nvPr/>
          </p:nvSpPr>
          <p:spPr>
            <a:xfrm flipH="false" flipV="false" rot="0">
              <a:off x="25400" y="25400"/>
              <a:ext cx="6993890" cy="5833237"/>
            </a:xfrm>
            <a:custGeom>
              <a:avLst/>
              <a:gdLst/>
              <a:ahLst/>
              <a:cxnLst/>
              <a:rect r="r" b="b" t="t" l="l"/>
              <a:pathLst>
                <a:path h="5833237" w="6993890">
                  <a:moveTo>
                    <a:pt x="0" y="158750"/>
                  </a:moveTo>
                  <a:cubicBezTo>
                    <a:pt x="0" y="71120"/>
                    <a:pt x="71247" y="0"/>
                    <a:pt x="159004" y="0"/>
                  </a:cubicBezTo>
                  <a:lnTo>
                    <a:pt x="6834886" y="0"/>
                  </a:lnTo>
                  <a:cubicBezTo>
                    <a:pt x="6922643" y="0"/>
                    <a:pt x="6993890" y="71120"/>
                    <a:pt x="6993890" y="158750"/>
                  </a:cubicBezTo>
                  <a:lnTo>
                    <a:pt x="6993890" y="5674487"/>
                  </a:lnTo>
                  <a:cubicBezTo>
                    <a:pt x="6993890" y="5762117"/>
                    <a:pt x="6922643" y="5833237"/>
                    <a:pt x="6834886" y="5833237"/>
                  </a:cubicBezTo>
                  <a:lnTo>
                    <a:pt x="159004" y="5833237"/>
                  </a:lnTo>
                  <a:cubicBezTo>
                    <a:pt x="71247" y="5833237"/>
                    <a:pt x="0" y="5762117"/>
                    <a:pt x="0" y="5674487"/>
                  </a:cubicBezTo>
                  <a:close/>
                </a:path>
              </a:pathLst>
            </a:custGeom>
            <a:solidFill>
              <a:srgbClr val="F9F9FF">
                <a:alpha val="90196"/>
              </a:srgbClr>
            </a:solidFill>
          </p:spPr>
        </p:sp>
        <p:sp>
          <p:nvSpPr>
            <p:cNvPr name="Freeform 17" id="17"/>
            <p:cNvSpPr/>
            <p:nvPr/>
          </p:nvSpPr>
          <p:spPr>
            <a:xfrm flipH="false" flipV="false" rot="0">
              <a:off x="0" y="0"/>
              <a:ext cx="7044690" cy="5884037"/>
            </a:xfrm>
            <a:custGeom>
              <a:avLst/>
              <a:gdLst/>
              <a:ahLst/>
              <a:cxnLst/>
              <a:rect r="r" b="b" t="t" l="l"/>
              <a:pathLst>
                <a:path h="5884037" w="7044690">
                  <a:moveTo>
                    <a:pt x="0" y="184150"/>
                  </a:moveTo>
                  <a:cubicBezTo>
                    <a:pt x="0" y="82423"/>
                    <a:pt x="82550" y="0"/>
                    <a:pt x="184404" y="0"/>
                  </a:cubicBezTo>
                  <a:lnTo>
                    <a:pt x="6860286" y="0"/>
                  </a:lnTo>
                  <a:lnTo>
                    <a:pt x="6860286" y="25400"/>
                  </a:lnTo>
                  <a:lnTo>
                    <a:pt x="6860286" y="0"/>
                  </a:lnTo>
                  <a:cubicBezTo>
                    <a:pt x="6962140" y="0"/>
                    <a:pt x="7044690" y="82423"/>
                    <a:pt x="7044690" y="184150"/>
                  </a:cubicBezTo>
                  <a:lnTo>
                    <a:pt x="7019290" y="184150"/>
                  </a:lnTo>
                  <a:lnTo>
                    <a:pt x="7044690" y="184150"/>
                  </a:lnTo>
                  <a:lnTo>
                    <a:pt x="7044690" y="5699887"/>
                  </a:lnTo>
                  <a:lnTo>
                    <a:pt x="7019290" y="5699887"/>
                  </a:lnTo>
                  <a:lnTo>
                    <a:pt x="7044690" y="5699887"/>
                  </a:lnTo>
                  <a:cubicBezTo>
                    <a:pt x="7044690" y="5801614"/>
                    <a:pt x="6962140" y="5884037"/>
                    <a:pt x="6860286" y="5884037"/>
                  </a:cubicBezTo>
                  <a:lnTo>
                    <a:pt x="6860286" y="5858637"/>
                  </a:lnTo>
                  <a:lnTo>
                    <a:pt x="6860286" y="5884037"/>
                  </a:lnTo>
                  <a:lnTo>
                    <a:pt x="184404" y="5884037"/>
                  </a:lnTo>
                  <a:lnTo>
                    <a:pt x="184404" y="5858637"/>
                  </a:lnTo>
                  <a:lnTo>
                    <a:pt x="184404" y="5884037"/>
                  </a:lnTo>
                  <a:cubicBezTo>
                    <a:pt x="82550" y="5884037"/>
                    <a:pt x="0" y="5801614"/>
                    <a:pt x="0" y="5699887"/>
                  </a:cubicBezTo>
                  <a:lnTo>
                    <a:pt x="0" y="184150"/>
                  </a:lnTo>
                  <a:lnTo>
                    <a:pt x="25400" y="184150"/>
                  </a:lnTo>
                  <a:lnTo>
                    <a:pt x="0" y="184150"/>
                  </a:lnTo>
                  <a:moveTo>
                    <a:pt x="50800" y="184150"/>
                  </a:moveTo>
                  <a:lnTo>
                    <a:pt x="50800" y="5699887"/>
                  </a:lnTo>
                  <a:lnTo>
                    <a:pt x="25400" y="5699887"/>
                  </a:lnTo>
                  <a:lnTo>
                    <a:pt x="50800" y="5699887"/>
                  </a:lnTo>
                  <a:cubicBezTo>
                    <a:pt x="50800" y="5773547"/>
                    <a:pt x="110617" y="5833237"/>
                    <a:pt x="184404" y="5833237"/>
                  </a:cubicBezTo>
                  <a:lnTo>
                    <a:pt x="6860286" y="5833237"/>
                  </a:lnTo>
                  <a:cubicBezTo>
                    <a:pt x="6934073" y="5833237"/>
                    <a:pt x="6993890" y="5773547"/>
                    <a:pt x="6993890" y="5699887"/>
                  </a:cubicBezTo>
                  <a:lnTo>
                    <a:pt x="6993890" y="184150"/>
                  </a:lnTo>
                  <a:cubicBezTo>
                    <a:pt x="6993890" y="110490"/>
                    <a:pt x="6934200" y="50800"/>
                    <a:pt x="6860286" y="50800"/>
                  </a:cubicBezTo>
                  <a:lnTo>
                    <a:pt x="184404" y="50800"/>
                  </a:lnTo>
                  <a:lnTo>
                    <a:pt x="184404" y="25400"/>
                  </a:lnTo>
                  <a:lnTo>
                    <a:pt x="184404" y="50800"/>
                  </a:lnTo>
                  <a:cubicBezTo>
                    <a:pt x="110617" y="50800"/>
                    <a:pt x="50800" y="110490"/>
                    <a:pt x="50800" y="184150"/>
                  </a:cubicBezTo>
                  <a:close/>
                </a:path>
              </a:pathLst>
            </a:custGeom>
            <a:solidFill>
              <a:srgbClr val="B8BFDF"/>
            </a:solidFill>
          </p:spPr>
        </p:sp>
      </p:grpSp>
      <p:grpSp>
        <p:nvGrpSpPr>
          <p:cNvPr name="Group 18" id="18"/>
          <p:cNvGrpSpPr/>
          <p:nvPr/>
        </p:nvGrpSpPr>
        <p:grpSpPr>
          <a:xfrm rot="0">
            <a:off x="6559306" y="3720551"/>
            <a:ext cx="5169246" cy="850554"/>
            <a:chOff x="0" y="0"/>
            <a:chExt cx="6892328" cy="1134072"/>
          </a:xfrm>
        </p:grpSpPr>
        <p:sp>
          <p:nvSpPr>
            <p:cNvPr name="Freeform 19" id="19"/>
            <p:cNvSpPr/>
            <p:nvPr/>
          </p:nvSpPr>
          <p:spPr>
            <a:xfrm flipH="false" flipV="false" rot="0">
              <a:off x="0" y="0"/>
              <a:ext cx="6892290" cy="1133983"/>
            </a:xfrm>
            <a:custGeom>
              <a:avLst/>
              <a:gdLst/>
              <a:ahLst/>
              <a:cxnLst/>
              <a:rect r="r" b="b" t="t" l="l"/>
              <a:pathLst>
                <a:path h="1133983" w="6892290">
                  <a:moveTo>
                    <a:pt x="0" y="97790"/>
                  </a:moveTo>
                  <a:cubicBezTo>
                    <a:pt x="0" y="43815"/>
                    <a:pt x="43815" y="0"/>
                    <a:pt x="97790" y="0"/>
                  </a:cubicBezTo>
                  <a:lnTo>
                    <a:pt x="6794500" y="0"/>
                  </a:lnTo>
                  <a:cubicBezTo>
                    <a:pt x="6848475" y="0"/>
                    <a:pt x="6892290" y="43815"/>
                    <a:pt x="6892290" y="97790"/>
                  </a:cubicBezTo>
                  <a:lnTo>
                    <a:pt x="6892290" y="1036193"/>
                  </a:lnTo>
                  <a:cubicBezTo>
                    <a:pt x="6892290" y="1090168"/>
                    <a:pt x="6848475" y="1133983"/>
                    <a:pt x="6794500" y="1133983"/>
                  </a:cubicBezTo>
                  <a:lnTo>
                    <a:pt x="97790" y="1133983"/>
                  </a:lnTo>
                  <a:cubicBezTo>
                    <a:pt x="43815" y="1133983"/>
                    <a:pt x="0" y="1090168"/>
                    <a:pt x="0" y="1036193"/>
                  </a:cubicBezTo>
                  <a:close/>
                </a:path>
              </a:pathLst>
            </a:custGeom>
            <a:solidFill>
              <a:srgbClr val="D2D9F9"/>
            </a:solidFill>
          </p:spPr>
        </p:sp>
      </p:grpSp>
      <p:sp>
        <p:nvSpPr>
          <p:cNvPr name="TextBox 20" id="20"/>
          <p:cNvSpPr txBox="true"/>
          <p:nvPr/>
        </p:nvSpPr>
        <p:spPr>
          <a:xfrm rot="0">
            <a:off x="8931326" y="3932339"/>
            <a:ext cx="425206" cy="474459"/>
          </a:xfrm>
          <a:prstGeom prst="rect">
            <a:avLst/>
          </a:prstGeom>
        </p:spPr>
        <p:txBody>
          <a:bodyPr anchor="t" rtlCol="false" tIns="0" lIns="0" bIns="0" rIns="0">
            <a:spAutoFit/>
          </a:bodyPr>
          <a:lstStyle/>
          <a:p>
            <a:pPr algn="l">
              <a:lnSpc>
                <a:spcPts val="3312"/>
              </a:lnSpc>
            </a:pPr>
            <a:r>
              <a:rPr lang="en-US" sz="3312">
                <a:solidFill>
                  <a:srgbClr val="404155"/>
                </a:solidFill>
                <a:latin typeface="Corben"/>
                <a:ea typeface="Corben"/>
                <a:cs typeface="Corben"/>
                <a:sym typeface="Corben"/>
              </a:rPr>
              <a:t>2</a:t>
            </a:r>
          </a:p>
        </p:txBody>
      </p:sp>
      <p:sp>
        <p:nvSpPr>
          <p:cNvPr name="TextBox 21" id="21"/>
          <p:cNvSpPr txBox="true"/>
          <p:nvPr/>
        </p:nvSpPr>
        <p:spPr>
          <a:xfrm rot="0">
            <a:off x="6842817" y="4845101"/>
            <a:ext cx="3544043"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AI &amp; ML Integration</a:t>
            </a:r>
          </a:p>
        </p:txBody>
      </p:sp>
      <p:sp>
        <p:nvSpPr>
          <p:cNvPr name="TextBox 22" id="22"/>
          <p:cNvSpPr txBox="true"/>
          <p:nvPr/>
        </p:nvSpPr>
        <p:spPr>
          <a:xfrm rot="0">
            <a:off x="6842817" y="5362870"/>
            <a:ext cx="4602213" cy="2372916"/>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Features: Face detection &amp; tracking, object detection (smartphones, books), gaze tracking, multiple person detection</a:t>
            </a:r>
          </a:p>
        </p:txBody>
      </p:sp>
      <p:grpSp>
        <p:nvGrpSpPr>
          <p:cNvPr name="Group 23" id="23"/>
          <p:cNvGrpSpPr/>
          <p:nvPr/>
        </p:nvGrpSpPr>
        <p:grpSpPr>
          <a:xfrm rot="0">
            <a:off x="12031113" y="3663401"/>
            <a:ext cx="5283546" cy="4413047"/>
            <a:chOff x="0" y="0"/>
            <a:chExt cx="7044728" cy="5884062"/>
          </a:xfrm>
        </p:grpSpPr>
        <p:sp>
          <p:nvSpPr>
            <p:cNvPr name="Freeform 24" id="24"/>
            <p:cNvSpPr/>
            <p:nvPr/>
          </p:nvSpPr>
          <p:spPr>
            <a:xfrm flipH="false" flipV="false" rot="0">
              <a:off x="25400" y="25400"/>
              <a:ext cx="6993890" cy="5833237"/>
            </a:xfrm>
            <a:custGeom>
              <a:avLst/>
              <a:gdLst/>
              <a:ahLst/>
              <a:cxnLst/>
              <a:rect r="r" b="b" t="t" l="l"/>
              <a:pathLst>
                <a:path h="5833237" w="6993890">
                  <a:moveTo>
                    <a:pt x="0" y="158750"/>
                  </a:moveTo>
                  <a:cubicBezTo>
                    <a:pt x="0" y="71120"/>
                    <a:pt x="71247" y="0"/>
                    <a:pt x="159004" y="0"/>
                  </a:cubicBezTo>
                  <a:lnTo>
                    <a:pt x="6834886" y="0"/>
                  </a:lnTo>
                  <a:cubicBezTo>
                    <a:pt x="6922643" y="0"/>
                    <a:pt x="6993890" y="71120"/>
                    <a:pt x="6993890" y="158750"/>
                  </a:cubicBezTo>
                  <a:lnTo>
                    <a:pt x="6993890" y="5674487"/>
                  </a:lnTo>
                  <a:cubicBezTo>
                    <a:pt x="6993890" y="5762117"/>
                    <a:pt x="6922643" y="5833237"/>
                    <a:pt x="6834886" y="5833237"/>
                  </a:cubicBezTo>
                  <a:lnTo>
                    <a:pt x="159004" y="5833237"/>
                  </a:lnTo>
                  <a:cubicBezTo>
                    <a:pt x="71247" y="5833237"/>
                    <a:pt x="0" y="5762117"/>
                    <a:pt x="0" y="5674487"/>
                  </a:cubicBezTo>
                  <a:close/>
                </a:path>
              </a:pathLst>
            </a:custGeom>
            <a:solidFill>
              <a:srgbClr val="F9F9FF">
                <a:alpha val="90196"/>
              </a:srgbClr>
            </a:solidFill>
          </p:spPr>
        </p:sp>
        <p:sp>
          <p:nvSpPr>
            <p:cNvPr name="Freeform 25" id="25"/>
            <p:cNvSpPr/>
            <p:nvPr/>
          </p:nvSpPr>
          <p:spPr>
            <a:xfrm flipH="false" flipV="false" rot="0">
              <a:off x="0" y="0"/>
              <a:ext cx="7044690" cy="5884037"/>
            </a:xfrm>
            <a:custGeom>
              <a:avLst/>
              <a:gdLst/>
              <a:ahLst/>
              <a:cxnLst/>
              <a:rect r="r" b="b" t="t" l="l"/>
              <a:pathLst>
                <a:path h="5884037" w="7044690">
                  <a:moveTo>
                    <a:pt x="0" y="184150"/>
                  </a:moveTo>
                  <a:cubicBezTo>
                    <a:pt x="0" y="82423"/>
                    <a:pt x="82550" y="0"/>
                    <a:pt x="184404" y="0"/>
                  </a:cubicBezTo>
                  <a:lnTo>
                    <a:pt x="6860286" y="0"/>
                  </a:lnTo>
                  <a:lnTo>
                    <a:pt x="6860286" y="25400"/>
                  </a:lnTo>
                  <a:lnTo>
                    <a:pt x="6860286" y="0"/>
                  </a:lnTo>
                  <a:cubicBezTo>
                    <a:pt x="6962140" y="0"/>
                    <a:pt x="7044690" y="82423"/>
                    <a:pt x="7044690" y="184150"/>
                  </a:cubicBezTo>
                  <a:lnTo>
                    <a:pt x="7019290" y="184150"/>
                  </a:lnTo>
                  <a:lnTo>
                    <a:pt x="7044690" y="184150"/>
                  </a:lnTo>
                  <a:lnTo>
                    <a:pt x="7044690" y="5699887"/>
                  </a:lnTo>
                  <a:lnTo>
                    <a:pt x="7019290" y="5699887"/>
                  </a:lnTo>
                  <a:lnTo>
                    <a:pt x="7044690" y="5699887"/>
                  </a:lnTo>
                  <a:cubicBezTo>
                    <a:pt x="7044690" y="5801614"/>
                    <a:pt x="6962140" y="5884037"/>
                    <a:pt x="6860286" y="5884037"/>
                  </a:cubicBezTo>
                  <a:lnTo>
                    <a:pt x="6860286" y="5858637"/>
                  </a:lnTo>
                  <a:lnTo>
                    <a:pt x="6860286" y="5884037"/>
                  </a:lnTo>
                  <a:lnTo>
                    <a:pt x="184404" y="5884037"/>
                  </a:lnTo>
                  <a:lnTo>
                    <a:pt x="184404" y="5858637"/>
                  </a:lnTo>
                  <a:lnTo>
                    <a:pt x="184404" y="5884037"/>
                  </a:lnTo>
                  <a:cubicBezTo>
                    <a:pt x="82550" y="5884037"/>
                    <a:pt x="0" y="5801614"/>
                    <a:pt x="0" y="5699887"/>
                  </a:cubicBezTo>
                  <a:lnTo>
                    <a:pt x="0" y="184150"/>
                  </a:lnTo>
                  <a:lnTo>
                    <a:pt x="25400" y="184150"/>
                  </a:lnTo>
                  <a:lnTo>
                    <a:pt x="0" y="184150"/>
                  </a:lnTo>
                  <a:moveTo>
                    <a:pt x="50800" y="184150"/>
                  </a:moveTo>
                  <a:lnTo>
                    <a:pt x="50800" y="5699887"/>
                  </a:lnTo>
                  <a:lnTo>
                    <a:pt x="25400" y="5699887"/>
                  </a:lnTo>
                  <a:lnTo>
                    <a:pt x="50800" y="5699887"/>
                  </a:lnTo>
                  <a:cubicBezTo>
                    <a:pt x="50800" y="5773547"/>
                    <a:pt x="110617" y="5833237"/>
                    <a:pt x="184404" y="5833237"/>
                  </a:cubicBezTo>
                  <a:lnTo>
                    <a:pt x="6860286" y="5833237"/>
                  </a:lnTo>
                  <a:cubicBezTo>
                    <a:pt x="6934073" y="5833237"/>
                    <a:pt x="6993890" y="5773547"/>
                    <a:pt x="6993890" y="5699887"/>
                  </a:cubicBezTo>
                  <a:lnTo>
                    <a:pt x="6993890" y="184150"/>
                  </a:lnTo>
                  <a:cubicBezTo>
                    <a:pt x="6993890" y="110490"/>
                    <a:pt x="6934200" y="50800"/>
                    <a:pt x="6860286" y="50800"/>
                  </a:cubicBezTo>
                  <a:lnTo>
                    <a:pt x="184404" y="50800"/>
                  </a:lnTo>
                  <a:lnTo>
                    <a:pt x="184404" y="25400"/>
                  </a:lnTo>
                  <a:lnTo>
                    <a:pt x="184404" y="50800"/>
                  </a:lnTo>
                  <a:cubicBezTo>
                    <a:pt x="110617" y="50800"/>
                    <a:pt x="50800" y="110490"/>
                    <a:pt x="50800" y="184150"/>
                  </a:cubicBezTo>
                  <a:close/>
                </a:path>
              </a:pathLst>
            </a:custGeom>
            <a:solidFill>
              <a:srgbClr val="B8BFDF"/>
            </a:solidFill>
          </p:spPr>
        </p:sp>
      </p:grpSp>
      <p:grpSp>
        <p:nvGrpSpPr>
          <p:cNvPr name="Group 26" id="26"/>
          <p:cNvGrpSpPr/>
          <p:nvPr/>
        </p:nvGrpSpPr>
        <p:grpSpPr>
          <a:xfrm rot="0">
            <a:off x="12088263" y="3720551"/>
            <a:ext cx="5169246" cy="850554"/>
            <a:chOff x="0" y="0"/>
            <a:chExt cx="6892328" cy="1134072"/>
          </a:xfrm>
        </p:grpSpPr>
        <p:sp>
          <p:nvSpPr>
            <p:cNvPr name="Freeform 27" id="27"/>
            <p:cNvSpPr/>
            <p:nvPr/>
          </p:nvSpPr>
          <p:spPr>
            <a:xfrm flipH="false" flipV="false" rot="0">
              <a:off x="0" y="0"/>
              <a:ext cx="6892290" cy="1133983"/>
            </a:xfrm>
            <a:custGeom>
              <a:avLst/>
              <a:gdLst/>
              <a:ahLst/>
              <a:cxnLst/>
              <a:rect r="r" b="b" t="t" l="l"/>
              <a:pathLst>
                <a:path h="1133983" w="6892290">
                  <a:moveTo>
                    <a:pt x="0" y="97790"/>
                  </a:moveTo>
                  <a:cubicBezTo>
                    <a:pt x="0" y="43815"/>
                    <a:pt x="43815" y="0"/>
                    <a:pt x="97790" y="0"/>
                  </a:cubicBezTo>
                  <a:lnTo>
                    <a:pt x="6794500" y="0"/>
                  </a:lnTo>
                  <a:cubicBezTo>
                    <a:pt x="6848475" y="0"/>
                    <a:pt x="6892290" y="43815"/>
                    <a:pt x="6892290" y="97790"/>
                  </a:cubicBezTo>
                  <a:lnTo>
                    <a:pt x="6892290" y="1036193"/>
                  </a:lnTo>
                  <a:cubicBezTo>
                    <a:pt x="6892290" y="1090168"/>
                    <a:pt x="6848475" y="1133983"/>
                    <a:pt x="6794500" y="1133983"/>
                  </a:cubicBezTo>
                  <a:lnTo>
                    <a:pt x="97790" y="1133983"/>
                  </a:lnTo>
                  <a:cubicBezTo>
                    <a:pt x="43815" y="1133983"/>
                    <a:pt x="0" y="1090168"/>
                    <a:pt x="0" y="1036193"/>
                  </a:cubicBezTo>
                  <a:close/>
                </a:path>
              </a:pathLst>
            </a:custGeom>
            <a:solidFill>
              <a:srgbClr val="D2D9F9"/>
            </a:solidFill>
          </p:spPr>
        </p:sp>
      </p:grpSp>
      <p:sp>
        <p:nvSpPr>
          <p:cNvPr name="TextBox 28" id="28"/>
          <p:cNvSpPr txBox="true"/>
          <p:nvPr/>
        </p:nvSpPr>
        <p:spPr>
          <a:xfrm rot="0">
            <a:off x="14460293" y="3932339"/>
            <a:ext cx="425206" cy="474459"/>
          </a:xfrm>
          <a:prstGeom prst="rect">
            <a:avLst/>
          </a:prstGeom>
        </p:spPr>
        <p:txBody>
          <a:bodyPr anchor="t" rtlCol="false" tIns="0" lIns="0" bIns="0" rIns="0">
            <a:spAutoFit/>
          </a:bodyPr>
          <a:lstStyle/>
          <a:p>
            <a:pPr algn="l">
              <a:lnSpc>
                <a:spcPts val="3312"/>
              </a:lnSpc>
            </a:pPr>
            <a:r>
              <a:rPr lang="en-US" sz="3312">
                <a:solidFill>
                  <a:srgbClr val="404155"/>
                </a:solidFill>
                <a:latin typeface="Corben"/>
                <a:ea typeface="Corben"/>
                <a:cs typeface="Corben"/>
                <a:sym typeface="Corben"/>
              </a:rPr>
              <a:t>3</a:t>
            </a:r>
          </a:p>
        </p:txBody>
      </p:sp>
      <p:sp>
        <p:nvSpPr>
          <p:cNvPr name="TextBox 29" id="29"/>
          <p:cNvSpPr txBox="true"/>
          <p:nvPr/>
        </p:nvSpPr>
        <p:spPr>
          <a:xfrm rot="0">
            <a:off x="12371784" y="4845101"/>
            <a:ext cx="4602213"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Real-Time Host Monitoring Interface</a:t>
            </a:r>
          </a:p>
        </p:txBody>
      </p:sp>
      <p:sp>
        <p:nvSpPr>
          <p:cNvPr name="TextBox 30" id="30"/>
          <p:cNvSpPr txBox="true"/>
          <p:nvPr/>
        </p:nvSpPr>
        <p:spPr>
          <a:xfrm rot="0">
            <a:off x="12371784" y="5805783"/>
            <a:ext cx="4602213" cy="1012031"/>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Dashboard with live status stream and violation alerts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1492148"/>
            <a:ext cx="7088238" cy="914552"/>
          </a:xfrm>
          <a:prstGeom prst="rect">
            <a:avLst/>
          </a:prstGeom>
        </p:spPr>
        <p:txBody>
          <a:bodyPr anchor="t" rtlCol="false" tIns="0" lIns="0" bIns="0" rIns="0">
            <a:spAutoFit/>
          </a:bodyPr>
          <a:lstStyle/>
          <a:p>
            <a:pPr algn="l">
              <a:lnSpc>
                <a:spcPts val="6937"/>
              </a:lnSpc>
            </a:pPr>
            <a:r>
              <a:rPr lang="en-US" sz="5562">
                <a:solidFill>
                  <a:srgbClr val="1B1B27"/>
                </a:solidFill>
                <a:latin typeface="Corben"/>
                <a:ea typeface="Corben"/>
                <a:cs typeface="Corben"/>
                <a:sym typeface="Corben"/>
              </a:rPr>
              <a:t>Conclusion</a:t>
            </a:r>
          </a:p>
        </p:txBody>
      </p:sp>
      <p:grpSp>
        <p:nvGrpSpPr>
          <p:cNvPr name="Group 7" id="7"/>
          <p:cNvGrpSpPr/>
          <p:nvPr/>
        </p:nvGrpSpPr>
        <p:grpSpPr>
          <a:xfrm rot="0">
            <a:off x="973188" y="2954684"/>
            <a:ext cx="3901230" cy="5830643"/>
            <a:chOff x="0" y="0"/>
            <a:chExt cx="5201641" cy="7774191"/>
          </a:xfrm>
        </p:grpSpPr>
        <p:sp>
          <p:nvSpPr>
            <p:cNvPr name="Freeform 8" id="8"/>
            <p:cNvSpPr/>
            <p:nvPr/>
          </p:nvSpPr>
          <p:spPr>
            <a:xfrm flipH="false" flipV="false" rot="0">
              <a:off x="25400" y="25400"/>
              <a:ext cx="5150866" cy="7723378"/>
            </a:xfrm>
            <a:custGeom>
              <a:avLst/>
              <a:gdLst/>
              <a:ahLst/>
              <a:cxnLst/>
              <a:rect r="r" b="b" t="t" l="l"/>
              <a:pathLst>
                <a:path h="7723378" w="5150866">
                  <a:moveTo>
                    <a:pt x="0" y="244602"/>
                  </a:moveTo>
                  <a:cubicBezTo>
                    <a:pt x="0" y="109474"/>
                    <a:pt x="109220" y="0"/>
                    <a:pt x="243840" y="0"/>
                  </a:cubicBezTo>
                  <a:lnTo>
                    <a:pt x="4907026" y="0"/>
                  </a:lnTo>
                  <a:cubicBezTo>
                    <a:pt x="5041646" y="0"/>
                    <a:pt x="5150866" y="109474"/>
                    <a:pt x="5150866" y="244602"/>
                  </a:cubicBezTo>
                  <a:lnTo>
                    <a:pt x="5150866" y="7478776"/>
                  </a:lnTo>
                  <a:cubicBezTo>
                    <a:pt x="5150866" y="7613904"/>
                    <a:pt x="5041646" y="7723378"/>
                    <a:pt x="4907026" y="7723378"/>
                  </a:cubicBezTo>
                  <a:lnTo>
                    <a:pt x="243840" y="7723378"/>
                  </a:lnTo>
                  <a:cubicBezTo>
                    <a:pt x="109220" y="7723378"/>
                    <a:pt x="0" y="7613904"/>
                    <a:pt x="0" y="7478776"/>
                  </a:cubicBezTo>
                  <a:close/>
                </a:path>
              </a:pathLst>
            </a:custGeom>
            <a:solidFill>
              <a:srgbClr val="F9F9FF">
                <a:alpha val="90196"/>
              </a:srgbClr>
            </a:solidFill>
          </p:spPr>
        </p:sp>
        <p:sp>
          <p:nvSpPr>
            <p:cNvPr name="Freeform 9" id="9"/>
            <p:cNvSpPr/>
            <p:nvPr/>
          </p:nvSpPr>
          <p:spPr>
            <a:xfrm flipH="false" flipV="false" rot="0">
              <a:off x="0" y="0"/>
              <a:ext cx="5201666" cy="7774178"/>
            </a:xfrm>
            <a:custGeom>
              <a:avLst/>
              <a:gdLst/>
              <a:ahLst/>
              <a:cxnLst/>
              <a:rect r="r" b="b" t="t" l="l"/>
              <a:pathLst>
                <a:path h="7774178" w="5201666">
                  <a:moveTo>
                    <a:pt x="0" y="270002"/>
                  </a:moveTo>
                  <a:cubicBezTo>
                    <a:pt x="0" y="121031"/>
                    <a:pt x="120523" y="0"/>
                    <a:pt x="269240" y="0"/>
                  </a:cubicBezTo>
                  <a:lnTo>
                    <a:pt x="4932426" y="0"/>
                  </a:lnTo>
                  <a:lnTo>
                    <a:pt x="4932426" y="25400"/>
                  </a:lnTo>
                  <a:lnTo>
                    <a:pt x="4932426" y="0"/>
                  </a:lnTo>
                  <a:cubicBezTo>
                    <a:pt x="5081143" y="0"/>
                    <a:pt x="5201666" y="121031"/>
                    <a:pt x="5201666" y="270002"/>
                  </a:cubicBezTo>
                  <a:lnTo>
                    <a:pt x="5176266" y="270002"/>
                  </a:lnTo>
                  <a:lnTo>
                    <a:pt x="5201666" y="270002"/>
                  </a:lnTo>
                  <a:lnTo>
                    <a:pt x="5201666" y="7504176"/>
                  </a:lnTo>
                  <a:lnTo>
                    <a:pt x="5176266" y="7504176"/>
                  </a:lnTo>
                  <a:lnTo>
                    <a:pt x="5201666" y="7504176"/>
                  </a:lnTo>
                  <a:cubicBezTo>
                    <a:pt x="5201666" y="7653274"/>
                    <a:pt x="5081143" y="7774178"/>
                    <a:pt x="4932426" y="7774178"/>
                  </a:cubicBezTo>
                  <a:lnTo>
                    <a:pt x="4932426" y="7748778"/>
                  </a:lnTo>
                  <a:lnTo>
                    <a:pt x="4932426" y="7774178"/>
                  </a:lnTo>
                  <a:lnTo>
                    <a:pt x="269240" y="7774178"/>
                  </a:lnTo>
                  <a:lnTo>
                    <a:pt x="269240" y="7748778"/>
                  </a:lnTo>
                  <a:lnTo>
                    <a:pt x="269240" y="7774178"/>
                  </a:lnTo>
                  <a:cubicBezTo>
                    <a:pt x="120523" y="7774178"/>
                    <a:pt x="0" y="7653147"/>
                    <a:pt x="0" y="7504176"/>
                  </a:cubicBezTo>
                  <a:lnTo>
                    <a:pt x="0" y="270002"/>
                  </a:lnTo>
                  <a:lnTo>
                    <a:pt x="25400" y="270002"/>
                  </a:lnTo>
                  <a:lnTo>
                    <a:pt x="0" y="270002"/>
                  </a:lnTo>
                  <a:moveTo>
                    <a:pt x="50800" y="270002"/>
                  </a:moveTo>
                  <a:lnTo>
                    <a:pt x="50800" y="7504176"/>
                  </a:lnTo>
                  <a:lnTo>
                    <a:pt x="25400" y="7504176"/>
                  </a:lnTo>
                  <a:lnTo>
                    <a:pt x="50800" y="7504176"/>
                  </a:lnTo>
                  <a:cubicBezTo>
                    <a:pt x="50800" y="7625334"/>
                    <a:pt x="148717" y="7723378"/>
                    <a:pt x="269240" y="7723378"/>
                  </a:cubicBezTo>
                  <a:lnTo>
                    <a:pt x="4932426" y="7723378"/>
                  </a:lnTo>
                  <a:cubicBezTo>
                    <a:pt x="5052949" y="7723378"/>
                    <a:pt x="5150866" y="7625334"/>
                    <a:pt x="5150866" y="7504176"/>
                  </a:cubicBezTo>
                  <a:lnTo>
                    <a:pt x="5150866" y="270002"/>
                  </a:lnTo>
                  <a:cubicBezTo>
                    <a:pt x="5150866" y="148844"/>
                    <a:pt x="5052949" y="50800"/>
                    <a:pt x="4932426" y="50800"/>
                  </a:cubicBezTo>
                  <a:lnTo>
                    <a:pt x="269240" y="50800"/>
                  </a:lnTo>
                  <a:lnTo>
                    <a:pt x="269240" y="25400"/>
                  </a:lnTo>
                  <a:lnTo>
                    <a:pt x="269240" y="50800"/>
                  </a:lnTo>
                  <a:cubicBezTo>
                    <a:pt x="148717" y="50800"/>
                    <a:pt x="50800" y="148844"/>
                    <a:pt x="50800" y="270002"/>
                  </a:cubicBezTo>
                  <a:close/>
                </a:path>
              </a:pathLst>
            </a:custGeom>
            <a:solidFill>
              <a:srgbClr val="B8BFDF"/>
            </a:solidFill>
          </p:spPr>
        </p:sp>
      </p:grpSp>
      <p:grpSp>
        <p:nvGrpSpPr>
          <p:cNvPr name="Group 10" id="10"/>
          <p:cNvGrpSpPr/>
          <p:nvPr/>
        </p:nvGrpSpPr>
        <p:grpSpPr>
          <a:xfrm rot="0">
            <a:off x="954138" y="2973734"/>
            <a:ext cx="152400" cy="5792543"/>
            <a:chOff x="0" y="0"/>
            <a:chExt cx="203200" cy="7723391"/>
          </a:xfrm>
        </p:grpSpPr>
        <p:sp>
          <p:nvSpPr>
            <p:cNvPr name="Freeform 11" id="11"/>
            <p:cNvSpPr/>
            <p:nvPr/>
          </p:nvSpPr>
          <p:spPr>
            <a:xfrm flipH="false" flipV="false" rot="0">
              <a:off x="0" y="0"/>
              <a:ext cx="203200" cy="7723378"/>
            </a:xfrm>
            <a:custGeom>
              <a:avLst/>
              <a:gdLst/>
              <a:ahLst/>
              <a:cxnLst/>
              <a:rect r="r" b="b" t="t" l="l"/>
              <a:pathLst>
                <a:path h="7723378" w="203200">
                  <a:moveTo>
                    <a:pt x="0" y="101600"/>
                  </a:moveTo>
                  <a:cubicBezTo>
                    <a:pt x="0" y="45466"/>
                    <a:pt x="45466" y="0"/>
                    <a:pt x="101600" y="0"/>
                  </a:cubicBezTo>
                  <a:cubicBezTo>
                    <a:pt x="157734" y="0"/>
                    <a:pt x="203200" y="45466"/>
                    <a:pt x="203200" y="101600"/>
                  </a:cubicBezTo>
                  <a:lnTo>
                    <a:pt x="203200" y="7621778"/>
                  </a:lnTo>
                  <a:cubicBezTo>
                    <a:pt x="203200" y="7677912"/>
                    <a:pt x="157734" y="7723378"/>
                    <a:pt x="101600" y="7723378"/>
                  </a:cubicBezTo>
                  <a:cubicBezTo>
                    <a:pt x="45466" y="7723378"/>
                    <a:pt x="0" y="7677912"/>
                    <a:pt x="0" y="7621778"/>
                  </a:cubicBezTo>
                  <a:close/>
                </a:path>
              </a:pathLst>
            </a:custGeom>
            <a:solidFill>
              <a:srgbClr val="4967E9"/>
            </a:solidFill>
          </p:spPr>
        </p:sp>
      </p:grpSp>
      <p:sp>
        <p:nvSpPr>
          <p:cNvPr name="TextBox 12" id="12"/>
          <p:cNvSpPr txBox="true"/>
          <p:nvPr/>
        </p:nvSpPr>
        <p:spPr>
          <a:xfrm rot="0">
            <a:off x="1428159" y="3285830"/>
            <a:ext cx="3105598"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No Cheat Zone at a Glance</a:t>
            </a:r>
          </a:p>
        </p:txBody>
      </p:sp>
      <p:sp>
        <p:nvSpPr>
          <p:cNvPr name="TextBox 13" id="13"/>
          <p:cNvSpPr txBox="true"/>
          <p:nvPr/>
        </p:nvSpPr>
        <p:spPr>
          <a:xfrm rot="0">
            <a:off x="1428159" y="4246512"/>
            <a:ext cx="3105598" cy="4187428"/>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No Cheat Zone is designed to strengthen online exam integrity with intelligent monitoring, real-time detection, and actionable alerts that help maintain fairness at scale.</a:t>
            </a:r>
          </a:p>
        </p:txBody>
      </p:sp>
      <p:grpSp>
        <p:nvGrpSpPr>
          <p:cNvPr name="Group 14" id="14"/>
          <p:cNvGrpSpPr/>
          <p:nvPr/>
        </p:nvGrpSpPr>
        <p:grpSpPr>
          <a:xfrm rot="0">
            <a:off x="5119840" y="2954684"/>
            <a:ext cx="3901383" cy="5830643"/>
            <a:chOff x="0" y="0"/>
            <a:chExt cx="5201844" cy="7774191"/>
          </a:xfrm>
        </p:grpSpPr>
        <p:sp>
          <p:nvSpPr>
            <p:cNvPr name="Freeform 15" id="15"/>
            <p:cNvSpPr/>
            <p:nvPr/>
          </p:nvSpPr>
          <p:spPr>
            <a:xfrm flipH="false" flipV="false" rot="0">
              <a:off x="25400" y="25400"/>
              <a:ext cx="5150993" cy="7723378"/>
            </a:xfrm>
            <a:custGeom>
              <a:avLst/>
              <a:gdLst/>
              <a:ahLst/>
              <a:cxnLst/>
              <a:rect r="r" b="b" t="t" l="l"/>
              <a:pathLst>
                <a:path h="7723378" w="5150993">
                  <a:moveTo>
                    <a:pt x="0" y="244602"/>
                  </a:moveTo>
                  <a:cubicBezTo>
                    <a:pt x="0" y="109474"/>
                    <a:pt x="109220" y="0"/>
                    <a:pt x="243840" y="0"/>
                  </a:cubicBezTo>
                  <a:lnTo>
                    <a:pt x="4907153" y="0"/>
                  </a:lnTo>
                  <a:cubicBezTo>
                    <a:pt x="5041773" y="0"/>
                    <a:pt x="5150993" y="109474"/>
                    <a:pt x="5150993" y="244602"/>
                  </a:cubicBezTo>
                  <a:lnTo>
                    <a:pt x="5150993" y="7478776"/>
                  </a:lnTo>
                  <a:cubicBezTo>
                    <a:pt x="5150993" y="7613904"/>
                    <a:pt x="5041773" y="7723378"/>
                    <a:pt x="4907153" y="7723378"/>
                  </a:cubicBezTo>
                  <a:lnTo>
                    <a:pt x="243840" y="7723378"/>
                  </a:lnTo>
                  <a:cubicBezTo>
                    <a:pt x="109220" y="7723378"/>
                    <a:pt x="0" y="7613904"/>
                    <a:pt x="0" y="7478776"/>
                  </a:cubicBezTo>
                  <a:close/>
                </a:path>
              </a:pathLst>
            </a:custGeom>
            <a:solidFill>
              <a:srgbClr val="F9F9FF">
                <a:alpha val="90196"/>
              </a:srgbClr>
            </a:solidFill>
          </p:spPr>
        </p:sp>
        <p:sp>
          <p:nvSpPr>
            <p:cNvPr name="Freeform 16" id="16"/>
            <p:cNvSpPr/>
            <p:nvPr/>
          </p:nvSpPr>
          <p:spPr>
            <a:xfrm flipH="false" flipV="false" rot="0">
              <a:off x="0" y="0"/>
              <a:ext cx="5201793" cy="7774178"/>
            </a:xfrm>
            <a:custGeom>
              <a:avLst/>
              <a:gdLst/>
              <a:ahLst/>
              <a:cxnLst/>
              <a:rect r="r" b="b" t="t" l="l"/>
              <a:pathLst>
                <a:path h="7774178" w="5201793">
                  <a:moveTo>
                    <a:pt x="0" y="270002"/>
                  </a:moveTo>
                  <a:cubicBezTo>
                    <a:pt x="0" y="121031"/>
                    <a:pt x="120523" y="0"/>
                    <a:pt x="269240" y="0"/>
                  </a:cubicBezTo>
                  <a:lnTo>
                    <a:pt x="4932553" y="0"/>
                  </a:lnTo>
                  <a:lnTo>
                    <a:pt x="4932553" y="25400"/>
                  </a:lnTo>
                  <a:lnTo>
                    <a:pt x="4932553" y="0"/>
                  </a:lnTo>
                  <a:cubicBezTo>
                    <a:pt x="5081397" y="0"/>
                    <a:pt x="5201793" y="121031"/>
                    <a:pt x="5201793" y="270002"/>
                  </a:cubicBezTo>
                  <a:lnTo>
                    <a:pt x="5176393" y="270002"/>
                  </a:lnTo>
                  <a:lnTo>
                    <a:pt x="5201793" y="270002"/>
                  </a:lnTo>
                  <a:lnTo>
                    <a:pt x="5201793" y="7504176"/>
                  </a:lnTo>
                  <a:lnTo>
                    <a:pt x="5176393" y="7504176"/>
                  </a:lnTo>
                  <a:lnTo>
                    <a:pt x="5201793" y="7504176"/>
                  </a:lnTo>
                  <a:cubicBezTo>
                    <a:pt x="5201793" y="7653274"/>
                    <a:pt x="5081270" y="7774178"/>
                    <a:pt x="4932553" y="7774178"/>
                  </a:cubicBezTo>
                  <a:lnTo>
                    <a:pt x="4932553" y="7748778"/>
                  </a:lnTo>
                  <a:lnTo>
                    <a:pt x="4932553" y="7774178"/>
                  </a:lnTo>
                  <a:lnTo>
                    <a:pt x="269240" y="7774178"/>
                  </a:lnTo>
                  <a:lnTo>
                    <a:pt x="269240" y="7748778"/>
                  </a:lnTo>
                  <a:lnTo>
                    <a:pt x="269240" y="7774178"/>
                  </a:lnTo>
                  <a:cubicBezTo>
                    <a:pt x="120523" y="7774178"/>
                    <a:pt x="0" y="7653147"/>
                    <a:pt x="0" y="7504176"/>
                  </a:cubicBezTo>
                  <a:lnTo>
                    <a:pt x="0" y="270002"/>
                  </a:lnTo>
                  <a:lnTo>
                    <a:pt x="25400" y="270002"/>
                  </a:lnTo>
                  <a:lnTo>
                    <a:pt x="0" y="270002"/>
                  </a:lnTo>
                  <a:moveTo>
                    <a:pt x="50800" y="270002"/>
                  </a:moveTo>
                  <a:lnTo>
                    <a:pt x="50800" y="7504176"/>
                  </a:lnTo>
                  <a:lnTo>
                    <a:pt x="25400" y="7504176"/>
                  </a:lnTo>
                  <a:lnTo>
                    <a:pt x="50800" y="7504176"/>
                  </a:lnTo>
                  <a:cubicBezTo>
                    <a:pt x="50800" y="7625334"/>
                    <a:pt x="148717" y="7723378"/>
                    <a:pt x="269240" y="7723378"/>
                  </a:cubicBezTo>
                  <a:lnTo>
                    <a:pt x="4932553" y="7723378"/>
                  </a:lnTo>
                  <a:cubicBezTo>
                    <a:pt x="5053076" y="7723378"/>
                    <a:pt x="5150993" y="7625334"/>
                    <a:pt x="5150993" y="7504176"/>
                  </a:cubicBezTo>
                  <a:lnTo>
                    <a:pt x="5150993" y="270002"/>
                  </a:lnTo>
                  <a:cubicBezTo>
                    <a:pt x="5150993" y="148844"/>
                    <a:pt x="5053076" y="50800"/>
                    <a:pt x="4932553" y="50800"/>
                  </a:cubicBezTo>
                  <a:lnTo>
                    <a:pt x="269240" y="50800"/>
                  </a:lnTo>
                  <a:lnTo>
                    <a:pt x="269240" y="25400"/>
                  </a:lnTo>
                  <a:lnTo>
                    <a:pt x="269240" y="50800"/>
                  </a:lnTo>
                  <a:cubicBezTo>
                    <a:pt x="148717" y="50800"/>
                    <a:pt x="50800" y="148844"/>
                    <a:pt x="50800" y="270002"/>
                  </a:cubicBezTo>
                  <a:close/>
                </a:path>
              </a:pathLst>
            </a:custGeom>
            <a:solidFill>
              <a:srgbClr val="B8BFDF"/>
            </a:solidFill>
          </p:spPr>
        </p:sp>
      </p:grpSp>
      <p:grpSp>
        <p:nvGrpSpPr>
          <p:cNvPr name="Group 17" id="17"/>
          <p:cNvGrpSpPr/>
          <p:nvPr/>
        </p:nvGrpSpPr>
        <p:grpSpPr>
          <a:xfrm rot="0">
            <a:off x="5100790" y="2973734"/>
            <a:ext cx="152400" cy="5792543"/>
            <a:chOff x="0" y="0"/>
            <a:chExt cx="203200" cy="7723391"/>
          </a:xfrm>
        </p:grpSpPr>
        <p:sp>
          <p:nvSpPr>
            <p:cNvPr name="Freeform 18" id="18"/>
            <p:cNvSpPr/>
            <p:nvPr/>
          </p:nvSpPr>
          <p:spPr>
            <a:xfrm flipH="false" flipV="false" rot="0">
              <a:off x="0" y="0"/>
              <a:ext cx="203200" cy="7723378"/>
            </a:xfrm>
            <a:custGeom>
              <a:avLst/>
              <a:gdLst/>
              <a:ahLst/>
              <a:cxnLst/>
              <a:rect r="r" b="b" t="t" l="l"/>
              <a:pathLst>
                <a:path h="7723378" w="203200">
                  <a:moveTo>
                    <a:pt x="0" y="101600"/>
                  </a:moveTo>
                  <a:cubicBezTo>
                    <a:pt x="0" y="45466"/>
                    <a:pt x="45466" y="0"/>
                    <a:pt x="101600" y="0"/>
                  </a:cubicBezTo>
                  <a:cubicBezTo>
                    <a:pt x="157734" y="0"/>
                    <a:pt x="203200" y="45466"/>
                    <a:pt x="203200" y="101600"/>
                  </a:cubicBezTo>
                  <a:lnTo>
                    <a:pt x="203200" y="7621778"/>
                  </a:lnTo>
                  <a:cubicBezTo>
                    <a:pt x="203200" y="7677912"/>
                    <a:pt x="157734" y="7723378"/>
                    <a:pt x="101600" y="7723378"/>
                  </a:cubicBezTo>
                  <a:cubicBezTo>
                    <a:pt x="45466" y="7723378"/>
                    <a:pt x="0" y="7677912"/>
                    <a:pt x="0" y="7621778"/>
                  </a:cubicBezTo>
                  <a:close/>
                </a:path>
              </a:pathLst>
            </a:custGeom>
            <a:solidFill>
              <a:srgbClr val="4967E9"/>
            </a:solidFill>
          </p:spPr>
        </p:sp>
      </p:grpSp>
      <p:sp>
        <p:nvSpPr>
          <p:cNvPr name="TextBox 19" id="19"/>
          <p:cNvSpPr txBox="true"/>
          <p:nvPr/>
        </p:nvSpPr>
        <p:spPr>
          <a:xfrm rot="0">
            <a:off x="5574802" y="3285830"/>
            <a:ext cx="3105741"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Key Impact</a:t>
            </a:r>
          </a:p>
        </p:txBody>
      </p:sp>
      <p:sp>
        <p:nvSpPr>
          <p:cNvPr name="TextBox 20" id="20"/>
          <p:cNvSpPr txBox="true"/>
          <p:nvPr/>
        </p:nvSpPr>
        <p:spPr>
          <a:xfrm rot="0">
            <a:off x="5574802" y="3803599"/>
            <a:ext cx="3105741" cy="4641056"/>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By identifying suspicious behavior and reducing opportunities for cheating, the system addresses one of the biggest challenges in digital assessments: preserving trust in the evaluation process.</a:t>
            </a:r>
          </a:p>
        </p:txBody>
      </p:sp>
      <p:grpSp>
        <p:nvGrpSpPr>
          <p:cNvPr name="Group 21" id="21"/>
          <p:cNvGrpSpPr/>
          <p:nvPr/>
        </p:nvGrpSpPr>
        <p:grpSpPr>
          <a:xfrm rot="0">
            <a:off x="9266634" y="2954684"/>
            <a:ext cx="3901383" cy="5830643"/>
            <a:chOff x="0" y="0"/>
            <a:chExt cx="5201844" cy="7774191"/>
          </a:xfrm>
        </p:grpSpPr>
        <p:sp>
          <p:nvSpPr>
            <p:cNvPr name="Freeform 22" id="22"/>
            <p:cNvSpPr/>
            <p:nvPr/>
          </p:nvSpPr>
          <p:spPr>
            <a:xfrm flipH="false" flipV="false" rot="0">
              <a:off x="25400" y="25400"/>
              <a:ext cx="5150993" cy="7723378"/>
            </a:xfrm>
            <a:custGeom>
              <a:avLst/>
              <a:gdLst/>
              <a:ahLst/>
              <a:cxnLst/>
              <a:rect r="r" b="b" t="t" l="l"/>
              <a:pathLst>
                <a:path h="7723378" w="5150993">
                  <a:moveTo>
                    <a:pt x="0" y="244602"/>
                  </a:moveTo>
                  <a:cubicBezTo>
                    <a:pt x="0" y="109474"/>
                    <a:pt x="109220" y="0"/>
                    <a:pt x="243840" y="0"/>
                  </a:cubicBezTo>
                  <a:lnTo>
                    <a:pt x="4907153" y="0"/>
                  </a:lnTo>
                  <a:cubicBezTo>
                    <a:pt x="5041773" y="0"/>
                    <a:pt x="5150993" y="109474"/>
                    <a:pt x="5150993" y="244602"/>
                  </a:cubicBezTo>
                  <a:lnTo>
                    <a:pt x="5150993" y="7478776"/>
                  </a:lnTo>
                  <a:cubicBezTo>
                    <a:pt x="5150993" y="7613904"/>
                    <a:pt x="5041773" y="7723378"/>
                    <a:pt x="4907153" y="7723378"/>
                  </a:cubicBezTo>
                  <a:lnTo>
                    <a:pt x="243840" y="7723378"/>
                  </a:lnTo>
                  <a:cubicBezTo>
                    <a:pt x="109220" y="7723378"/>
                    <a:pt x="0" y="7613904"/>
                    <a:pt x="0" y="7478776"/>
                  </a:cubicBezTo>
                  <a:close/>
                </a:path>
              </a:pathLst>
            </a:custGeom>
            <a:solidFill>
              <a:srgbClr val="F9F9FF">
                <a:alpha val="90196"/>
              </a:srgbClr>
            </a:solidFill>
          </p:spPr>
        </p:sp>
        <p:sp>
          <p:nvSpPr>
            <p:cNvPr name="Freeform 23" id="23"/>
            <p:cNvSpPr/>
            <p:nvPr/>
          </p:nvSpPr>
          <p:spPr>
            <a:xfrm flipH="false" flipV="false" rot="0">
              <a:off x="0" y="0"/>
              <a:ext cx="5201793" cy="7774178"/>
            </a:xfrm>
            <a:custGeom>
              <a:avLst/>
              <a:gdLst/>
              <a:ahLst/>
              <a:cxnLst/>
              <a:rect r="r" b="b" t="t" l="l"/>
              <a:pathLst>
                <a:path h="7774178" w="5201793">
                  <a:moveTo>
                    <a:pt x="0" y="270002"/>
                  </a:moveTo>
                  <a:cubicBezTo>
                    <a:pt x="0" y="121031"/>
                    <a:pt x="120523" y="0"/>
                    <a:pt x="269240" y="0"/>
                  </a:cubicBezTo>
                  <a:lnTo>
                    <a:pt x="4932553" y="0"/>
                  </a:lnTo>
                  <a:lnTo>
                    <a:pt x="4932553" y="25400"/>
                  </a:lnTo>
                  <a:lnTo>
                    <a:pt x="4932553" y="0"/>
                  </a:lnTo>
                  <a:cubicBezTo>
                    <a:pt x="5081397" y="0"/>
                    <a:pt x="5201793" y="121031"/>
                    <a:pt x="5201793" y="270002"/>
                  </a:cubicBezTo>
                  <a:lnTo>
                    <a:pt x="5176393" y="270002"/>
                  </a:lnTo>
                  <a:lnTo>
                    <a:pt x="5201793" y="270002"/>
                  </a:lnTo>
                  <a:lnTo>
                    <a:pt x="5201793" y="7504176"/>
                  </a:lnTo>
                  <a:lnTo>
                    <a:pt x="5176393" y="7504176"/>
                  </a:lnTo>
                  <a:lnTo>
                    <a:pt x="5201793" y="7504176"/>
                  </a:lnTo>
                  <a:cubicBezTo>
                    <a:pt x="5201793" y="7653274"/>
                    <a:pt x="5081270" y="7774178"/>
                    <a:pt x="4932553" y="7774178"/>
                  </a:cubicBezTo>
                  <a:lnTo>
                    <a:pt x="4932553" y="7748778"/>
                  </a:lnTo>
                  <a:lnTo>
                    <a:pt x="4932553" y="7774178"/>
                  </a:lnTo>
                  <a:lnTo>
                    <a:pt x="269240" y="7774178"/>
                  </a:lnTo>
                  <a:lnTo>
                    <a:pt x="269240" y="7748778"/>
                  </a:lnTo>
                  <a:lnTo>
                    <a:pt x="269240" y="7774178"/>
                  </a:lnTo>
                  <a:cubicBezTo>
                    <a:pt x="120523" y="7774178"/>
                    <a:pt x="0" y="7653147"/>
                    <a:pt x="0" y="7504176"/>
                  </a:cubicBezTo>
                  <a:lnTo>
                    <a:pt x="0" y="270002"/>
                  </a:lnTo>
                  <a:lnTo>
                    <a:pt x="25400" y="270002"/>
                  </a:lnTo>
                  <a:lnTo>
                    <a:pt x="0" y="270002"/>
                  </a:lnTo>
                  <a:moveTo>
                    <a:pt x="50800" y="270002"/>
                  </a:moveTo>
                  <a:lnTo>
                    <a:pt x="50800" y="7504176"/>
                  </a:lnTo>
                  <a:lnTo>
                    <a:pt x="25400" y="7504176"/>
                  </a:lnTo>
                  <a:lnTo>
                    <a:pt x="50800" y="7504176"/>
                  </a:lnTo>
                  <a:cubicBezTo>
                    <a:pt x="50800" y="7625334"/>
                    <a:pt x="148717" y="7723378"/>
                    <a:pt x="269240" y="7723378"/>
                  </a:cubicBezTo>
                  <a:lnTo>
                    <a:pt x="4932553" y="7723378"/>
                  </a:lnTo>
                  <a:cubicBezTo>
                    <a:pt x="5053076" y="7723378"/>
                    <a:pt x="5150993" y="7625334"/>
                    <a:pt x="5150993" y="7504176"/>
                  </a:cubicBezTo>
                  <a:lnTo>
                    <a:pt x="5150993" y="270002"/>
                  </a:lnTo>
                  <a:cubicBezTo>
                    <a:pt x="5150993" y="148844"/>
                    <a:pt x="5053076" y="50800"/>
                    <a:pt x="4932553" y="50800"/>
                  </a:cubicBezTo>
                  <a:lnTo>
                    <a:pt x="269240" y="50800"/>
                  </a:lnTo>
                  <a:lnTo>
                    <a:pt x="269240" y="25400"/>
                  </a:lnTo>
                  <a:lnTo>
                    <a:pt x="269240" y="50800"/>
                  </a:lnTo>
                  <a:cubicBezTo>
                    <a:pt x="148717" y="50800"/>
                    <a:pt x="50800" y="148844"/>
                    <a:pt x="50800" y="270002"/>
                  </a:cubicBezTo>
                  <a:close/>
                </a:path>
              </a:pathLst>
            </a:custGeom>
            <a:solidFill>
              <a:srgbClr val="B8BFDF"/>
            </a:solidFill>
          </p:spPr>
        </p:sp>
      </p:grpSp>
      <p:grpSp>
        <p:nvGrpSpPr>
          <p:cNvPr name="Group 24" id="24"/>
          <p:cNvGrpSpPr/>
          <p:nvPr/>
        </p:nvGrpSpPr>
        <p:grpSpPr>
          <a:xfrm rot="0">
            <a:off x="9247584" y="2973734"/>
            <a:ext cx="152400" cy="5792543"/>
            <a:chOff x="0" y="0"/>
            <a:chExt cx="203200" cy="7723391"/>
          </a:xfrm>
        </p:grpSpPr>
        <p:sp>
          <p:nvSpPr>
            <p:cNvPr name="Freeform 25" id="25"/>
            <p:cNvSpPr/>
            <p:nvPr/>
          </p:nvSpPr>
          <p:spPr>
            <a:xfrm flipH="false" flipV="false" rot="0">
              <a:off x="0" y="0"/>
              <a:ext cx="203200" cy="7723378"/>
            </a:xfrm>
            <a:custGeom>
              <a:avLst/>
              <a:gdLst/>
              <a:ahLst/>
              <a:cxnLst/>
              <a:rect r="r" b="b" t="t" l="l"/>
              <a:pathLst>
                <a:path h="7723378" w="203200">
                  <a:moveTo>
                    <a:pt x="0" y="101600"/>
                  </a:moveTo>
                  <a:cubicBezTo>
                    <a:pt x="0" y="45466"/>
                    <a:pt x="45466" y="0"/>
                    <a:pt x="101600" y="0"/>
                  </a:cubicBezTo>
                  <a:cubicBezTo>
                    <a:pt x="157734" y="0"/>
                    <a:pt x="203200" y="45466"/>
                    <a:pt x="203200" y="101600"/>
                  </a:cubicBezTo>
                  <a:lnTo>
                    <a:pt x="203200" y="7621778"/>
                  </a:lnTo>
                  <a:cubicBezTo>
                    <a:pt x="203200" y="7677912"/>
                    <a:pt x="157734" y="7723378"/>
                    <a:pt x="101600" y="7723378"/>
                  </a:cubicBezTo>
                  <a:cubicBezTo>
                    <a:pt x="45466" y="7723378"/>
                    <a:pt x="0" y="7677912"/>
                    <a:pt x="0" y="7621778"/>
                  </a:cubicBezTo>
                  <a:close/>
                </a:path>
              </a:pathLst>
            </a:custGeom>
            <a:solidFill>
              <a:srgbClr val="4967E9"/>
            </a:solidFill>
          </p:spPr>
        </p:sp>
      </p:grpSp>
      <p:sp>
        <p:nvSpPr>
          <p:cNvPr name="TextBox 26" id="26"/>
          <p:cNvSpPr txBox="true"/>
          <p:nvPr/>
        </p:nvSpPr>
        <p:spPr>
          <a:xfrm rot="0">
            <a:off x="9721606" y="3285830"/>
            <a:ext cx="3105741" cy="895350"/>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Security with Privacy</a:t>
            </a:r>
          </a:p>
        </p:txBody>
      </p:sp>
      <p:sp>
        <p:nvSpPr>
          <p:cNvPr name="TextBox 27" id="27"/>
          <p:cNvSpPr txBox="true"/>
          <p:nvPr/>
        </p:nvSpPr>
        <p:spPr>
          <a:xfrm rot="0">
            <a:off x="9721606" y="4246512"/>
            <a:ext cx="3105741" cy="3733800"/>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It balances strong proctoring capabilities with responsible monitoring practices, aiming to protect exam security while respecting user privacy.</a:t>
            </a:r>
          </a:p>
        </p:txBody>
      </p:sp>
      <p:grpSp>
        <p:nvGrpSpPr>
          <p:cNvPr name="Group 28" id="28"/>
          <p:cNvGrpSpPr/>
          <p:nvPr/>
        </p:nvGrpSpPr>
        <p:grpSpPr>
          <a:xfrm rot="0">
            <a:off x="13413429" y="2954684"/>
            <a:ext cx="3901383" cy="5830643"/>
            <a:chOff x="0" y="0"/>
            <a:chExt cx="5201844" cy="7774191"/>
          </a:xfrm>
        </p:grpSpPr>
        <p:sp>
          <p:nvSpPr>
            <p:cNvPr name="Freeform 29" id="29"/>
            <p:cNvSpPr/>
            <p:nvPr/>
          </p:nvSpPr>
          <p:spPr>
            <a:xfrm flipH="false" flipV="false" rot="0">
              <a:off x="25400" y="25400"/>
              <a:ext cx="5150993" cy="7723378"/>
            </a:xfrm>
            <a:custGeom>
              <a:avLst/>
              <a:gdLst/>
              <a:ahLst/>
              <a:cxnLst/>
              <a:rect r="r" b="b" t="t" l="l"/>
              <a:pathLst>
                <a:path h="7723378" w="5150993">
                  <a:moveTo>
                    <a:pt x="0" y="244602"/>
                  </a:moveTo>
                  <a:cubicBezTo>
                    <a:pt x="0" y="109474"/>
                    <a:pt x="109220" y="0"/>
                    <a:pt x="243840" y="0"/>
                  </a:cubicBezTo>
                  <a:lnTo>
                    <a:pt x="4907153" y="0"/>
                  </a:lnTo>
                  <a:cubicBezTo>
                    <a:pt x="5041773" y="0"/>
                    <a:pt x="5150993" y="109474"/>
                    <a:pt x="5150993" y="244602"/>
                  </a:cubicBezTo>
                  <a:lnTo>
                    <a:pt x="5150993" y="7478776"/>
                  </a:lnTo>
                  <a:cubicBezTo>
                    <a:pt x="5150993" y="7613904"/>
                    <a:pt x="5041773" y="7723378"/>
                    <a:pt x="4907153" y="7723378"/>
                  </a:cubicBezTo>
                  <a:lnTo>
                    <a:pt x="243840" y="7723378"/>
                  </a:lnTo>
                  <a:cubicBezTo>
                    <a:pt x="109220" y="7723378"/>
                    <a:pt x="0" y="7613904"/>
                    <a:pt x="0" y="7478776"/>
                  </a:cubicBezTo>
                  <a:close/>
                </a:path>
              </a:pathLst>
            </a:custGeom>
            <a:solidFill>
              <a:srgbClr val="F9F9FF">
                <a:alpha val="90196"/>
              </a:srgbClr>
            </a:solidFill>
          </p:spPr>
        </p:sp>
        <p:sp>
          <p:nvSpPr>
            <p:cNvPr name="Freeform 30" id="30"/>
            <p:cNvSpPr/>
            <p:nvPr/>
          </p:nvSpPr>
          <p:spPr>
            <a:xfrm flipH="false" flipV="false" rot="0">
              <a:off x="0" y="0"/>
              <a:ext cx="5201793" cy="7774178"/>
            </a:xfrm>
            <a:custGeom>
              <a:avLst/>
              <a:gdLst/>
              <a:ahLst/>
              <a:cxnLst/>
              <a:rect r="r" b="b" t="t" l="l"/>
              <a:pathLst>
                <a:path h="7774178" w="5201793">
                  <a:moveTo>
                    <a:pt x="0" y="270002"/>
                  </a:moveTo>
                  <a:cubicBezTo>
                    <a:pt x="0" y="121031"/>
                    <a:pt x="120523" y="0"/>
                    <a:pt x="269240" y="0"/>
                  </a:cubicBezTo>
                  <a:lnTo>
                    <a:pt x="4932553" y="0"/>
                  </a:lnTo>
                  <a:lnTo>
                    <a:pt x="4932553" y="25400"/>
                  </a:lnTo>
                  <a:lnTo>
                    <a:pt x="4932553" y="0"/>
                  </a:lnTo>
                  <a:cubicBezTo>
                    <a:pt x="5081397" y="0"/>
                    <a:pt x="5201793" y="121031"/>
                    <a:pt x="5201793" y="270002"/>
                  </a:cubicBezTo>
                  <a:lnTo>
                    <a:pt x="5176393" y="270002"/>
                  </a:lnTo>
                  <a:lnTo>
                    <a:pt x="5201793" y="270002"/>
                  </a:lnTo>
                  <a:lnTo>
                    <a:pt x="5201793" y="7504176"/>
                  </a:lnTo>
                  <a:lnTo>
                    <a:pt x="5176393" y="7504176"/>
                  </a:lnTo>
                  <a:lnTo>
                    <a:pt x="5201793" y="7504176"/>
                  </a:lnTo>
                  <a:cubicBezTo>
                    <a:pt x="5201793" y="7653274"/>
                    <a:pt x="5081270" y="7774178"/>
                    <a:pt x="4932553" y="7774178"/>
                  </a:cubicBezTo>
                  <a:lnTo>
                    <a:pt x="4932553" y="7748778"/>
                  </a:lnTo>
                  <a:lnTo>
                    <a:pt x="4932553" y="7774178"/>
                  </a:lnTo>
                  <a:lnTo>
                    <a:pt x="269240" y="7774178"/>
                  </a:lnTo>
                  <a:lnTo>
                    <a:pt x="269240" y="7748778"/>
                  </a:lnTo>
                  <a:lnTo>
                    <a:pt x="269240" y="7774178"/>
                  </a:lnTo>
                  <a:cubicBezTo>
                    <a:pt x="120523" y="7774178"/>
                    <a:pt x="0" y="7653147"/>
                    <a:pt x="0" y="7504176"/>
                  </a:cubicBezTo>
                  <a:lnTo>
                    <a:pt x="0" y="270002"/>
                  </a:lnTo>
                  <a:lnTo>
                    <a:pt x="25400" y="270002"/>
                  </a:lnTo>
                  <a:lnTo>
                    <a:pt x="0" y="270002"/>
                  </a:lnTo>
                  <a:moveTo>
                    <a:pt x="50800" y="270002"/>
                  </a:moveTo>
                  <a:lnTo>
                    <a:pt x="50800" y="7504176"/>
                  </a:lnTo>
                  <a:lnTo>
                    <a:pt x="25400" y="7504176"/>
                  </a:lnTo>
                  <a:lnTo>
                    <a:pt x="50800" y="7504176"/>
                  </a:lnTo>
                  <a:cubicBezTo>
                    <a:pt x="50800" y="7625334"/>
                    <a:pt x="148717" y="7723378"/>
                    <a:pt x="269240" y="7723378"/>
                  </a:cubicBezTo>
                  <a:lnTo>
                    <a:pt x="4932553" y="7723378"/>
                  </a:lnTo>
                  <a:cubicBezTo>
                    <a:pt x="5053076" y="7723378"/>
                    <a:pt x="5150993" y="7625334"/>
                    <a:pt x="5150993" y="7504176"/>
                  </a:cubicBezTo>
                  <a:lnTo>
                    <a:pt x="5150993" y="270002"/>
                  </a:lnTo>
                  <a:cubicBezTo>
                    <a:pt x="5150993" y="148844"/>
                    <a:pt x="5053076" y="50800"/>
                    <a:pt x="4932553" y="50800"/>
                  </a:cubicBezTo>
                  <a:lnTo>
                    <a:pt x="269240" y="50800"/>
                  </a:lnTo>
                  <a:lnTo>
                    <a:pt x="269240" y="25400"/>
                  </a:lnTo>
                  <a:lnTo>
                    <a:pt x="269240" y="50800"/>
                  </a:lnTo>
                  <a:cubicBezTo>
                    <a:pt x="148717" y="50800"/>
                    <a:pt x="50800" y="148844"/>
                    <a:pt x="50800" y="270002"/>
                  </a:cubicBezTo>
                  <a:close/>
                </a:path>
              </a:pathLst>
            </a:custGeom>
            <a:solidFill>
              <a:srgbClr val="B8BFDF"/>
            </a:solidFill>
          </p:spPr>
        </p:sp>
      </p:grpSp>
      <p:grpSp>
        <p:nvGrpSpPr>
          <p:cNvPr name="Group 31" id="31"/>
          <p:cNvGrpSpPr/>
          <p:nvPr/>
        </p:nvGrpSpPr>
        <p:grpSpPr>
          <a:xfrm rot="0">
            <a:off x="13394379" y="2973734"/>
            <a:ext cx="152400" cy="5792543"/>
            <a:chOff x="0" y="0"/>
            <a:chExt cx="203200" cy="7723391"/>
          </a:xfrm>
        </p:grpSpPr>
        <p:sp>
          <p:nvSpPr>
            <p:cNvPr name="Freeform 32" id="32"/>
            <p:cNvSpPr/>
            <p:nvPr/>
          </p:nvSpPr>
          <p:spPr>
            <a:xfrm flipH="false" flipV="false" rot="0">
              <a:off x="0" y="0"/>
              <a:ext cx="203200" cy="7723378"/>
            </a:xfrm>
            <a:custGeom>
              <a:avLst/>
              <a:gdLst/>
              <a:ahLst/>
              <a:cxnLst/>
              <a:rect r="r" b="b" t="t" l="l"/>
              <a:pathLst>
                <a:path h="7723378" w="203200">
                  <a:moveTo>
                    <a:pt x="0" y="101600"/>
                  </a:moveTo>
                  <a:cubicBezTo>
                    <a:pt x="0" y="45466"/>
                    <a:pt x="45466" y="0"/>
                    <a:pt x="101600" y="0"/>
                  </a:cubicBezTo>
                  <a:cubicBezTo>
                    <a:pt x="157734" y="0"/>
                    <a:pt x="203200" y="45466"/>
                    <a:pt x="203200" y="101600"/>
                  </a:cubicBezTo>
                  <a:lnTo>
                    <a:pt x="203200" y="7621778"/>
                  </a:lnTo>
                  <a:cubicBezTo>
                    <a:pt x="203200" y="7677912"/>
                    <a:pt x="157734" y="7723378"/>
                    <a:pt x="101600" y="7723378"/>
                  </a:cubicBezTo>
                  <a:cubicBezTo>
                    <a:pt x="45466" y="7723378"/>
                    <a:pt x="0" y="7677912"/>
                    <a:pt x="0" y="7621778"/>
                  </a:cubicBezTo>
                  <a:close/>
                </a:path>
              </a:pathLst>
            </a:custGeom>
            <a:solidFill>
              <a:srgbClr val="4967E9"/>
            </a:solidFill>
          </p:spPr>
        </p:sp>
      </p:grpSp>
      <p:sp>
        <p:nvSpPr>
          <p:cNvPr name="TextBox 33" id="33"/>
          <p:cNvSpPr txBox="true"/>
          <p:nvPr/>
        </p:nvSpPr>
        <p:spPr>
          <a:xfrm rot="0">
            <a:off x="13868400" y="3285830"/>
            <a:ext cx="3105741" cy="452437"/>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Future Potential</a:t>
            </a:r>
          </a:p>
        </p:txBody>
      </p:sp>
      <p:sp>
        <p:nvSpPr>
          <p:cNvPr name="TextBox 34" id="34"/>
          <p:cNvSpPr txBox="true"/>
          <p:nvPr/>
        </p:nvSpPr>
        <p:spPr>
          <a:xfrm rot="0">
            <a:off x="13868400" y="3803599"/>
            <a:ext cx="3105741" cy="3733800"/>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With continued adoption, No Cheat Zone can help transform digital education by making remote exams more credible, scalable, and equitable.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627755" y="2731741"/>
            <a:ext cx="4484637" cy="570014"/>
          </a:xfrm>
          <a:prstGeom prst="rect">
            <a:avLst/>
          </a:prstGeom>
        </p:spPr>
        <p:txBody>
          <a:bodyPr anchor="t" rtlCol="false" tIns="0" lIns="0" bIns="0" rIns="0">
            <a:spAutoFit/>
          </a:bodyPr>
          <a:lstStyle/>
          <a:p>
            <a:pPr algn="l">
              <a:lnSpc>
                <a:spcPts val="4375"/>
              </a:lnSpc>
            </a:pPr>
            <a:r>
              <a:rPr lang="en-US" sz="3500">
                <a:solidFill>
                  <a:srgbClr val="1B1B27"/>
                </a:solidFill>
                <a:latin typeface="Corben"/>
                <a:ea typeface="Corben"/>
                <a:cs typeface="Corben"/>
                <a:sym typeface="Corben"/>
              </a:rPr>
              <a:t>Key Benefits</a:t>
            </a:r>
          </a:p>
        </p:txBody>
      </p:sp>
      <p:sp>
        <p:nvSpPr>
          <p:cNvPr name="Freeform 11" id="11" descr="preencoded.png"/>
          <p:cNvSpPr/>
          <p:nvPr/>
        </p:nvSpPr>
        <p:spPr>
          <a:xfrm flipH="false" flipV="false" rot="0">
            <a:off x="627755" y="3471862"/>
            <a:ext cx="448418" cy="448418"/>
          </a:xfrm>
          <a:custGeom>
            <a:avLst/>
            <a:gdLst/>
            <a:ahLst/>
            <a:cxnLst/>
            <a:rect r="r" b="b" t="t" l="l"/>
            <a:pathLst>
              <a:path h="448418" w="448418">
                <a:moveTo>
                  <a:pt x="0" y="0"/>
                </a:moveTo>
                <a:lnTo>
                  <a:pt x="448418" y="0"/>
                </a:lnTo>
                <a:lnTo>
                  <a:pt x="448418" y="448418"/>
                </a:lnTo>
                <a:lnTo>
                  <a:pt x="0" y="448418"/>
                </a:lnTo>
                <a:lnTo>
                  <a:pt x="0" y="0"/>
                </a:lnTo>
                <a:close/>
              </a:path>
            </a:pathLst>
          </a:custGeom>
          <a:blipFill>
            <a:blip r:embed="rId6">
              <a:extLst>
                <a:ext uri="{96DAC541-7B7A-43D3-8B79-37D633B846F1}">
                  <asvg:svgBlip xmlns:asvg="http://schemas.microsoft.com/office/drawing/2016/SVG/main" r:embed="rId7"/>
                </a:ext>
              </a:extLst>
            </a:blip>
            <a:stretch>
              <a:fillRect l="0" t="-10416" r="0" b="-10416"/>
            </a:stretch>
          </a:blipFill>
        </p:spPr>
      </p:sp>
      <p:sp>
        <p:nvSpPr>
          <p:cNvPr name="TextBox 12" id="12"/>
          <p:cNvSpPr txBox="true"/>
          <p:nvPr/>
        </p:nvSpPr>
        <p:spPr>
          <a:xfrm rot="0">
            <a:off x="1218009" y="3471862"/>
            <a:ext cx="2691708" cy="280245"/>
          </a:xfrm>
          <a:prstGeom prst="rect">
            <a:avLst/>
          </a:prstGeom>
        </p:spPr>
        <p:txBody>
          <a:bodyPr anchor="t" rtlCol="false" tIns="0" lIns="0" bIns="0" rIns="0">
            <a:spAutoFit/>
          </a:bodyPr>
          <a:lstStyle/>
          <a:p>
            <a:pPr algn="l">
              <a:lnSpc>
                <a:spcPts val="2187"/>
              </a:lnSpc>
            </a:pPr>
            <a:r>
              <a:rPr lang="en-US" sz="1750">
                <a:solidFill>
                  <a:srgbClr val="404155"/>
                </a:solidFill>
                <a:latin typeface="Corben"/>
                <a:ea typeface="Corben"/>
                <a:cs typeface="Corben"/>
                <a:sym typeface="Corben"/>
              </a:rPr>
              <a:t>Enhanced Exam Integrity</a:t>
            </a:r>
          </a:p>
        </p:txBody>
      </p:sp>
      <p:sp>
        <p:nvSpPr>
          <p:cNvPr name="TextBox 13" id="13"/>
          <p:cNvSpPr txBox="true"/>
          <p:nvPr/>
        </p:nvSpPr>
        <p:spPr>
          <a:xfrm rot="0">
            <a:off x="1218009" y="3782016"/>
            <a:ext cx="4426001" cy="740416"/>
          </a:xfrm>
          <a:prstGeom prst="rect">
            <a:avLst/>
          </a:prstGeom>
        </p:spPr>
        <p:txBody>
          <a:bodyPr anchor="t" rtlCol="false" tIns="0" lIns="0" bIns="0" rIns="0">
            <a:spAutoFit/>
          </a:bodyPr>
          <a:lstStyle/>
          <a:p>
            <a:pPr algn="l">
              <a:lnSpc>
                <a:spcPts val="1812"/>
              </a:lnSpc>
            </a:pPr>
            <a:r>
              <a:rPr lang="en-US" sz="1375">
                <a:solidFill>
                  <a:srgbClr val="404155"/>
                </a:solidFill>
                <a:latin typeface="Arimo"/>
                <a:ea typeface="Arimo"/>
                <a:cs typeface="Arimo"/>
                <a:sym typeface="Arimo"/>
              </a:rPr>
              <a:t>Our system prevents cheating through real-time monitoring and app lockdown, ensuring fair and credible assessment results.</a:t>
            </a:r>
          </a:p>
        </p:txBody>
      </p:sp>
      <p:sp>
        <p:nvSpPr>
          <p:cNvPr name="Freeform 14" id="14" descr="preencoded.png"/>
          <p:cNvSpPr/>
          <p:nvPr/>
        </p:nvSpPr>
        <p:spPr>
          <a:xfrm flipH="false" flipV="false" rot="0">
            <a:off x="5785847" y="3471862"/>
            <a:ext cx="448418" cy="448418"/>
          </a:xfrm>
          <a:custGeom>
            <a:avLst/>
            <a:gdLst/>
            <a:ahLst/>
            <a:cxnLst/>
            <a:rect r="r" b="b" t="t" l="l"/>
            <a:pathLst>
              <a:path h="448418" w="448418">
                <a:moveTo>
                  <a:pt x="0" y="0"/>
                </a:moveTo>
                <a:lnTo>
                  <a:pt x="448418" y="0"/>
                </a:lnTo>
                <a:lnTo>
                  <a:pt x="448418" y="448418"/>
                </a:lnTo>
                <a:lnTo>
                  <a:pt x="0" y="4484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6376092" y="3471862"/>
            <a:ext cx="2820438" cy="280245"/>
          </a:xfrm>
          <a:prstGeom prst="rect">
            <a:avLst/>
          </a:prstGeom>
        </p:spPr>
        <p:txBody>
          <a:bodyPr anchor="t" rtlCol="false" tIns="0" lIns="0" bIns="0" rIns="0">
            <a:spAutoFit/>
          </a:bodyPr>
          <a:lstStyle/>
          <a:p>
            <a:pPr algn="l">
              <a:lnSpc>
                <a:spcPts val="2187"/>
              </a:lnSpc>
            </a:pPr>
            <a:r>
              <a:rPr lang="en-US" sz="1750">
                <a:solidFill>
                  <a:srgbClr val="404155"/>
                </a:solidFill>
                <a:latin typeface="Corben"/>
                <a:ea typeface="Corben"/>
                <a:cs typeface="Corben"/>
                <a:sym typeface="Corben"/>
              </a:rPr>
              <a:t>Student Privacy Protection</a:t>
            </a:r>
          </a:p>
        </p:txBody>
      </p:sp>
      <p:sp>
        <p:nvSpPr>
          <p:cNvPr name="TextBox 16" id="16"/>
          <p:cNvSpPr txBox="true"/>
          <p:nvPr/>
        </p:nvSpPr>
        <p:spPr>
          <a:xfrm rot="0">
            <a:off x="6376092" y="3782016"/>
            <a:ext cx="4426153" cy="740416"/>
          </a:xfrm>
          <a:prstGeom prst="rect">
            <a:avLst/>
          </a:prstGeom>
        </p:spPr>
        <p:txBody>
          <a:bodyPr anchor="t" rtlCol="false" tIns="0" lIns="0" bIns="0" rIns="0">
            <a:spAutoFit/>
          </a:bodyPr>
          <a:lstStyle/>
          <a:p>
            <a:pPr algn="l">
              <a:lnSpc>
                <a:spcPts val="1812"/>
              </a:lnSpc>
            </a:pPr>
            <a:r>
              <a:rPr lang="en-US" sz="1375">
                <a:solidFill>
                  <a:srgbClr val="404155"/>
                </a:solidFill>
                <a:latin typeface="Arimo"/>
                <a:ea typeface="Arimo"/>
                <a:cs typeface="Arimo"/>
                <a:sym typeface="Arimo"/>
              </a:rPr>
              <a:t>Designed with privacy in mind, it minimizes data collection and processes sensitive information on-device, adhering to global regulations.</a:t>
            </a:r>
          </a:p>
        </p:txBody>
      </p:sp>
      <p:sp>
        <p:nvSpPr>
          <p:cNvPr name="Freeform 17" id="17" descr="preencoded.png"/>
          <p:cNvSpPr/>
          <p:nvPr/>
        </p:nvSpPr>
        <p:spPr>
          <a:xfrm flipH="false" flipV="false" rot="0">
            <a:off x="627755" y="4749403"/>
            <a:ext cx="448418" cy="448418"/>
          </a:xfrm>
          <a:custGeom>
            <a:avLst/>
            <a:gdLst/>
            <a:ahLst/>
            <a:cxnLst/>
            <a:rect r="r" b="b" t="t" l="l"/>
            <a:pathLst>
              <a:path h="448418" w="448418">
                <a:moveTo>
                  <a:pt x="0" y="0"/>
                </a:moveTo>
                <a:lnTo>
                  <a:pt x="448418" y="0"/>
                </a:lnTo>
                <a:lnTo>
                  <a:pt x="448418" y="448418"/>
                </a:lnTo>
                <a:lnTo>
                  <a:pt x="0" y="448418"/>
                </a:lnTo>
                <a:lnTo>
                  <a:pt x="0" y="0"/>
                </a:lnTo>
                <a:close/>
              </a:path>
            </a:pathLst>
          </a:custGeom>
          <a:blipFill>
            <a:blip r:embed="rId10">
              <a:extLst>
                <a:ext uri="{96DAC541-7B7A-43D3-8B79-37D633B846F1}">
                  <asvg:svgBlip xmlns:asvg="http://schemas.microsoft.com/office/drawing/2016/SVG/main" r:embed="rId11"/>
                </a:ext>
              </a:extLst>
            </a:blip>
            <a:stretch>
              <a:fillRect l="0" t="-1040" r="0" b="-1042"/>
            </a:stretch>
          </a:blipFill>
        </p:spPr>
      </p:sp>
      <p:sp>
        <p:nvSpPr>
          <p:cNvPr name="TextBox 18" id="18"/>
          <p:cNvSpPr txBox="true"/>
          <p:nvPr/>
        </p:nvSpPr>
        <p:spPr>
          <a:xfrm rot="0">
            <a:off x="1218009" y="4749403"/>
            <a:ext cx="2242242" cy="280245"/>
          </a:xfrm>
          <a:prstGeom prst="rect">
            <a:avLst/>
          </a:prstGeom>
        </p:spPr>
        <p:txBody>
          <a:bodyPr anchor="t" rtlCol="false" tIns="0" lIns="0" bIns="0" rIns="0">
            <a:spAutoFit/>
          </a:bodyPr>
          <a:lstStyle/>
          <a:p>
            <a:pPr algn="l">
              <a:lnSpc>
                <a:spcPts val="2187"/>
              </a:lnSpc>
            </a:pPr>
            <a:r>
              <a:rPr lang="en-US" sz="1750">
                <a:solidFill>
                  <a:srgbClr val="404155"/>
                </a:solidFill>
                <a:latin typeface="Corben"/>
                <a:ea typeface="Corben"/>
                <a:cs typeface="Corben"/>
                <a:sym typeface="Corben"/>
              </a:rPr>
              <a:t>Real-Time Oversight</a:t>
            </a:r>
          </a:p>
        </p:txBody>
      </p:sp>
      <p:sp>
        <p:nvSpPr>
          <p:cNvPr name="TextBox 19" id="19"/>
          <p:cNvSpPr txBox="true"/>
          <p:nvPr/>
        </p:nvSpPr>
        <p:spPr>
          <a:xfrm rot="0">
            <a:off x="1218009" y="5059566"/>
            <a:ext cx="4426001" cy="740416"/>
          </a:xfrm>
          <a:prstGeom prst="rect">
            <a:avLst/>
          </a:prstGeom>
        </p:spPr>
        <p:txBody>
          <a:bodyPr anchor="t" rtlCol="false" tIns="0" lIns="0" bIns="0" rIns="0">
            <a:spAutoFit/>
          </a:bodyPr>
          <a:lstStyle/>
          <a:p>
            <a:pPr algn="l">
              <a:lnSpc>
                <a:spcPts val="1812"/>
              </a:lnSpc>
            </a:pPr>
            <a:r>
              <a:rPr lang="en-US" sz="1375">
                <a:solidFill>
                  <a:srgbClr val="404155"/>
                </a:solidFill>
                <a:latin typeface="Arimo"/>
                <a:ea typeface="Arimo"/>
                <a:cs typeface="Arimo"/>
                <a:sym typeface="Arimo"/>
              </a:rPr>
              <a:t>Examiners gain live control and instant alerts, allowing proactive intervention to maintain exam security and respond to incidents.</a:t>
            </a:r>
          </a:p>
        </p:txBody>
      </p:sp>
      <p:sp>
        <p:nvSpPr>
          <p:cNvPr name="Freeform 20" id="20" descr="preencoded.png"/>
          <p:cNvSpPr/>
          <p:nvPr/>
        </p:nvSpPr>
        <p:spPr>
          <a:xfrm flipH="false" flipV="false" rot="0">
            <a:off x="5785847" y="4749403"/>
            <a:ext cx="448418" cy="448418"/>
          </a:xfrm>
          <a:custGeom>
            <a:avLst/>
            <a:gdLst/>
            <a:ahLst/>
            <a:cxnLst/>
            <a:rect r="r" b="b" t="t" l="l"/>
            <a:pathLst>
              <a:path h="448418" w="448418">
                <a:moveTo>
                  <a:pt x="0" y="0"/>
                </a:moveTo>
                <a:lnTo>
                  <a:pt x="448418" y="0"/>
                </a:lnTo>
                <a:lnTo>
                  <a:pt x="448418" y="448418"/>
                </a:lnTo>
                <a:lnTo>
                  <a:pt x="0" y="448418"/>
                </a:lnTo>
                <a:lnTo>
                  <a:pt x="0" y="0"/>
                </a:lnTo>
                <a:close/>
              </a:path>
            </a:pathLst>
          </a:custGeom>
          <a:blipFill>
            <a:blip r:embed="rId12">
              <a:extLst>
                <a:ext uri="{96DAC541-7B7A-43D3-8B79-37D633B846F1}">
                  <asvg:svgBlip xmlns:asvg="http://schemas.microsoft.com/office/drawing/2016/SVG/main" r:embed="rId13"/>
                </a:ext>
              </a:extLst>
            </a:blip>
            <a:stretch>
              <a:fillRect l="-5208" t="0" r="-5208" b="0"/>
            </a:stretch>
          </a:blipFill>
        </p:spPr>
      </p:sp>
      <p:sp>
        <p:nvSpPr>
          <p:cNvPr name="TextBox 21" id="21"/>
          <p:cNvSpPr txBox="true"/>
          <p:nvPr/>
        </p:nvSpPr>
        <p:spPr>
          <a:xfrm rot="0">
            <a:off x="6376092" y="4749403"/>
            <a:ext cx="2242242" cy="280245"/>
          </a:xfrm>
          <a:prstGeom prst="rect">
            <a:avLst/>
          </a:prstGeom>
        </p:spPr>
        <p:txBody>
          <a:bodyPr anchor="t" rtlCol="false" tIns="0" lIns="0" bIns="0" rIns="0">
            <a:spAutoFit/>
          </a:bodyPr>
          <a:lstStyle/>
          <a:p>
            <a:pPr algn="l">
              <a:lnSpc>
                <a:spcPts val="2187"/>
              </a:lnSpc>
            </a:pPr>
            <a:r>
              <a:rPr lang="en-US" sz="1750">
                <a:solidFill>
                  <a:srgbClr val="404155"/>
                </a:solidFill>
                <a:latin typeface="Corben"/>
                <a:ea typeface="Corben"/>
                <a:cs typeface="Corben"/>
                <a:sym typeface="Corben"/>
              </a:rPr>
              <a:t>Scalable Solution</a:t>
            </a:r>
          </a:p>
        </p:txBody>
      </p:sp>
      <p:sp>
        <p:nvSpPr>
          <p:cNvPr name="TextBox 22" id="22"/>
          <p:cNvSpPr txBox="true"/>
          <p:nvPr/>
        </p:nvSpPr>
        <p:spPr>
          <a:xfrm rot="0">
            <a:off x="6376092" y="5059566"/>
            <a:ext cx="4426153" cy="974522"/>
          </a:xfrm>
          <a:prstGeom prst="rect">
            <a:avLst/>
          </a:prstGeom>
        </p:spPr>
        <p:txBody>
          <a:bodyPr anchor="t" rtlCol="false" tIns="0" lIns="0" bIns="0" rIns="0">
            <a:spAutoFit/>
          </a:bodyPr>
          <a:lstStyle/>
          <a:p>
            <a:pPr algn="l">
              <a:lnSpc>
                <a:spcPts val="1812"/>
              </a:lnSpc>
            </a:pPr>
            <a:r>
              <a:rPr lang="en-US" sz="1375">
                <a:solidFill>
                  <a:srgbClr val="404155"/>
                </a:solidFill>
                <a:latin typeface="Arimo"/>
                <a:ea typeface="Arimo"/>
                <a:cs typeface="Arimo"/>
                <a:sym typeface="Arimo"/>
              </a:rPr>
              <a:t>Leveraging an Android-first approach, the platform supports large student populations and diverse regions, including those with limited internet access.</a:t>
            </a:r>
          </a:p>
        </p:txBody>
      </p:sp>
      <p:sp>
        <p:nvSpPr>
          <p:cNvPr name="Freeform 23" id="23" descr="preencoded.png"/>
          <p:cNvSpPr/>
          <p:nvPr/>
        </p:nvSpPr>
        <p:spPr>
          <a:xfrm flipH="false" flipV="false" rot="0">
            <a:off x="627755" y="6261049"/>
            <a:ext cx="448418" cy="448418"/>
          </a:xfrm>
          <a:custGeom>
            <a:avLst/>
            <a:gdLst/>
            <a:ahLst/>
            <a:cxnLst/>
            <a:rect r="r" b="b" t="t" l="l"/>
            <a:pathLst>
              <a:path h="448418" w="448418">
                <a:moveTo>
                  <a:pt x="0" y="0"/>
                </a:moveTo>
                <a:lnTo>
                  <a:pt x="448418" y="0"/>
                </a:lnTo>
                <a:lnTo>
                  <a:pt x="448418" y="448418"/>
                </a:lnTo>
                <a:lnTo>
                  <a:pt x="0" y="448418"/>
                </a:lnTo>
                <a:lnTo>
                  <a:pt x="0" y="0"/>
                </a:lnTo>
                <a:close/>
              </a:path>
            </a:pathLst>
          </a:custGeom>
          <a:blipFill>
            <a:blip r:embed="rId14">
              <a:extLst>
                <a:ext uri="{96DAC541-7B7A-43D3-8B79-37D633B846F1}">
                  <asvg:svgBlip xmlns:asvg="http://schemas.microsoft.com/office/drawing/2016/SVG/main" r:embed="rId15"/>
                </a:ext>
              </a:extLst>
            </a:blip>
            <a:stretch>
              <a:fillRect l="0" t="-10416" r="0" b="-10416"/>
            </a:stretch>
          </a:blipFill>
        </p:spPr>
      </p:sp>
      <p:sp>
        <p:nvSpPr>
          <p:cNvPr name="TextBox 24" id="24"/>
          <p:cNvSpPr txBox="true"/>
          <p:nvPr/>
        </p:nvSpPr>
        <p:spPr>
          <a:xfrm rot="0">
            <a:off x="1218009" y="6261049"/>
            <a:ext cx="3235528" cy="280245"/>
          </a:xfrm>
          <a:prstGeom prst="rect">
            <a:avLst/>
          </a:prstGeom>
        </p:spPr>
        <p:txBody>
          <a:bodyPr anchor="t" rtlCol="false" tIns="0" lIns="0" bIns="0" rIns="0">
            <a:spAutoFit/>
          </a:bodyPr>
          <a:lstStyle/>
          <a:p>
            <a:pPr algn="l">
              <a:lnSpc>
                <a:spcPts val="2187"/>
              </a:lnSpc>
            </a:pPr>
            <a:r>
              <a:rPr lang="en-US" sz="1750">
                <a:solidFill>
                  <a:srgbClr val="404155"/>
                </a:solidFill>
                <a:latin typeface="Corben"/>
                <a:ea typeface="Corben"/>
                <a:cs typeface="Corben"/>
                <a:sym typeface="Corben"/>
              </a:rPr>
              <a:t>Cost-Effective Implementation</a:t>
            </a:r>
          </a:p>
        </p:txBody>
      </p:sp>
      <p:sp>
        <p:nvSpPr>
          <p:cNvPr name="TextBox 25" id="25"/>
          <p:cNvSpPr txBox="true"/>
          <p:nvPr/>
        </p:nvSpPr>
        <p:spPr>
          <a:xfrm rot="0">
            <a:off x="1218009" y="6571212"/>
            <a:ext cx="4426001" cy="974522"/>
          </a:xfrm>
          <a:prstGeom prst="rect">
            <a:avLst/>
          </a:prstGeom>
        </p:spPr>
        <p:txBody>
          <a:bodyPr anchor="t" rtlCol="false" tIns="0" lIns="0" bIns="0" rIns="0">
            <a:spAutoFit/>
          </a:bodyPr>
          <a:lstStyle/>
          <a:p>
            <a:pPr algn="l">
              <a:lnSpc>
                <a:spcPts val="1812"/>
              </a:lnSpc>
            </a:pPr>
            <a:r>
              <a:rPr lang="en-US" sz="1375">
                <a:solidFill>
                  <a:srgbClr val="404155"/>
                </a:solidFill>
                <a:latin typeface="Arimo"/>
                <a:ea typeface="Arimo"/>
                <a:cs typeface="Arimo"/>
                <a:sym typeface="Arimo"/>
              </a:rPr>
              <a:t>By utilizing existing mobile devices and efficient resource management, it offers a more economical proctoring solution compared to traditional methods.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84942" y="765724"/>
            <a:ext cx="9659541" cy="898627"/>
          </a:xfrm>
          <a:prstGeom prst="rect">
            <a:avLst/>
          </a:prstGeom>
        </p:spPr>
        <p:txBody>
          <a:bodyPr anchor="t" rtlCol="false" tIns="0" lIns="0" bIns="0" rIns="0">
            <a:spAutoFit/>
          </a:bodyPr>
          <a:lstStyle/>
          <a:p>
            <a:pPr algn="l">
              <a:lnSpc>
                <a:spcPts val="6875"/>
              </a:lnSpc>
            </a:pPr>
            <a:r>
              <a:rPr lang="en-US" sz="5500">
                <a:solidFill>
                  <a:srgbClr val="1B1B27"/>
                </a:solidFill>
                <a:latin typeface="Corben"/>
                <a:ea typeface="Corben"/>
                <a:cs typeface="Corben"/>
                <a:sym typeface="Corben"/>
              </a:rPr>
              <a:t>Next Steps &amp; Implementation</a:t>
            </a:r>
          </a:p>
        </p:txBody>
      </p:sp>
      <p:grpSp>
        <p:nvGrpSpPr>
          <p:cNvPr name="Group 7" id="7"/>
          <p:cNvGrpSpPr/>
          <p:nvPr/>
        </p:nvGrpSpPr>
        <p:grpSpPr>
          <a:xfrm rot="0">
            <a:off x="984942" y="2223049"/>
            <a:ext cx="8159058" cy="1125741"/>
            <a:chOff x="0" y="0"/>
            <a:chExt cx="10878744" cy="1500988"/>
          </a:xfrm>
        </p:grpSpPr>
        <p:sp>
          <p:nvSpPr>
            <p:cNvPr name="Freeform 8" id="8" descr="preencoded.png"/>
            <p:cNvSpPr/>
            <p:nvPr/>
          </p:nvSpPr>
          <p:spPr>
            <a:xfrm flipH="false" flipV="false" rot="0">
              <a:off x="0" y="0"/>
              <a:ext cx="10878693" cy="1501013"/>
            </a:xfrm>
            <a:custGeom>
              <a:avLst/>
              <a:gdLst/>
              <a:ahLst/>
              <a:cxnLst/>
              <a:rect r="r" b="b" t="t" l="l"/>
              <a:pathLst>
                <a:path h="1501013" w="10878693">
                  <a:moveTo>
                    <a:pt x="0" y="0"/>
                  </a:moveTo>
                  <a:lnTo>
                    <a:pt x="10878693" y="0"/>
                  </a:lnTo>
                  <a:lnTo>
                    <a:pt x="10878693" y="1501013"/>
                  </a:lnTo>
                  <a:lnTo>
                    <a:pt x="0" y="1501013"/>
                  </a:lnTo>
                  <a:lnTo>
                    <a:pt x="0" y="0"/>
                  </a:lnTo>
                  <a:close/>
                </a:path>
              </a:pathLst>
            </a:custGeom>
            <a:blipFill>
              <a:blip r:embed="rId3"/>
              <a:stretch>
                <a:fillRect l="-103" t="0" r="-103" b="1"/>
              </a:stretch>
            </a:blipFill>
          </p:spPr>
        </p:sp>
      </p:grpSp>
      <p:sp>
        <p:nvSpPr>
          <p:cNvPr name="TextBox 9" id="9"/>
          <p:cNvSpPr txBox="true"/>
          <p:nvPr/>
        </p:nvSpPr>
        <p:spPr>
          <a:xfrm rot="0">
            <a:off x="1266377" y="3618605"/>
            <a:ext cx="3518002" cy="449313"/>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Pilot Testing</a:t>
            </a:r>
          </a:p>
        </p:txBody>
      </p:sp>
      <p:sp>
        <p:nvSpPr>
          <p:cNvPr name="TextBox 10" id="10"/>
          <p:cNvSpPr txBox="true"/>
          <p:nvPr/>
        </p:nvSpPr>
        <p:spPr>
          <a:xfrm rot="0">
            <a:off x="1266377" y="4130726"/>
            <a:ext cx="7596188" cy="1001916"/>
          </a:xfrm>
          <a:prstGeom prst="rect">
            <a:avLst/>
          </a:prstGeom>
        </p:spPr>
        <p:txBody>
          <a:bodyPr anchor="t" rtlCol="false" tIns="0" lIns="0" bIns="0" rIns="0">
            <a:spAutoFit/>
          </a:bodyPr>
          <a:lstStyle/>
          <a:p>
            <a:pPr algn="l">
              <a:lnSpc>
                <a:spcPts val="3500"/>
              </a:lnSpc>
            </a:pPr>
            <a:r>
              <a:rPr lang="en-US" sz="2187">
                <a:solidFill>
                  <a:srgbClr val="404155"/>
                </a:solidFill>
                <a:latin typeface="Arimo"/>
                <a:ea typeface="Arimo"/>
                <a:cs typeface="Arimo"/>
                <a:sym typeface="Arimo"/>
              </a:rPr>
              <a:t>Launch with select institutions to gather critical user feedback and performance data in real-world scenarios.</a:t>
            </a:r>
          </a:p>
        </p:txBody>
      </p:sp>
      <p:grpSp>
        <p:nvGrpSpPr>
          <p:cNvPr name="Group 11" id="11"/>
          <p:cNvGrpSpPr/>
          <p:nvPr/>
        </p:nvGrpSpPr>
        <p:grpSpPr>
          <a:xfrm rot="0">
            <a:off x="9144000" y="2223049"/>
            <a:ext cx="8159058" cy="1125741"/>
            <a:chOff x="0" y="0"/>
            <a:chExt cx="10878744" cy="1500988"/>
          </a:xfrm>
        </p:grpSpPr>
        <p:sp>
          <p:nvSpPr>
            <p:cNvPr name="Freeform 12" id="12" descr="preencoded.png"/>
            <p:cNvSpPr/>
            <p:nvPr/>
          </p:nvSpPr>
          <p:spPr>
            <a:xfrm flipH="false" flipV="false" rot="0">
              <a:off x="0" y="0"/>
              <a:ext cx="10878693" cy="1501013"/>
            </a:xfrm>
            <a:custGeom>
              <a:avLst/>
              <a:gdLst/>
              <a:ahLst/>
              <a:cxnLst/>
              <a:rect r="r" b="b" t="t" l="l"/>
              <a:pathLst>
                <a:path h="1501013" w="10878693">
                  <a:moveTo>
                    <a:pt x="0" y="0"/>
                  </a:moveTo>
                  <a:lnTo>
                    <a:pt x="10878693" y="0"/>
                  </a:lnTo>
                  <a:lnTo>
                    <a:pt x="10878693" y="1501013"/>
                  </a:lnTo>
                  <a:lnTo>
                    <a:pt x="0" y="1501013"/>
                  </a:lnTo>
                  <a:lnTo>
                    <a:pt x="0" y="0"/>
                  </a:lnTo>
                  <a:close/>
                </a:path>
              </a:pathLst>
            </a:custGeom>
            <a:blipFill>
              <a:blip r:embed="rId4"/>
              <a:stretch>
                <a:fillRect l="-103" t="0" r="-103" b="1"/>
              </a:stretch>
            </a:blipFill>
          </p:spPr>
        </p:sp>
      </p:grpSp>
      <p:sp>
        <p:nvSpPr>
          <p:cNvPr name="TextBox 13" id="13"/>
          <p:cNvSpPr txBox="true"/>
          <p:nvPr/>
        </p:nvSpPr>
        <p:spPr>
          <a:xfrm rot="0">
            <a:off x="9425435" y="3618605"/>
            <a:ext cx="3518002" cy="449313"/>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Refinement</a:t>
            </a:r>
          </a:p>
        </p:txBody>
      </p:sp>
      <p:sp>
        <p:nvSpPr>
          <p:cNvPr name="TextBox 14" id="14"/>
          <p:cNvSpPr txBox="true"/>
          <p:nvPr/>
        </p:nvSpPr>
        <p:spPr>
          <a:xfrm rot="0">
            <a:off x="9425435" y="4130726"/>
            <a:ext cx="7596188" cy="1450477"/>
          </a:xfrm>
          <a:prstGeom prst="rect">
            <a:avLst/>
          </a:prstGeom>
        </p:spPr>
        <p:txBody>
          <a:bodyPr anchor="t" rtlCol="false" tIns="0" lIns="0" bIns="0" rIns="0">
            <a:spAutoFit/>
          </a:bodyPr>
          <a:lstStyle/>
          <a:p>
            <a:pPr algn="l">
              <a:lnSpc>
                <a:spcPts val="3500"/>
              </a:lnSpc>
            </a:pPr>
            <a:r>
              <a:rPr lang="en-US" sz="2187">
                <a:solidFill>
                  <a:srgbClr val="404155"/>
                </a:solidFill>
                <a:latin typeface="Arimo"/>
                <a:ea typeface="Arimo"/>
                <a:cs typeface="Arimo"/>
                <a:sym typeface="Arimo"/>
              </a:rPr>
              <a:t>Iteratively enhance features, optimize performance, and fine-tune AI models based on comprehensive pilot feedback.</a:t>
            </a:r>
          </a:p>
        </p:txBody>
      </p:sp>
      <p:grpSp>
        <p:nvGrpSpPr>
          <p:cNvPr name="Group 15" id="15"/>
          <p:cNvGrpSpPr/>
          <p:nvPr/>
        </p:nvGrpSpPr>
        <p:grpSpPr>
          <a:xfrm rot="0">
            <a:off x="984942" y="5862638"/>
            <a:ext cx="8159058" cy="1125741"/>
            <a:chOff x="0" y="0"/>
            <a:chExt cx="10878744" cy="1500988"/>
          </a:xfrm>
        </p:grpSpPr>
        <p:sp>
          <p:nvSpPr>
            <p:cNvPr name="Freeform 16" id="16" descr="preencoded.png"/>
            <p:cNvSpPr/>
            <p:nvPr/>
          </p:nvSpPr>
          <p:spPr>
            <a:xfrm flipH="false" flipV="false" rot="0">
              <a:off x="0" y="0"/>
              <a:ext cx="10878693" cy="1501013"/>
            </a:xfrm>
            <a:custGeom>
              <a:avLst/>
              <a:gdLst/>
              <a:ahLst/>
              <a:cxnLst/>
              <a:rect r="r" b="b" t="t" l="l"/>
              <a:pathLst>
                <a:path h="1501013" w="10878693">
                  <a:moveTo>
                    <a:pt x="0" y="0"/>
                  </a:moveTo>
                  <a:lnTo>
                    <a:pt x="10878693" y="0"/>
                  </a:lnTo>
                  <a:lnTo>
                    <a:pt x="10878693" y="1501013"/>
                  </a:lnTo>
                  <a:lnTo>
                    <a:pt x="0" y="1501013"/>
                  </a:lnTo>
                  <a:lnTo>
                    <a:pt x="0" y="0"/>
                  </a:lnTo>
                  <a:close/>
                </a:path>
              </a:pathLst>
            </a:custGeom>
            <a:blipFill>
              <a:blip r:embed="rId5"/>
              <a:stretch>
                <a:fillRect l="-103" t="0" r="-103" b="1"/>
              </a:stretch>
            </a:blipFill>
          </p:spPr>
        </p:sp>
      </p:grpSp>
      <p:sp>
        <p:nvSpPr>
          <p:cNvPr name="TextBox 17" id="17"/>
          <p:cNvSpPr txBox="true"/>
          <p:nvPr/>
        </p:nvSpPr>
        <p:spPr>
          <a:xfrm rot="0">
            <a:off x="1266377" y="7258202"/>
            <a:ext cx="3518002" cy="449313"/>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Deployment</a:t>
            </a:r>
          </a:p>
        </p:txBody>
      </p:sp>
      <p:sp>
        <p:nvSpPr>
          <p:cNvPr name="TextBox 18" id="18"/>
          <p:cNvSpPr txBox="true"/>
          <p:nvPr/>
        </p:nvSpPr>
        <p:spPr>
          <a:xfrm rot="0">
            <a:off x="1266377" y="7770314"/>
            <a:ext cx="7596188" cy="1001916"/>
          </a:xfrm>
          <a:prstGeom prst="rect">
            <a:avLst/>
          </a:prstGeom>
        </p:spPr>
        <p:txBody>
          <a:bodyPr anchor="t" rtlCol="false" tIns="0" lIns="0" bIns="0" rIns="0">
            <a:spAutoFit/>
          </a:bodyPr>
          <a:lstStyle/>
          <a:p>
            <a:pPr algn="l">
              <a:lnSpc>
                <a:spcPts val="3500"/>
              </a:lnSpc>
            </a:pPr>
            <a:r>
              <a:rPr lang="en-US" sz="2187">
                <a:solidFill>
                  <a:srgbClr val="404155"/>
                </a:solidFill>
                <a:latin typeface="Arimo"/>
                <a:ea typeface="Arimo"/>
                <a:cs typeface="Arimo"/>
                <a:sym typeface="Arimo"/>
              </a:rPr>
              <a:t>Roll out the full platform to a broader range of educational institutions and corporate training partners.</a:t>
            </a:r>
          </a:p>
        </p:txBody>
      </p:sp>
      <p:grpSp>
        <p:nvGrpSpPr>
          <p:cNvPr name="Group 19" id="19"/>
          <p:cNvGrpSpPr/>
          <p:nvPr/>
        </p:nvGrpSpPr>
        <p:grpSpPr>
          <a:xfrm rot="0">
            <a:off x="9144000" y="5862638"/>
            <a:ext cx="8159058" cy="1125741"/>
            <a:chOff x="0" y="0"/>
            <a:chExt cx="10878744" cy="1500988"/>
          </a:xfrm>
        </p:grpSpPr>
        <p:sp>
          <p:nvSpPr>
            <p:cNvPr name="Freeform 20" id="20" descr="preencoded.png"/>
            <p:cNvSpPr/>
            <p:nvPr/>
          </p:nvSpPr>
          <p:spPr>
            <a:xfrm flipH="false" flipV="false" rot="0">
              <a:off x="0" y="0"/>
              <a:ext cx="10878693" cy="1501013"/>
            </a:xfrm>
            <a:custGeom>
              <a:avLst/>
              <a:gdLst/>
              <a:ahLst/>
              <a:cxnLst/>
              <a:rect r="r" b="b" t="t" l="l"/>
              <a:pathLst>
                <a:path h="1501013" w="10878693">
                  <a:moveTo>
                    <a:pt x="0" y="0"/>
                  </a:moveTo>
                  <a:lnTo>
                    <a:pt x="10878693" y="0"/>
                  </a:lnTo>
                  <a:lnTo>
                    <a:pt x="10878693" y="1501013"/>
                  </a:lnTo>
                  <a:lnTo>
                    <a:pt x="0" y="1501013"/>
                  </a:lnTo>
                  <a:lnTo>
                    <a:pt x="0" y="0"/>
                  </a:lnTo>
                  <a:close/>
                </a:path>
              </a:pathLst>
            </a:custGeom>
            <a:blipFill>
              <a:blip r:embed="rId6"/>
              <a:stretch>
                <a:fillRect l="-103" t="0" r="-103" b="1"/>
              </a:stretch>
            </a:blipFill>
          </p:spPr>
        </p:sp>
      </p:grpSp>
      <p:sp>
        <p:nvSpPr>
          <p:cNvPr name="TextBox 21" id="21"/>
          <p:cNvSpPr txBox="true"/>
          <p:nvPr/>
        </p:nvSpPr>
        <p:spPr>
          <a:xfrm rot="0">
            <a:off x="9425435" y="7258202"/>
            <a:ext cx="4251274" cy="449313"/>
          </a:xfrm>
          <a:prstGeom prst="rect">
            <a:avLst/>
          </a:prstGeom>
        </p:spPr>
        <p:txBody>
          <a:bodyPr anchor="t" rtlCol="false" tIns="0" lIns="0" bIns="0" rIns="0">
            <a:spAutoFit/>
          </a:bodyPr>
          <a:lstStyle/>
          <a:p>
            <a:pPr algn="l">
              <a:lnSpc>
                <a:spcPts val="3437"/>
              </a:lnSpc>
            </a:pPr>
            <a:r>
              <a:rPr lang="en-US" sz="2750">
                <a:solidFill>
                  <a:srgbClr val="404155"/>
                </a:solidFill>
                <a:latin typeface="Corben"/>
                <a:ea typeface="Corben"/>
                <a:cs typeface="Corben"/>
                <a:sym typeface="Corben"/>
              </a:rPr>
              <a:t>Continuous Improvement</a:t>
            </a:r>
          </a:p>
        </p:txBody>
      </p:sp>
      <p:sp>
        <p:nvSpPr>
          <p:cNvPr name="TextBox 22" id="22"/>
          <p:cNvSpPr txBox="true"/>
          <p:nvPr/>
        </p:nvSpPr>
        <p:spPr>
          <a:xfrm rot="0">
            <a:off x="9425435" y="7770314"/>
            <a:ext cx="7596188" cy="1450477"/>
          </a:xfrm>
          <a:prstGeom prst="rect">
            <a:avLst/>
          </a:prstGeom>
        </p:spPr>
        <p:txBody>
          <a:bodyPr anchor="t" rtlCol="false" tIns="0" lIns="0" bIns="0" rIns="0">
            <a:spAutoFit/>
          </a:bodyPr>
          <a:lstStyle/>
          <a:p>
            <a:pPr algn="l">
              <a:lnSpc>
                <a:spcPts val="3500"/>
              </a:lnSpc>
            </a:pPr>
            <a:r>
              <a:rPr lang="en-US" sz="2187">
                <a:solidFill>
                  <a:srgbClr val="404155"/>
                </a:solidFill>
                <a:latin typeface="Arimo"/>
                <a:ea typeface="Arimo"/>
                <a:cs typeface="Arimo"/>
                <a:sym typeface="Arimo"/>
              </a:rPr>
              <a:t>Regularly monitor system performance, update AI algorithms, and introduce new functionalities to stay ahead of evolving needs.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1999955"/>
            <a:ext cx="7088238" cy="914552"/>
          </a:xfrm>
          <a:prstGeom prst="rect">
            <a:avLst/>
          </a:prstGeom>
        </p:spPr>
        <p:txBody>
          <a:bodyPr anchor="t" rtlCol="false" tIns="0" lIns="0" bIns="0" rIns="0">
            <a:spAutoFit/>
          </a:bodyPr>
          <a:lstStyle/>
          <a:p>
            <a:pPr algn="l">
              <a:lnSpc>
                <a:spcPts val="6937"/>
              </a:lnSpc>
            </a:pPr>
            <a:r>
              <a:rPr lang="en-US" sz="5562">
                <a:solidFill>
                  <a:srgbClr val="1B1B27"/>
                </a:solidFill>
                <a:latin typeface="Corben"/>
                <a:ea typeface="Corben"/>
                <a:cs typeface="Corben"/>
                <a:sym typeface="Corben"/>
              </a:rPr>
              <a:t>Thank You</a:t>
            </a:r>
          </a:p>
        </p:txBody>
      </p:sp>
      <p:sp>
        <p:nvSpPr>
          <p:cNvPr name="TextBox 11" id="11"/>
          <p:cNvSpPr txBox="true"/>
          <p:nvPr/>
        </p:nvSpPr>
        <p:spPr>
          <a:xfrm rot="0">
            <a:off x="992238" y="3234928"/>
            <a:ext cx="9445523" cy="1465659"/>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We sincerely thank you for your time and attention today. We hope this presentation has effectively showcased the innovative capabilities of the "No Cheat Zone" system.</a:t>
            </a:r>
          </a:p>
        </p:txBody>
      </p:sp>
      <p:sp>
        <p:nvSpPr>
          <p:cNvPr name="TextBox 12" id="12"/>
          <p:cNvSpPr txBox="true"/>
          <p:nvPr/>
        </p:nvSpPr>
        <p:spPr>
          <a:xfrm rot="0">
            <a:off x="992238" y="4914748"/>
            <a:ext cx="9445523" cy="1663903"/>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404155"/>
                </a:solidFill>
                <a:latin typeface="Arimo Bold"/>
                <a:ea typeface="Arimo Bold"/>
                <a:cs typeface="Arimo Bold"/>
                <a:sym typeface="Arimo Bold"/>
              </a:rPr>
              <a:t>Lingamgari Charan Teja</a:t>
            </a:r>
            <a:r>
              <a:rPr lang="en-US" sz="2187">
                <a:solidFill>
                  <a:srgbClr val="404155"/>
                </a:solidFill>
                <a:latin typeface="Arimo"/>
                <a:ea typeface="Arimo"/>
                <a:cs typeface="Arimo"/>
                <a:sym typeface="Arimo"/>
              </a:rPr>
              <a:t> (228P1A0526)</a:t>
            </a:r>
          </a:p>
          <a:p>
            <a:pPr algn="l" marL="329902" indent="-164951" lvl="1">
              <a:lnSpc>
                <a:spcPts val="3562"/>
              </a:lnSpc>
              <a:buFont typeface="Arial"/>
              <a:buChar char="•"/>
            </a:pPr>
            <a:r>
              <a:rPr lang="en-US" b="true" sz="2187">
                <a:solidFill>
                  <a:srgbClr val="404155"/>
                </a:solidFill>
                <a:latin typeface="Arimo Bold"/>
                <a:ea typeface="Arimo Bold"/>
                <a:cs typeface="Arimo Bold"/>
                <a:sym typeface="Arimo Bold"/>
              </a:rPr>
              <a:t>Pallerla Nani</a:t>
            </a:r>
            <a:r>
              <a:rPr lang="en-US" sz="2187">
                <a:solidFill>
                  <a:srgbClr val="404155"/>
                </a:solidFill>
                <a:latin typeface="Arimo"/>
                <a:ea typeface="Arimo"/>
                <a:cs typeface="Arimo"/>
                <a:sym typeface="Arimo"/>
              </a:rPr>
              <a:t> (228P1A0539)</a:t>
            </a:r>
          </a:p>
          <a:p>
            <a:pPr algn="l" marL="329902" indent="-164951" lvl="1">
              <a:lnSpc>
                <a:spcPts val="3562"/>
              </a:lnSpc>
              <a:buFont typeface="Arial"/>
              <a:buChar char="•"/>
            </a:pPr>
            <a:r>
              <a:rPr lang="en-US" b="true" sz="2187">
                <a:solidFill>
                  <a:srgbClr val="404155"/>
                </a:solidFill>
                <a:latin typeface="Arimo Bold"/>
                <a:ea typeface="Arimo Bold"/>
                <a:cs typeface="Arimo Bold"/>
                <a:sym typeface="Arimo Bold"/>
              </a:rPr>
              <a:t>Sangyapu Charatn Kumar</a:t>
            </a:r>
            <a:r>
              <a:rPr lang="en-US" sz="2187">
                <a:solidFill>
                  <a:srgbClr val="404155"/>
                </a:solidFill>
                <a:latin typeface="Arimo"/>
                <a:ea typeface="Arimo"/>
                <a:cs typeface="Arimo"/>
                <a:sym typeface="Arimo"/>
              </a:rPr>
              <a:t> (228P1A0544)</a:t>
            </a:r>
          </a:p>
        </p:txBody>
      </p:sp>
      <p:sp>
        <p:nvSpPr>
          <p:cNvPr name="TextBox 13" id="13"/>
          <p:cNvSpPr txBox="true"/>
          <p:nvPr/>
        </p:nvSpPr>
        <p:spPr>
          <a:xfrm rot="0">
            <a:off x="992238" y="6792811"/>
            <a:ext cx="9445523" cy="1465659"/>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Our vision is to build a future where digital examinations are universally secure, fair, and respectful of student privacy, ensuring the integrity and credibility of online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DAHFoMoSi8k</dc:identifier>
  <dcterms:modified xsi:type="dcterms:W3CDTF">2011-08-01T06:04:30Z</dcterms:modified>
  <cp:revision>1</cp:revision>
  <dc:title>Online Security Concerns</dc:title>
</cp:coreProperties>
</file>